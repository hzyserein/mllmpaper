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  <p:sldMasterId id="2147483665" r:id="rId3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0" i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本次汇报只讲论文的摘要与引言：研究问题、现有方法局限、核心动机、Octopus 总体思路与摘要结论。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摘要先给出问题、方法和结果。Octopus 的重点不是扩展更多专家，也不是回放旧数据，而是在梯度空间处理任务干扰，并用两阶段微调平衡塑性与稳定性。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持续学习的理想状态是一个统一模型顺序吸收多个任务，而不是每个任务保存一个独立模型。核心矛盾是塑性和稳定性：既要学得动，也要记得住。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引言将现有方法分为架构式、回放式和正则式。Octopus 选择正则式路线，因为它不需要历史数据、推理也更高效；但作者指出，仅做参数正交还不够。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作者的关键判断是：参数正交并不能直接保证旧任务损失不变。梯度描述任务对参数变化的敏感方向，因此更应该约束梯度正交；但已有梯度方法需要历史数据，这正是 Octopus 要解决的缺口。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图左表示多个多模态任务依次到来。图右是 Octopus：第一阶段先充分学习当前任务；第二阶段加入 HiFGO，用过去权重和当前数据构造约束，不需要过去数据。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两阶段策略的直觉是先学会、再防忘。第一阶段不加约束，充分适应当前任务；第二阶段从这个较优解出发，加入 HiFGO 并限制更新幅度，以减少旧任务干扰。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t>摘要报告的核心结果是：在 UCIT 上，相对此前 SOTA，Avg 提升 2.14%，Last 提升 6.82%。贡献可以概括为无历史梯度正交、两阶段微调，以及在无回放与高推理效率条件下取得新 SOTA。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引言的论证链条是：持续学习带来灾难性遗忘；三类现有方案各有不足；梯度正交比参数正交更直接，但历史数据依赖尚未解决；Octopus 用 HiFGO 和两阶段微调补上这个缺口。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汇报完毕，谢谢老师和同学聆听。欢迎提问。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85E2DF-B33D-4229-B9A4-DA88CAA25BC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6C6DC35-3D39-4E5D-813A-1465AB5946E1}" type="datetimeFigureOut">
              <a:t>2026/7/20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950680-910F-40EB-A96E-5B351B95C0F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02D529-2CB1-4BA8-BFAD-021C85D573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BC6EB1-3B9C-423A-A463-BABF6B6D69D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AD7B-B8CB-405F-9F6F-802E38063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buNone/>
              <a:defRPr sz="5995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91158-306B-41A6-A631-8BAF8281FC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F0A0F-73B7-4C18-A1BB-BD4FD0B085B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B72DE3-FE0A-428A-AB10-325226F2F564}" type="datetimeFigureOut">
              <a:t>2026/7/20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86960-995C-4653-9B53-8A075BDE4D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00749-8662-41AF-A53B-1F15E264B4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2C7F20-4EEE-4847-AC76-B538472E8A3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7ABDA-8CAA-4B00-8831-CB07DEEE3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4E606-5CCE-4745-B5C0-108876885C0E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16678-CD18-42FF-B934-72094D1706D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B72DE3-FE0A-428A-AB10-325226F2F564}" type="datetimeFigureOut">
              <a:t>2026/7/20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2A4FD-7381-47B3-A2EE-96E9C5AD32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62BFC-504C-4E0C-BAC2-0306CB7414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2C7F20-4EEE-4847-AC76-B538472E8A3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55715-2DD5-498A-9A3F-657F75822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buNone/>
              <a:defRPr sz="5995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2FE0C-990E-4D65-8E21-593F4B54CEE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75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47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19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84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56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3D16B-E34A-45E4-948A-1F99CEC7E54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B72DE3-FE0A-428A-AB10-325226F2F564}" type="datetimeFigureOut">
              <a:t>2026/7/20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C5E93-3984-47AB-B3D0-E1E51B9873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5AAF2-2E58-427C-97B6-120405E2AC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2C7F20-4EEE-4847-AC76-B538472E8A3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0EEEF-59F9-49E4-9EDB-16D05B704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68112-3F1D-4749-B8EC-48BC8B146E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1" y="1825627"/>
            <a:ext cx="5181600" cy="4351339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D8E71E-EAF9-4516-B8AB-D2A44A02328D}"/>
              </a:ext>
            </a:extLst>
          </p:cNvPr>
          <p:cNvSpPr>
            <a:spLocks noGrp="1"/>
          </p:cNvSpPr>
          <p:nvPr>
            <p:ph idx="2" hasCustomPrompt="1"/>
          </p:nvPr>
        </p:nvSpPr>
        <p:spPr>
          <a:xfrm>
            <a:off x="6172201" y="1825627"/>
            <a:ext cx="5181600" cy="4351339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D0CE0-2778-4DAF-BA6A-40132445B48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B72DE3-FE0A-428A-AB10-325226F2F564}" type="datetimeFigureOut">
              <a:t>2026/7/20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8377E-9756-40EC-9508-CF0F3137E2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86FA9-2ECB-459D-962C-2DB8B1827D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2C7F20-4EEE-4847-AC76-B538472E8A3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2188D-EA52-4218-B891-771E01382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3A730-E49A-4499-AF9B-76DD5410EC8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90" y="1681163"/>
            <a:ext cx="515778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E6D6EC-CA95-4969-8919-D0C8B86E13D3}"/>
              </a:ext>
            </a:extLst>
          </p:cNvPr>
          <p:cNvSpPr>
            <a:spLocks noGrp="1"/>
          </p:cNvSpPr>
          <p:nvPr>
            <p:ph idx="2" hasCustomPrompt="1"/>
          </p:nvPr>
        </p:nvSpPr>
        <p:spPr>
          <a:xfrm>
            <a:off x="839790" y="2505076"/>
            <a:ext cx="5157786" cy="368458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D7B248-024A-4558-A2A1-0C7B3E5059D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172201" y="1681163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4ED0D7-FF0F-4795-BBC4-DE69ECCA3423}"/>
              </a:ext>
            </a:extLst>
          </p:cNvPr>
          <p:cNvSpPr>
            <a:spLocks noGrp="1"/>
          </p:cNvSpPr>
          <p:nvPr>
            <p:ph idx="4" hasCustomPrompt="1"/>
          </p:nvPr>
        </p:nvSpPr>
        <p:spPr>
          <a:xfrm>
            <a:off x="6172201" y="2505076"/>
            <a:ext cx="5183189" cy="368458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DD4527-3C26-4CE7-B2EA-8224619B0A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B72DE3-FE0A-428A-AB10-325226F2F564}" type="datetimeFigureOut">
              <a:t>2026/7/20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B7207D-E636-431D-96A1-C1E1C22F04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DA6AA6-8427-423A-96FE-DF4948F7B0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2C7F20-4EEE-4847-AC76-B538472E8A3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E226B-7E64-4BBD-852D-0C8295D71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97D6AA-9508-411B-92A5-F7DDEC3F11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B72DE3-FE0A-428A-AB10-325226F2F564}" type="datetimeFigureOut">
              <a:t>2026/7/20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904D15-EBCB-4C0F-A5F2-0CF822F20C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760DAC-51E3-460B-870F-EE7D47A963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2C7F20-4EEE-4847-AC76-B538472E8A3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3C93FD-E914-43E7-93E7-44179154BD4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B72DE3-FE0A-428A-AB10-325226F2F564}" type="datetimeFigureOut">
              <a:t>2026/7/20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51F07-806A-4366-9FC9-8B62414459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6E762-1EC3-45C1-8F19-1427707BAB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2C7F20-4EEE-4847-AC76-B538472E8A3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13832-AB2D-4753-A777-122265497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7EE59-DC94-4D85-8874-1BA270E3E01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90" y="987428"/>
            <a:ext cx="6172199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B160FB-E69D-47F6-B4B4-493469DAF2EC}"/>
              </a:ext>
            </a:extLst>
          </p:cNvPr>
          <p:cNvSpPr>
            <a:spLocks noGrp="1"/>
          </p:cNvSpPr>
          <p:nvPr>
            <p:ph type="body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76EE0-5211-4658-9747-BF8F2EAB82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B72DE3-FE0A-428A-AB10-325226F2F564}" type="datetimeFigureOut">
              <a:t>2026/7/20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A3733-D418-4A75-AC5E-BA66039956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F01ED-19B9-46B2-8FEA-9D061B126A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2C7F20-4EEE-4847-AC76-B538472E8A3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5E25A-E932-422C-9502-F5F3596D5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6F179B-F8F1-46F1-A219-5C7C77F23B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0" y="987428"/>
            <a:ext cx="617219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3765" indent="0">
              <a:buNone/>
              <a:defRPr sz="2400"/>
            </a:lvl3pPr>
            <a:lvl4pPr marL="1370965" indent="0">
              <a:buNone/>
              <a:defRPr sz="2000"/>
            </a:lvl4pPr>
            <a:lvl5pPr marL="1827530" indent="0">
              <a:buNone/>
              <a:defRPr sz="2000"/>
            </a:lvl5pPr>
            <a:lvl6pPr marL="2284730" indent="0">
              <a:buNone/>
              <a:defRPr sz="2000"/>
            </a:lvl6pPr>
            <a:lvl7pPr marL="2741930" indent="0">
              <a:buNone/>
              <a:defRPr sz="2000"/>
            </a:lvl7pPr>
            <a:lvl8pPr marL="3198495" indent="0">
              <a:buNone/>
              <a:defRPr sz="2000"/>
            </a:lvl8pPr>
            <a:lvl9pPr marL="3655695" indent="0">
              <a:buNone/>
              <a:defRPr sz="2000"/>
            </a:lvl9pPr>
          </a:lstStyle>
          <a:p>
            <a:r>
              <a:t>单击图标添加图片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FC12F-05E0-4884-8ED2-CE5087AEA8B2}"/>
              </a:ext>
            </a:extLst>
          </p:cNvPr>
          <p:cNvSpPr>
            <a:spLocks noGrp="1"/>
          </p:cNvSpPr>
          <p:nvPr>
            <p:ph type="body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4BA85-E370-474F-8FAD-35FCE57AB40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B72DE3-FE0A-428A-AB10-325226F2F564}" type="datetimeFigureOut">
              <a:t>2026/7/20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FE2E3E-D12C-4132-9C5F-98E518A30E0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5D6024-F17A-4A90-9F05-D9B751FBE9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2C7F20-4EEE-4847-AC76-B538472E8A3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62F6E-1FA0-4B6C-89EE-F15D5198F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5A1DC-EBE9-4CAD-9684-2506F3EF02A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/>
        <p:txBody>
          <a:bodyPr vert="eaVert"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1203E-1D52-4C87-B6B7-5BC9790E9F8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B72DE3-FE0A-428A-AB10-325226F2F564}" type="datetimeFigureOut">
              <a:t>2026/7/20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93C44-9D6D-4ACA-84CE-ACF68D6CD3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36CE8-5097-4348-B349-B9ACDD0A4A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2C7F20-4EEE-4847-AC76-B538472E8A3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46A8D2-DAC3-4C05-85E7-2EF76AC7E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1" y="365128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BE986-D73D-4A9A-B047-5D0D96468C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2" y="365128"/>
            <a:ext cx="7734301" cy="5811838"/>
          </a:xfrm>
        </p:spPr>
        <p:txBody>
          <a:bodyPr vert="eaVert"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B0384-A548-4D9B-A7D3-CCE56C68ED4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B72DE3-FE0A-428A-AB10-325226F2F564}" type="datetimeFigureOut">
              <a:t>2026/7/20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05D0C-861D-4820-9143-58AC3B7393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F4C4F-491B-4D51-8FA0-975A82804F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12C7F20-4EEE-4847-AC76-B538472E8A3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0D9C89-6C69-418A-A1FC-7E408D5F8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48F0E-08E6-461F-A2D3-C45BAC110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7"/>
            <a:ext cx="10515600" cy="4351339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06852-513B-40EE-9F26-DAD25D983BBF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72DE3-FE0A-428A-AB10-325226F2F564}" type="datetimeFigureOut">
              <a:t>2026/7/20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38BE-223B-4479-8C60-2590D4DEEBA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54B30-9969-419B-9C02-F3783772DE0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C7F20-4EEE-4847-AC76-B538472E8A3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txStyles>
    <p:titleStyle>
      <a:lvl1pPr algn="l">
        <a:lnSpc>
          <a:spcPct val="90000"/>
        </a:lnSpc>
        <a:buNone/>
        <a:defRPr sz="4395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165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2365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599565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613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333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053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7095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4295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3765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0965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753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473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193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198495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5695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A7A7E30-1839-4030-9A0F-9A1261AC1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389" y="365780"/>
            <a:ext cx="10515224" cy="132463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7CE405-8566-4A8F-8786-BB8740EB5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389" y="1825890"/>
            <a:ext cx="10515224" cy="4351729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7F752E-67CC-4571-A811-89623FF9EAB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389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3E93-166D-47F5-9EF1-ACEABE24AEEA}" type="datetimeFigureOut">
              <a:t>2026/7/20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F8DBA1-E664-48E9-A13D-27D9BC84B8C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413" y="6356747"/>
            <a:ext cx="4115176" cy="36427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3B0F1B-5519-4278-9E7A-6BAF6010B0C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1166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D5ACA-62CA-46DB-AD6B-12EDD6D51A2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>
        <a:lnSpc>
          <a:spcPct val="90000"/>
        </a:lnSpc>
        <a:buNone/>
        <a:defRPr sz="417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16535" indent="-216535" algn="l">
        <a:lnSpc>
          <a:spcPct val="90000"/>
        </a:lnSpc>
        <a:spcBef>
          <a:spcPts val="950"/>
        </a:spcBef>
        <a:buChar char="•"/>
        <a:defRPr sz="2655">
          <a:solidFill>
            <a:schemeClr val="tx1"/>
          </a:solidFill>
          <a:latin typeface="+mn-lt"/>
          <a:ea typeface="+mn-lt"/>
          <a:cs typeface="+mn-lt"/>
        </a:defRPr>
      </a:lvl1pPr>
      <a:lvl2pPr marL="650240" indent="-216535" algn="l">
        <a:lnSpc>
          <a:spcPct val="90000"/>
        </a:lnSpc>
        <a:spcBef>
          <a:spcPts val="475"/>
        </a:spcBef>
        <a:buChar char="•"/>
        <a:defRPr sz="2275">
          <a:solidFill>
            <a:schemeClr val="tx1"/>
          </a:solidFill>
          <a:latin typeface="+mn-lt"/>
          <a:ea typeface="+mn-lt"/>
          <a:cs typeface="+mn-lt"/>
        </a:defRPr>
      </a:lvl2pPr>
      <a:lvl3pPr marL="1083945" indent="-216535" algn="l">
        <a:lnSpc>
          <a:spcPct val="90000"/>
        </a:lnSpc>
        <a:spcBef>
          <a:spcPts val="475"/>
        </a:spcBef>
        <a:buChar char="•"/>
        <a:defRPr sz="1895">
          <a:solidFill>
            <a:schemeClr val="tx1"/>
          </a:solidFill>
          <a:latin typeface="+mn-lt"/>
          <a:ea typeface="+mn-lt"/>
          <a:cs typeface="+mn-lt"/>
        </a:defRPr>
      </a:lvl3pPr>
      <a:lvl4pPr marL="1517015" indent="-216535" algn="l">
        <a:lnSpc>
          <a:spcPct val="90000"/>
        </a:lnSpc>
        <a:spcBef>
          <a:spcPts val="475"/>
        </a:spcBef>
        <a:buChar char="•"/>
        <a:defRPr sz="1705">
          <a:solidFill>
            <a:schemeClr val="tx1"/>
          </a:solidFill>
          <a:latin typeface="+mn-lt"/>
          <a:ea typeface="+mn-lt"/>
          <a:cs typeface="+mn-lt"/>
        </a:defRPr>
      </a:lvl4pPr>
      <a:lvl5pPr marL="1950720" indent="-216535" algn="l">
        <a:lnSpc>
          <a:spcPct val="90000"/>
        </a:lnSpc>
        <a:spcBef>
          <a:spcPts val="475"/>
        </a:spcBef>
        <a:buChar char="•"/>
        <a:defRPr sz="1705">
          <a:solidFill>
            <a:schemeClr val="tx1"/>
          </a:solidFill>
          <a:latin typeface="+mn-lt"/>
          <a:ea typeface="+mn-lt"/>
          <a:cs typeface="+mn-lt"/>
        </a:defRPr>
      </a:lvl5pPr>
      <a:lvl6pPr marL="2383790" indent="-216535" algn="l">
        <a:lnSpc>
          <a:spcPct val="90000"/>
        </a:lnSpc>
        <a:spcBef>
          <a:spcPts val="475"/>
        </a:spcBef>
        <a:buChar char="•"/>
        <a:defRPr sz="1705">
          <a:solidFill>
            <a:schemeClr val="tx1"/>
          </a:solidFill>
          <a:latin typeface="+mn-lt"/>
          <a:ea typeface="+mn-lt"/>
          <a:cs typeface="+mn-lt"/>
        </a:defRPr>
      </a:lvl6pPr>
      <a:lvl7pPr marL="2817495" indent="-216535" algn="l">
        <a:lnSpc>
          <a:spcPct val="90000"/>
        </a:lnSpc>
        <a:spcBef>
          <a:spcPts val="475"/>
        </a:spcBef>
        <a:buChar char="•"/>
        <a:defRPr sz="1705">
          <a:solidFill>
            <a:schemeClr val="tx1"/>
          </a:solidFill>
          <a:latin typeface="+mn-lt"/>
          <a:ea typeface="+mn-lt"/>
          <a:cs typeface="+mn-lt"/>
        </a:defRPr>
      </a:lvl7pPr>
      <a:lvl8pPr marL="3251200" indent="-216535" algn="l">
        <a:lnSpc>
          <a:spcPct val="90000"/>
        </a:lnSpc>
        <a:spcBef>
          <a:spcPts val="475"/>
        </a:spcBef>
        <a:buChar char="•"/>
        <a:defRPr sz="1705">
          <a:solidFill>
            <a:schemeClr val="tx1"/>
          </a:solidFill>
          <a:latin typeface="+mn-lt"/>
          <a:ea typeface="+mn-lt"/>
          <a:cs typeface="+mn-lt"/>
        </a:defRPr>
      </a:lvl8pPr>
      <a:lvl9pPr marL="3684270" indent="-216535" algn="l">
        <a:lnSpc>
          <a:spcPct val="90000"/>
        </a:lnSpc>
        <a:spcBef>
          <a:spcPts val="475"/>
        </a:spcBef>
        <a:buChar char="•"/>
        <a:defRPr sz="1705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705">
          <a:solidFill>
            <a:schemeClr val="tx1"/>
          </a:solidFill>
          <a:latin typeface="+mn-lt"/>
          <a:ea typeface="+mn-lt"/>
          <a:cs typeface="+mn-lt"/>
        </a:defRPr>
      </a:lvl1pPr>
      <a:lvl2pPr marL="433705" algn="l">
        <a:buNone/>
        <a:defRPr sz="1705">
          <a:solidFill>
            <a:schemeClr val="tx1"/>
          </a:solidFill>
          <a:latin typeface="+mn-lt"/>
          <a:ea typeface="+mn-lt"/>
          <a:cs typeface="+mn-lt"/>
        </a:defRPr>
      </a:lvl2pPr>
      <a:lvl3pPr marL="866775" algn="l">
        <a:buNone/>
        <a:defRPr sz="1705">
          <a:solidFill>
            <a:schemeClr val="tx1"/>
          </a:solidFill>
          <a:latin typeface="+mn-lt"/>
          <a:ea typeface="+mn-lt"/>
          <a:cs typeface="+mn-lt"/>
        </a:defRPr>
      </a:lvl3pPr>
      <a:lvl4pPr marL="1300480" algn="l">
        <a:buNone/>
        <a:defRPr sz="1705">
          <a:solidFill>
            <a:schemeClr val="tx1"/>
          </a:solidFill>
          <a:latin typeface="+mn-lt"/>
          <a:ea typeface="+mn-lt"/>
          <a:cs typeface="+mn-lt"/>
        </a:defRPr>
      </a:lvl4pPr>
      <a:lvl5pPr marL="1734185" algn="l">
        <a:buNone/>
        <a:defRPr sz="1705">
          <a:solidFill>
            <a:schemeClr val="tx1"/>
          </a:solidFill>
          <a:latin typeface="+mn-lt"/>
          <a:ea typeface="+mn-lt"/>
          <a:cs typeface="+mn-lt"/>
        </a:defRPr>
      </a:lvl5pPr>
      <a:lvl6pPr marL="2167255" algn="l">
        <a:buNone/>
        <a:defRPr sz="1705">
          <a:solidFill>
            <a:schemeClr val="tx1"/>
          </a:solidFill>
          <a:latin typeface="+mn-lt"/>
          <a:ea typeface="+mn-lt"/>
          <a:cs typeface="+mn-lt"/>
        </a:defRPr>
      </a:lvl6pPr>
      <a:lvl7pPr marL="2600960" algn="l">
        <a:buNone/>
        <a:defRPr sz="1705">
          <a:solidFill>
            <a:schemeClr val="tx1"/>
          </a:solidFill>
          <a:latin typeface="+mn-lt"/>
          <a:ea typeface="+mn-lt"/>
          <a:cs typeface="+mn-lt"/>
        </a:defRPr>
      </a:lvl7pPr>
      <a:lvl8pPr marL="3034030" algn="l">
        <a:buNone/>
        <a:defRPr sz="1705">
          <a:solidFill>
            <a:schemeClr val="tx1"/>
          </a:solidFill>
          <a:latin typeface="+mn-lt"/>
          <a:ea typeface="+mn-lt"/>
          <a:cs typeface="+mn-lt"/>
        </a:defRPr>
      </a:lvl8pPr>
      <a:lvl9pPr marL="3467735" algn="l">
        <a:buNone/>
        <a:defRPr sz="1705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7BBCFC5F-2BF6-464C-8544-9BE907C5E0F6}"/>
              </a:ext>
            </a:extLst>
          </p:cNvPr>
          <p:cNvSpPr>
            <a:spLocks noGrp="1"/>
          </p:cNvSpPr>
          <p:nvPr/>
        </p:nvSpPr>
        <p:spPr>
          <a:xfrm>
            <a:off x="904875" y="3143250"/>
            <a:ext cx="10382250" cy="1066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463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63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History-Free Gradient Orthogonalization for Continual Learning in MLLMs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F709E34-3E00-4E7B-A4E4-3740F2E93E03}"/>
              </a:ext>
            </a:extLst>
          </p:cNvPr>
          <p:cNvSpPr>
            <a:spLocks noGrp="1"/>
          </p:cNvSpPr>
          <p:nvPr/>
        </p:nvSpPr>
        <p:spPr>
          <a:xfrm>
            <a:off x="0" y="1556419"/>
            <a:ext cx="12123683" cy="2426790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571500" anchor="ctr">
            <a:noAutofit/>
          </a:bodyPr>
          <a:lstStyle/>
          <a:p>
            <a:pPr algn="ctr">
              <a:buNone/>
              <a:defRPr sz="42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42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History-Free Gradient Orthogonalization for Continual Learning in Multimodal Large Language Models</a:t>
            </a:r>
            <a:endParaRPr sz="4200" b="1" dirty="0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8B4FF7-6D6F-46C6-B783-D11E45ABAA2E}"/>
              </a:ext>
            </a:extLst>
          </p:cNvPr>
          <p:cNvSpPr>
            <a:spLocks noGrp="1"/>
          </p:cNvSpPr>
          <p:nvPr/>
        </p:nvSpPr>
        <p:spPr>
          <a:xfrm>
            <a:off x="3239193" y="4239587"/>
            <a:ext cx="5976951" cy="56083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buNone/>
              <a:defRPr sz="2025" b="1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 dirty="0" err="1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汇报人：黄正业</a:t>
            </a:r>
            <a:endParaRPr sz="2025" b="1" dirty="0">
              <a:solidFill>
                <a:srgbClr val="202B36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13" name="图片 6"/>
          <p:cNvPicPr>
            <a:picLocks noChangeAspect="1"/>
          </p:cNvPicPr>
          <p:nvPr/>
        </p:nvPicPr>
        <p:blipFill>
          <a:blip r:embed="rId3"/>
          <a:srcRect r="45030"/>
          <a:stretch/>
        </p:blipFill>
        <p:spPr>
          <a:xfrm>
            <a:off x="158831" y="0"/>
            <a:ext cx="2706063" cy="936978"/>
          </a:xfrm>
          <a:prstGeom prst="rect">
            <a:avLst/>
          </a:prstGeom>
        </p:spPr>
      </p:pic>
      <p:sp>
        <p:nvSpPr>
          <p:cNvPr id="2" name="文本占位符 13">
            <a:extLst>
              <a:ext uri="{FF2B5EF4-FFF2-40B4-BE49-F238E27FC236}">
                <a16:creationId xmlns:a16="http://schemas.microsoft.com/office/drawing/2014/main" id="{6D17AD04-063B-4D5B-AF4D-1E8EFE5D7AAA}"/>
              </a:ext>
            </a:extLst>
          </p:cNvPr>
          <p:cNvSpPr>
            <a:spLocks noGrp="1"/>
          </p:cNvSpPr>
          <p:nvPr/>
        </p:nvSpPr>
        <p:spPr>
          <a:xfrm>
            <a:off x="4072296" y="5586189"/>
            <a:ext cx="4310746" cy="619760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1000"/>
              </a:spcBef>
              <a:buNone/>
              <a:defRPr sz="1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buNone/>
              <a:defRPr sz="1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buNone/>
              <a:defRPr sz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buNone/>
              <a:defRPr sz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 sz="4000" dirty="0">
                <a:latin typeface="Times New Roman"/>
                <a:ea typeface="Times New Roman"/>
                <a:cs typeface="Times New Roman"/>
              </a:rPr>
              <a:t>2026-07-</a:t>
            </a:r>
            <a:r>
              <a:rPr lang="en-US" sz="4000" dirty="0">
                <a:latin typeface="Times New Roman"/>
                <a:ea typeface="Times New Roman"/>
                <a:cs typeface="Times New Roman"/>
              </a:rPr>
              <a:t>20</a:t>
            </a:r>
            <a:endParaRPr sz="4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7B58FA-2072-780C-4273-D7471023BE67}"/>
              </a:ext>
            </a:extLst>
          </p:cNvPr>
          <p:cNvSpPr txBox="1"/>
          <p:nvPr/>
        </p:nvSpPr>
        <p:spPr>
          <a:xfrm>
            <a:off x="10803698" y="3542632"/>
            <a:ext cx="153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CVPR 2026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6158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椭圆 54">
            <a:extLst>
              <a:ext uri="{FF2B5EF4-FFF2-40B4-BE49-F238E27FC236}">
                <a16:creationId xmlns:a16="http://schemas.microsoft.com/office/drawing/2014/main" id="{A9BAA480-37BB-4E2A-8560-287A0AE90204}"/>
              </a:ext>
            </a:extLst>
          </p:cNvPr>
          <p:cNvSpPr>
            <a:spLocks noGrp="1"/>
          </p:cNvSpPr>
          <p:nvPr/>
        </p:nvSpPr>
        <p:spPr>
          <a:xfrm>
            <a:off x="383338" y="171051"/>
            <a:ext cx="468000" cy="468000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0CC8FDB-86F6-4C73-BAAC-825484444EF4}"/>
              </a:ext>
            </a:extLst>
          </p:cNvPr>
          <p:cNvSpPr>
            <a:spLocks noGrp="1"/>
          </p:cNvSpPr>
          <p:nvPr/>
        </p:nvSpPr>
        <p:spPr>
          <a:xfrm>
            <a:off x="256004" y="244806"/>
            <a:ext cx="6731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DB4D7FB4-C9D5-444C-892B-E1B0596CCF12}"/>
              </a:ext>
            </a:extLst>
          </p:cNvPr>
          <p:cNvSpPr>
            <a:spLocks noGrp="1"/>
          </p:cNvSpPr>
          <p:nvPr/>
        </p:nvSpPr>
        <p:spPr>
          <a:xfrm>
            <a:off x="203760" y="614316"/>
            <a:ext cx="176213" cy="176213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4" name="图片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3F9F1C0-3A56-0EDB-8BC1-69CB68ABA986}"/>
              </a:ext>
            </a:extLst>
          </p:cNvPr>
          <p:cNvSpPr>
            <a:spLocks noGrp="1"/>
          </p:cNvSpPr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自强不息 厚德载物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67F544-E6CC-3D4C-093F-4E988EA014D1}"/>
              </a:ext>
            </a:extLst>
          </p:cNvPr>
          <p:cNvSpPr>
            <a:spLocks noGrp="1"/>
          </p:cNvSpPr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Arial"/>
                <a:ea typeface="Arial"/>
                <a:cs typeface="Arial"/>
              </a:rPr>
              <a:t>Tsinghua University of China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7BEA70-75BE-9894-8FED-CD3A65A01106}"/>
              </a:ext>
            </a:extLst>
          </p:cNvPr>
          <p:cNvSpPr>
            <a:spLocks noGrp="1"/>
          </p:cNvSpPr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自强不息 厚德载物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934A68A-0CF2-3CDE-2556-F4B0B39AB02B}"/>
              </a:ext>
            </a:extLst>
          </p:cNvPr>
          <p:cNvSpPr>
            <a:spLocks noGrp="1"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4EE41F-450F-19EA-D041-1207D9DFD14D}"/>
              </a:ext>
            </a:extLst>
          </p:cNvPr>
          <p:cNvSpPr>
            <a:spLocks noGrp="1"/>
          </p:cNvSpPr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知行合一、经世致用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A0048BD-B030-D5C0-83A7-3EB4F7286FAF}"/>
              </a:ext>
            </a:extLst>
          </p:cNvPr>
          <p:cNvSpPr>
            <a:spLocks noGrp="1"/>
          </p:cNvSpPr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prstClr val="white"/>
                </a:solidFill>
                <a:latin typeface="Arial"/>
                <a:ea typeface="Arial"/>
                <a:cs typeface="Arial"/>
              </a:rPr>
              <a:t>Central South University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1B3BEC41-501D-4ECE-8C75-834E4C249B8B}"/>
              </a:ext>
            </a:extLst>
          </p:cNvPr>
          <p:cNvSpPr>
            <a:spLocks noGrp="1"/>
          </p:cNvSpPr>
          <p:nvPr/>
        </p:nvSpPr>
        <p:spPr>
          <a:xfrm>
            <a:off x="660399" y="760413"/>
            <a:ext cx="11088000" cy="0"/>
          </a:xfrm>
          <a:prstGeom prst="line">
            <a:avLst/>
          </a:prstGeom>
          <a:noFill/>
          <a:ln w="22225">
            <a:solidFill>
              <a:srgbClr val="1C6299"/>
            </a:solidFill>
            <a:prstDash val="solid"/>
          </a:ln>
        </p:spPr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1720FA2-B8D9-9DEE-134E-CE1D6C6AA6BA}"/>
              </a:ext>
            </a:extLst>
          </p:cNvPr>
          <p:cNvSpPr>
            <a:spLocks noGrp="1"/>
          </p:cNvSpPr>
          <p:nvPr/>
        </p:nvSpPr>
        <p:spPr>
          <a:xfrm>
            <a:off x="537845" y="863445"/>
            <a:ext cx="11241878" cy="523220"/>
          </a:xfrm>
          <a:prstGeom prst="rect">
            <a:avLst/>
          </a:prstGeo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14300" tIns="38100" rIns="76200" bIns="38100" anchor="ctr"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摘要</a:t>
            </a:r>
            <a:endParaRPr sz="2025" b="1" dirty="0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9" name="abstract-thesis">
            <a:extLst>
              <a:ext uri="{FF2B5EF4-FFF2-40B4-BE49-F238E27FC236}">
                <a16:creationId xmlns:a16="http://schemas.microsoft.com/office/drawing/2014/main" id="{A6F3C297-7DBC-44AD-ADDE-7CDA9B696521}"/>
              </a:ext>
            </a:extLst>
          </p:cNvPr>
          <p:cNvSpPr>
            <a:spLocks noGrp="1"/>
          </p:cNvSpPr>
          <p:nvPr/>
        </p:nvSpPr>
        <p:spPr>
          <a:xfrm>
            <a:off x="379973" y="1524000"/>
            <a:ext cx="1139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2025" b="1">
                <a:solidFill>
                  <a:srgbClr val="1F4E79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 dirty="0" err="1">
                <a:solidFill>
                  <a:srgbClr val="1F4E79"/>
                </a:solidFill>
                <a:latin typeface="Noto Sans SC"/>
                <a:ea typeface="Noto Sans SC"/>
                <a:cs typeface="Noto Sans SC"/>
              </a:rPr>
              <a:t>在不保存历史任务数据的前提下，用梯度正交减少新旧任务干扰，兼顾学习新知识与保留旧能力</a:t>
            </a:r>
            <a:r>
              <a:rPr sz="2025" b="1" dirty="0">
                <a:solidFill>
                  <a:srgbClr val="1F4E79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60" name="abstract-card-1">
            <a:extLst>
              <a:ext uri="{FF2B5EF4-FFF2-40B4-BE49-F238E27FC236}">
                <a16:creationId xmlns:a16="http://schemas.microsoft.com/office/drawing/2014/main" id="{084EEC52-7C96-499A-8341-9EFC46EA69FB}"/>
              </a:ext>
            </a:extLst>
          </p:cNvPr>
          <p:cNvSpPr>
            <a:spLocks noGrp="1"/>
          </p:cNvSpPr>
          <p:nvPr/>
        </p:nvSpPr>
        <p:spPr>
          <a:xfrm>
            <a:off x="762000" y="2286000"/>
            <a:ext cx="3143250" cy="2857500"/>
          </a:xfrm>
          <a:prstGeom prst="roundRect">
            <a:avLst>
              <a:gd name="adj" fmla="val 4000"/>
            </a:avLst>
          </a:prstGeom>
          <a:solidFill>
            <a:srgbClr val="F5F9FD"/>
          </a:solidFill>
          <a:ln w="12383">
            <a:solidFill>
              <a:srgbClr val="C8DC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1" name="abstract-pill-1">
            <a:extLst>
              <a:ext uri="{FF2B5EF4-FFF2-40B4-BE49-F238E27FC236}">
                <a16:creationId xmlns:a16="http://schemas.microsoft.com/office/drawing/2014/main" id="{DD22CDCC-E962-4F0A-B76D-4D539EF647B9}"/>
              </a:ext>
            </a:extLst>
          </p:cNvPr>
          <p:cNvSpPr>
            <a:spLocks noGrp="1"/>
          </p:cNvSpPr>
          <p:nvPr/>
        </p:nvSpPr>
        <p:spPr>
          <a:xfrm>
            <a:off x="1762125" y="2457450"/>
            <a:ext cx="1143000" cy="34290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问题</a:t>
            </a:r>
          </a:p>
        </p:txBody>
      </p:sp>
      <p:sp>
        <p:nvSpPr>
          <p:cNvPr id="62" name="abstract-card-2">
            <a:extLst>
              <a:ext uri="{FF2B5EF4-FFF2-40B4-BE49-F238E27FC236}">
                <a16:creationId xmlns:a16="http://schemas.microsoft.com/office/drawing/2014/main" id="{00A5DBA7-6413-42A5-B6E8-D1AE0FB1B39A}"/>
              </a:ext>
            </a:extLst>
          </p:cNvPr>
          <p:cNvSpPr>
            <a:spLocks noGrp="1"/>
          </p:cNvSpPr>
          <p:nvPr/>
        </p:nvSpPr>
        <p:spPr>
          <a:xfrm>
            <a:off x="4238625" y="2286000"/>
            <a:ext cx="3143250" cy="2857500"/>
          </a:xfrm>
          <a:prstGeom prst="roundRect">
            <a:avLst>
              <a:gd name="adj" fmla="val 4000"/>
            </a:avLst>
          </a:prstGeom>
          <a:solidFill>
            <a:srgbClr val="EEF7FF"/>
          </a:solidFill>
          <a:ln w="12383">
            <a:solidFill>
              <a:srgbClr val="C8DC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3" name="abstract-pill-2">
            <a:extLst>
              <a:ext uri="{FF2B5EF4-FFF2-40B4-BE49-F238E27FC236}">
                <a16:creationId xmlns:a16="http://schemas.microsoft.com/office/drawing/2014/main" id="{EA6C2645-D4A8-49FC-B047-48F925F65427}"/>
              </a:ext>
            </a:extLst>
          </p:cNvPr>
          <p:cNvSpPr>
            <a:spLocks noGrp="1"/>
          </p:cNvSpPr>
          <p:nvPr/>
        </p:nvSpPr>
        <p:spPr>
          <a:xfrm>
            <a:off x="5238750" y="2457450"/>
            <a:ext cx="1143000" cy="3429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方法</a:t>
            </a:r>
          </a:p>
        </p:txBody>
      </p:sp>
      <p:sp>
        <p:nvSpPr>
          <p:cNvPr id="64" name="abstract-card-3">
            <a:extLst>
              <a:ext uri="{FF2B5EF4-FFF2-40B4-BE49-F238E27FC236}">
                <a16:creationId xmlns:a16="http://schemas.microsoft.com/office/drawing/2014/main" id="{382A5200-8058-40A2-B643-6C5DE17B74F1}"/>
              </a:ext>
            </a:extLst>
          </p:cNvPr>
          <p:cNvSpPr>
            <a:spLocks noGrp="1"/>
          </p:cNvSpPr>
          <p:nvPr/>
        </p:nvSpPr>
        <p:spPr>
          <a:xfrm>
            <a:off x="7715250" y="2286000"/>
            <a:ext cx="3143250" cy="2857500"/>
          </a:xfrm>
          <a:prstGeom prst="roundRect">
            <a:avLst>
              <a:gd name="adj" fmla="val 4000"/>
            </a:avLst>
          </a:prstGeom>
          <a:solidFill>
            <a:srgbClr val="F1F8F4"/>
          </a:solidFill>
          <a:ln w="12383">
            <a:solidFill>
              <a:srgbClr val="C8DC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5" name="abstract-pill-3">
            <a:extLst>
              <a:ext uri="{FF2B5EF4-FFF2-40B4-BE49-F238E27FC236}">
                <a16:creationId xmlns:a16="http://schemas.microsoft.com/office/drawing/2014/main" id="{156CBD38-6141-42BC-B124-99B4B2E48A4B}"/>
              </a:ext>
            </a:extLst>
          </p:cNvPr>
          <p:cNvSpPr>
            <a:spLocks noGrp="1"/>
          </p:cNvSpPr>
          <p:nvPr/>
        </p:nvSpPr>
        <p:spPr>
          <a:xfrm>
            <a:off x="8715375" y="2457450"/>
            <a:ext cx="1143000" cy="3429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结果</a:t>
            </a:r>
          </a:p>
        </p:txBody>
      </p:sp>
      <p:sp>
        <p:nvSpPr>
          <p:cNvPr id="66" name="abstract-problem">
            <a:extLst>
              <a:ext uri="{FF2B5EF4-FFF2-40B4-BE49-F238E27FC236}">
                <a16:creationId xmlns:a16="http://schemas.microsoft.com/office/drawing/2014/main" id="{9C993705-1063-4BF2-BCDB-34B6BE94EE41}"/>
              </a:ext>
            </a:extLst>
          </p:cNvPr>
          <p:cNvSpPr>
            <a:spLocks noGrp="1"/>
          </p:cNvSpPr>
          <p:nvPr/>
        </p:nvSpPr>
        <p:spPr>
          <a:xfrm>
            <a:off x="971550" y="2905125"/>
            <a:ext cx="27241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defRPr sz="1463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63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现有三类方案都有硬伤</a:t>
            </a:r>
          </a:p>
          <a:p>
            <a:endParaRPr sz="1463" b="0">
              <a:solidFill>
                <a:srgbClr val="202B36"/>
              </a:solidFill>
              <a:latin typeface="Noto Sans SC"/>
              <a:ea typeface="Noto Sans SC"/>
              <a:cs typeface="Noto Sans SC"/>
            </a:endParaRPr>
          </a:p>
          <a:p>
            <a:pPr algn="l">
              <a:defRPr sz="1463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63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• 架构式：额外模块与推理开销</a:t>
            </a:r>
          </a:p>
          <a:p>
            <a:pPr algn="l">
              <a:defRPr sz="1463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63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• 回放式：隐私与存储问题</a:t>
            </a:r>
          </a:p>
          <a:p>
            <a:pPr algn="l">
              <a:defRPr sz="1463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63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• 正则式：仅约束参数仍会干扰</a:t>
            </a:r>
          </a:p>
        </p:txBody>
      </p:sp>
      <p:sp>
        <p:nvSpPr>
          <p:cNvPr id="67" name="abstract-method">
            <a:extLst>
              <a:ext uri="{FF2B5EF4-FFF2-40B4-BE49-F238E27FC236}">
                <a16:creationId xmlns:a16="http://schemas.microsoft.com/office/drawing/2014/main" id="{9BA75CF3-0B50-4027-A765-D58984DCC264}"/>
              </a:ext>
            </a:extLst>
          </p:cNvPr>
          <p:cNvSpPr>
            <a:spLocks noGrp="1"/>
          </p:cNvSpPr>
          <p:nvPr/>
        </p:nvSpPr>
        <p:spPr>
          <a:xfrm>
            <a:off x="4448175" y="2905125"/>
            <a:ext cx="27241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defRPr sz="1463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63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Octopus = HiFGO + 两阶段微调</a:t>
            </a:r>
          </a:p>
          <a:p>
            <a:endParaRPr sz="1463" b="0">
              <a:solidFill>
                <a:srgbClr val="202B36"/>
              </a:solidFill>
              <a:latin typeface="Noto Sans SC"/>
              <a:ea typeface="Noto Sans SC"/>
              <a:cs typeface="Noto Sans SC"/>
            </a:endParaRPr>
          </a:p>
          <a:p>
            <a:pPr algn="l">
              <a:defRPr sz="1463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63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• HiFGO：无历史梯度正交化</a:t>
            </a:r>
          </a:p>
          <a:p>
            <a:pPr algn="l">
              <a:defRPr sz="1463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63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• 不需要过去数据</a:t>
            </a:r>
          </a:p>
          <a:p>
            <a:pPr algn="l">
              <a:defRPr sz="1463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63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• 将任务适应与正则约束解耦</a:t>
            </a:r>
          </a:p>
        </p:txBody>
      </p:sp>
      <p:sp>
        <p:nvSpPr>
          <p:cNvPr id="68" name="abstract-result">
            <a:extLst>
              <a:ext uri="{FF2B5EF4-FFF2-40B4-BE49-F238E27FC236}">
                <a16:creationId xmlns:a16="http://schemas.microsoft.com/office/drawing/2014/main" id="{DE90DC31-B2AD-472F-9689-ABB9B6523EAD}"/>
              </a:ext>
            </a:extLst>
          </p:cNvPr>
          <p:cNvSpPr>
            <a:spLocks noGrp="1"/>
          </p:cNvSpPr>
          <p:nvPr/>
        </p:nvSpPr>
        <p:spPr>
          <a:xfrm>
            <a:off x="7924800" y="2905125"/>
            <a:ext cx="27241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575" b="1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UCIT 上达到新 SOTA</a:t>
            </a:r>
          </a:p>
          <a:p>
            <a:endParaRPr sz="1575" b="1">
              <a:solidFill>
                <a:srgbClr val="202B36"/>
              </a:solidFill>
              <a:latin typeface="Noto Sans SC"/>
              <a:ea typeface="Noto Sans SC"/>
              <a:cs typeface="Noto Sans SC"/>
            </a:endParaRPr>
          </a:p>
          <a:p>
            <a:pPr algn="ctr">
              <a:defRPr sz="1575" b="1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+2.14%  Avg</a:t>
            </a:r>
          </a:p>
          <a:p>
            <a:pPr algn="ctr">
              <a:defRPr sz="1575" b="1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+6.82%  Last</a:t>
            </a:r>
          </a:p>
          <a:p>
            <a:endParaRPr sz="1575" b="1">
              <a:solidFill>
                <a:srgbClr val="202B36"/>
              </a:solidFill>
              <a:latin typeface="Noto Sans SC"/>
              <a:ea typeface="Noto Sans SC"/>
              <a:cs typeface="Noto Sans SC"/>
            </a:endParaRPr>
          </a:p>
          <a:p>
            <a:pPr algn="ctr">
              <a:defRPr sz="1575" b="1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相较此前最优方法</a:t>
            </a:r>
          </a:p>
        </p:txBody>
      </p:sp>
      <p:sp>
        <p:nvSpPr>
          <p:cNvPr id="69" name="abstract-takeaway">
            <a:extLst>
              <a:ext uri="{FF2B5EF4-FFF2-40B4-BE49-F238E27FC236}">
                <a16:creationId xmlns:a16="http://schemas.microsoft.com/office/drawing/2014/main" id="{FC54F294-B804-43FC-89E7-EE8AB640369D}"/>
              </a:ext>
            </a:extLst>
          </p:cNvPr>
          <p:cNvSpPr>
            <a:spLocks noGrp="1"/>
          </p:cNvSpPr>
          <p:nvPr/>
        </p:nvSpPr>
        <p:spPr>
          <a:xfrm>
            <a:off x="1143000" y="5381625"/>
            <a:ext cx="990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613" b="1">
                <a:solidFill>
                  <a:srgbClr val="6D5AA7"/>
                </a:solidFill>
                <a:latin typeface="Noto Sans SC"/>
                <a:ea typeface="Noto Sans SC"/>
                <a:cs typeface="Noto Sans SC"/>
              </a:defRPr>
            </a:pPr>
            <a:r>
              <a:rPr sz="1613" b="1" dirty="0" err="1">
                <a:solidFill>
                  <a:srgbClr val="6D5AA7"/>
                </a:solidFill>
                <a:latin typeface="Noto Sans SC"/>
                <a:ea typeface="Noto Sans SC"/>
                <a:cs typeface="Noto Sans SC"/>
              </a:rPr>
              <a:t>核心转变：从“参数方向是否正交”转向“真正决定旧任务性能变化的梯度方向是否正交</a:t>
            </a:r>
            <a:r>
              <a:rPr sz="1613" b="1" dirty="0">
                <a:solidFill>
                  <a:srgbClr val="6D5AA7"/>
                </a:solidFill>
                <a:latin typeface="Noto Sans SC"/>
                <a:ea typeface="Noto Sans SC"/>
                <a:cs typeface="Noto Sans SC"/>
              </a:rPr>
              <a:t>”。</a:t>
            </a:r>
          </a:p>
        </p:txBody>
      </p:sp>
    </p:spTree>
    <p:extLst>
      <p:ext uri="{BB962C8B-B14F-4D97-AF65-F5344CB8AC3E}">
        <p14:creationId xmlns:p14="http://schemas.microsoft.com/office/powerpoint/2010/main" val="821032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椭圆 54">
            <a:extLst>
              <a:ext uri="{FF2B5EF4-FFF2-40B4-BE49-F238E27FC236}">
                <a16:creationId xmlns:a16="http://schemas.microsoft.com/office/drawing/2014/main" id="{30867358-14B0-EB58-9783-39613DDA9365}"/>
              </a:ext>
            </a:extLst>
          </p:cNvPr>
          <p:cNvSpPr>
            <a:spLocks noGrp="1"/>
          </p:cNvSpPr>
          <p:nvPr/>
        </p:nvSpPr>
        <p:spPr>
          <a:xfrm>
            <a:off x="383338" y="171051"/>
            <a:ext cx="468000" cy="468000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6522D32-89EB-3C54-5C2C-5C7ED26B991B}"/>
              </a:ext>
            </a:extLst>
          </p:cNvPr>
          <p:cNvSpPr>
            <a:spLocks noGrp="1"/>
          </p:cNvSpPr>
          <p:nvPr/>
        </p:nvSpPr>
        <p:spPr>
          <a:xfrm>
            <a:off x="256004" y="244806"/>
            <a:ext cx="6731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1AE75BEC-4437-2116-D662-A4DA4E5364F7}"/>
              </a:ext>
            </a:extLst>
          </p:cNvPr>
          <p:cNvSpPr>
            <a:spLocks noGrp="1"/>
          </p:cNvSpPr>
          <p:nvPr/>
        </p:nvSpPr>
        <p:spPr>
          <a:xfrm>
            <a:off x="203760" y="614316"/>
            <a:ext cx="176213" cy="176213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" name="图片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A123DA1-5AF4-1E2C-B945-3EDBD2D147B8}"/>
              </a:ext>
            </a:extLst>
          </p:cNvPr>
          <p:cNvSpPr>
            <a:spLocks noGrp="1"/>
          </p:cNvSpPr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自强不息 厚德载物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642F83-09B2-B71F-82BB-5D061FA60A03}"/>
              </a:ext>
            </a:extLst>
          </p:cNvPr>
          <p:cNvSpPr>
            <a:spLocks noGrp="1"/>
          </p:cNvSpPr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Arial"/>
                <a:ea typeface="Arial"/>
                <a:cs typeface="Arial"/>
              </a:rPr>
              <a:t>Tsinghua University of China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EBFE84-3C85-C51F-B8E5-6BA390902AFA}"/>
              </a:ext>
            </a:extLst>
          </p:cNvPr>
          <p:cNvSpPr>
            <a:spLocks noGrp="1"/>
          </p:cNvSpPr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自强不息 厚德载物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DE404B-B742-BE76-1CD9-CAC07DC9A459}"/>
              </a:ext>
            </a:extLst>
          </p:cNvPr>
          <p:cNvSpPr>
            <a:spLocks noGrp="1"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4D6666-29DD-C131-A5AE-251F129159EC}"/>
              </a:ext>
            </a:extLst>
          </p:cNvPr>
          <p:cNvSpPr>
            <a:spLocks noGrp="1"/>
          </p:cNvSpPr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知行合一、经世致用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49DD608-372D-A1CB-87A9-A987355F3941}"/>
              </a:ext>
            </a:extLst>
          </p:cNvPr>
          <p:cNvSpPr>
            <a:spLocks noGrp="1"/>
          </p:cNvSpPr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prstClr val="white"/>
                </a:solidFill>
                <a:latin typeface="Arial"/>
                <a:ea typeface="Arial"/>
                <a:cs typeface="Arial"/>
              </a:rPr>
              <a:t>Central South University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54E765BB-55F7-42E8-9F01-AD092AC1047B}"/>
              </a:ext>
            </a:extLst>
          </p:cNvPr>
          <p:cNvSpPr>
            <a:spLocks noGrp="1"/>
          </p:cNvSpPr>
          <p:nvPr/>
        </p:nvSpPr>
        <p:spPr>
          <a:xfrm>
            <a:off x="660399" y="760413"/>
            <a:ext cx="11088000" cy="0"/>
          </a:xfrm>
          <a:prstGeom prst="line">
            <a:avLst/>
          </a:prstGeom>
          <a:noFill/>
          <a:ln w="22225">
            <a:solidFill>
              <a:srgbClr val="1C6299"/>
            </a:solidFill>
            <a:prstDash val="solid"/>
          </a:ln>
        </p:spPr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9FCA014-3852-D7B9-D393-8B549249E2AD}"/>
              </a:ext>
            </a:extLst>
          </p:cNvPr>
          <p:cNvSpPr>
            <a:spLocks noGrp="1"/>
          </p:cNvSpPr>
          <p:nvPr/>
        </p:nvSpPr>
        <p:spPr>
          <a:xfrm>
            <a:off x="537845" y="863445"/>
            <a:ext cx="11241878" cy="523220"/>
          </a:xfrm>
          <a:prstGeom prst="rect">
            <a:avLst/>
          </a:prstGeo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14300" tIns="38100" rIns="76200" bIns="38100" anchor="ctr"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研究背景｜MLLM 为什么需要持续学习</a:t>
            </a:r>
          </a:p>
        </p:txBody>
      </p:sp>
      <p:sp>
        <p:nvSpPr>
          <p:cNvPr id="59" name="cl-definition">
            <a:extLst>
              <a:ext uri="{FF2B5EF4-FFF2-40B4-BE49-F238E27FC236}">
                <a16:creationId xmlns:a16="http://schemas.microsoft.com/office/drawing/2014/main" id="{06ADFD2A-6778-4814-8A84-3175AB0DFE3D}"/>
              </a:ext>
            </a:extLst>
          </p:cNvPr>
          <p:cNvSpPr>
            <a:spLocks noGrp="1"/>
          </p:cNvSpPr>
          <p:nvPr/>
        </p:nvSpPr>
        <p:spPr>
          <a:xfrm>
            <a:off x="857250" y="1524000"/>
            <a:ext cx="1047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800" b="1">
                <a:solidFill>
                  <a:srgbClr val="1F4E79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1F4E79"/>
                </a:solidFill>
                <a:latin typeface="Noto Sans SC"/>
                <a:ea typeface="Noto Sans SC"/>
                <a:cs typeface="Noto Sans SC"/>
              </a:rPr>
              <a:t>持续学习（Continual Learning）：模型按任务序列 T₁ → T₂ → … → Tₙ 依次学习，并希望在获得新知识时不遗忘旧任务。</a:t>
            </a:r>
          </a:p>
        </p:txBody>
      </p:sp>
      <p:sp>
        <p:nvSpPr>
          <p:cNvPr id="60" name="task-0">
            <a:extLst>
              <a:ext uri="{FF2B5EF4-FFF2-40B4-BE49-F238E27FC236}">
                <a16:creationId xmlns:a16="http://schemas.microsoft.com/office/drawing/2014/main" id="{09D4A491-3329-4E3E-8741-A186831CDBFD}"/>
              </a:ext>
            </a:extLst>
          </p:cNvPr>
          <p:cNvSpPr>
            <a:spLocks noGrp="1"/>
          </p:cNvSpPr>
          <p:nvPr/>
        </p:nvSpPr>
        <p:spPr>
          <a:xfrm>
            <a:off x="1000125" y="2714625"/>
            <a:ext cx="1381125" cy="742950"/>
          </a:xfrm>
          <a:prstGeom prst="roundRect">
            <a:avLst>
              <a:gd name="adj" fmla="val 15385"/>
            </a:avLst>
          </a:prstGeom>
          <a:solidFill>
            <a:srgbClr val="EAF4FB"/>
          </a:solidFill>
          <a:ln w="12383">
            <a:solidFill>
              <a:srgbClr val="C8DC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1" name="task-text-0">
            <a:extLst>
              <a:ext uri="{FF2B5EF4-FFF2-40B4-BE49-F238E27FC236}">
                <a16:creationId xmlns:a16="http://schemas.microsoft.com/office/drawing/2014/main" id="{F8EB43D7-640E-495E-9813-F8189A0EDB0F}"/>
              </a:ext>
            </a:extLst>
          </p:cNvPr>
          <p:cNvSpPr>
            <a:spLocks noGrp="1"/>
          </p:cNvSpPr>
          <p:nvPr/>
        </p:nvSpPr>
        <p:spPr>
          <a:xfrm>
            <a:off x="1000125" y="2714625"/>
            <a:ext cx="13811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650" b="1">
                <a:solidFill>
                  <a:srgbClr val="1F4E79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4E79"/>
                </a:solidFill>
                <a:latin typeface="Noto Sans SC"/>
                <a:ea typeface="Noto Sans SC"/>
                <a:cs typeface="Noto Sans SC"/>
              </a:rPr>
              <a:t>任务 T₁</a:t>
            </a:r>
          </a:p>
        </p:txBody>
      </p:sp>
      <p:sp>
        <p:nvSpPr>
          <p:cNvPr id="62" name="task-arrow-0">
            <a:extLst>
              <a:ext uri="{FF2B5EF4-FFF2-40B4-BE49-F238E27FC236}">
                <a16:creationId xmlns:a16="http://schemas.microsoft.com/office/drawing/2014/main" id="{B29053C3-C285-4FC4-8336-B6E69E151B00}"/>
              </a:ext>
            </a:extLst>
          </p:cNvPr>
          <p:cNvSpPr>
            <a:spLocks noGrp="1"/>
          </p:cNvSpPr>
          <p:nvPr/>
        </p:nvSpPr>
        <p:spPr>
          <a:xfrm>
            <a:off x="2428875" y="2800350"/>
            <a:ext cx="38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2850" b="1">
                <a:solidFill>
                  <a:srgbClr val="0070C0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0070C0"/>
                </a:solidFill>
                <a:latin typeface="Noto Sans SC"/>
                <a:ea typeface="Noto Sans SC"/>
                <a:cs typeface="Noto Sans SC"/>
              </a:rPr>
              <a:t>→</a:t>
            </a:r>
          </a:p>
        </p:txBody>
      </p:sp>
      <p:sp>
        <p:nvSpPr>
          <p:cNvPr id="63" name="task-1">
            <a:extLst>
              <a:ext uri="{FF2B5EF4-FFF2-40B4-BE49-F238E27FC236}">
                <a16:creationId xmlns:a16="http://schemas.microsoft.com/office/drawing/2014/main" id="{297B033E-850A-430C-97D4-C452187B1D46}"/>
              </a:ext>
            </a:extLst>
          </p:cNvPr>
          <p:cNvSpPr>
            <a:spLocks noGrp="1"/>
          </p:cNvSpPr>
          <p:nvPr/>
        </p:nvSpPr>
        <p:spPr>
          <a:xfrm>
            <a:off x="2857500" y="2714625"/>
            <a:ext cx="1381125" cy="742950"/>
          </a:xfrm>
          <a:prstGeom prst="roundRect">
            <a:avLst>
              <a:gd name="adj" fmla="val 15385"/>
            </a:avLst>
          </a:prstGeom>
          <a:solidFill>
            <a:srgbClr val="EAF4FB"/>
          </a:solidFill>
          <a:ln w="12383">
            <a:solidFill>
              <a:srgbClr val="C8DC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4" name="task-text-1">
            <a:extLst>
              <a:ext uri="{FF2B5EF4-FFF2-40B4-BE49-F238E27FC236}">
                <a16:creationId xmlns:a16="http://schemas.microsoft.com/office/drawing/2014/main" id="{62AC80F1-8AA7-4E06-8022-B2D2301CD313}"/>
              </a:ext>
            </a:extLst>
          </p:cNvPr>
          <p:cNvSpPr>
            <a:spLocks noGrp="1"/>
          </p:cNvSpPr>
          <p:nvPr/>
        </p:nvSpPr>
        <p:spPr>
          <a:xfrm>
            <a:off x="2857500" y="2714625"/>
            <a:ext cx="13811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650" b="1">
                <a:solidFill>
                  <a:srgbClr val="1F4E79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4E79"/>
                </a:solidFill>
                <a:latin typeface="Noto Sans SC"/>
                <a:ea typeface="Noto Sans SC"/>
                <a:cs typeface="Noto Sans SC"/>
              </a:rPr>
              <a:t>任务 T₂</a:t>
            </a:r>
          </a:p>
        </p:txBody>
      </p:sp>
      <p:sp>
        <p:nvSpPr>
          <p:cNvPr id="65" name="task-arrow-1">
            <a:extLst>
              <a:ext uri="{FF2B5EF4-FFF2-40B4-BE49-F238E27FC236}">
                <a16:creationId xmlns:a16="http://schemas.microsoft.com/office/drawing/2014/main" id="{871FC37B-15BE-4981-A479-81857532DB7A}"/>
              </a:ext>
            </a:extLst>
          </p:cNvPr>
          <p:cNvSpPr>
            <a:spLocks noGrp="1"/>
          </p:cNvSpPr>
          <p:nvPr/>
        </p:nvSpPr>
        <p:spPr>
          <a:xfrm>
            <a:off x="4286250" y="2800350"/>
            <a:ext cx="38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2850" b="1">
                <a:solidFill>
                  <a:srgbClr val="0070C0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0070C0"/>
                </a:solidFill>
                <a:latin typeface="Noto Sans SC"/>
                <a:ea typeface="Noto Sans SC"/>
                <a:cs typeface="Noto Sans SC"/>
              </a:rPr>
              <a:t>→</a:t>
            </a:r>
          </a:p>
        </p:txBody>
      </p:sp>
      <p:sp>
        <p:nvSpPr>
          <p:cNvPr id="66" name="task-2">
            <a:extLst>
              <a:ext uri="{FF2B5EF4-FFF2-40B4-BE49-F238E27FC236}">
                <a16:creationId xmlns:a16="http://schemas.microsoft.com/office/drawing/2014/main" id="{9283C293-FB5B-482C-844B-5E9F302484DD}"/>
              </a:ext>
            </a:extLst>
          </p:cNvPr>
          <p:cNvSpPr>
            <a:spLocks noGrp="1"/>
          </p:cNvSpPr>
          <p:nvPr/>
        </p:nvSpPr>
        <p:spPr>
          <a:xfrm>
            <a:off x="4714875" y="2714625"/>
            <a:ext cx="1381125" cy="742950"/>
          </a:xfrm>
          <a:prstGeom prst="roundRect">
            <a:avLst>
              <a:gd name="adj" fmla="val 15385"/>
            </a:avLst>
          </a:prstGeom>
          <a:solidFill>
            <a:srgbClr val="EAF7F0"/>
          </a:solidFill>
          <a:ln w="12383">
            <a:solidFill>
              <a:srgbClr val="C8DCE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7" name="task-text-2">
            <a:extLst>
              <a:ext uri="{FF2B5EF4-FFF2-40B4-BE49-F238E27FC236}">
                <a16:creationId xmlns:a16="http://schemas.microsoft.com/office/drawing/2014/main" id="{6C73F47F-2394-4D81-BAE0-8F6DA03BA655}"/>
              </a:ext>
            </a:extLst>
          </p:cNvPr>
          <p:cNvSpPr>
            <a:spLocks noGrp="1"/>
          </p:cNvSpPr>
          <p:nvPr/>
        </p:nvSpPr>
        <p:spPr>
          <a:xfrm>
            <a:off x="4714875" y="2714625"/>
            <a:ext cx="13811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650" b="1">
                <a:solidFill>
                  <a:srgbClr val="1F4E79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4E79"/>
                </a:solidFill>
                <a:latin typeface="Noto Sans SC"/>
                <a:ea typeface="Noto Sans SC"/>
                <a:cs typeface="Noto Sans SC"/>
              </a:rPr>
              <a:t>任务 Tₙ</a:t>
            </a:r>
          </a:p>
        </p:txBody>
      </p:sp>
      <p:sp>
        <p:nvSpPr>
          <p:cNvPr id="68" name="mllm-box">
            <a:extLst>
              <a:ext uri="{FF2B5EF4-FFF2-40B4-BE49-F238E27FC236}">
                <a16:creationId xmlns:a16="http://schemas.microsoft.com/office/drawing/2014/main" id="{54E61513-66B4-4F45-972D-C8CEFCC229E3}"/>
              </a:ext>
            </a:extLst>
          </p:cNvPr>
          <p:cNvSpPr>
            <a:spLocks noGrp="1"/>
          </p:cNvSpPr>
          <p:nvPr/>
        </p:nvSpPr>
        <p:spPr>
          <a:xfrm>
            <a:off x="6715125" y="2333625"/>
            <a:ext cx="4048125" cy="1476375"/>
          </a:xfrm>
          <a:prstGeom prst="roundRect">
            <a:avLst>
              <a:gd name="adj" fmla="val 7742"/>
            </a:avLst>
          </a:prstGeom>
          <a:solidFill>
            <a:srgbClr val="EDF6FF"/>
          </a:solidFill>
          <a:ln w="19050">
            <a:solidFill>
              <a:srgbClr val="0070C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9" name="mllm-title">
            <a:extLst>
              <a:ext uri="{FF2B5EF4-FFF2-40B4-BE49-F238E27FC236}">
                <a16:creationId xmlns:a16="http://schemas.microsoft.com/office/drawing/2014/main" id="{BB0749FF-2DA9-494B-AE8A-C888C4236404}"/>
              </a:ext>
            </a:extLst>
          </p:cNvPr>
          <p:cNvSpPr>
            <a:spLocks noGrp="1"/>
          </p:cNvSpPr>
          <p:nvPr/>
        </p:nvSpPr>
        <p:spPr>
          <a:xfrm>
            <a:off x="7000875" y="2476500"/>
            <a:ext cx="3476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2250" b="1">
                <a:solidFill>
                  <a:srgbClr val="0070C0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0070C0"/>
                </a:solidFill>
                <a:latin typeface="Noto Sans SC"/>
                <a:ea typeface="Noto Sans SC"/>
                <a:cs typeface="Noto Sans SC"/>
              </a:rPr>
              <a:t>统一的 MLLM</a:t>
            </a:r>
          </a:p>
        </p:txBody>
      </p:sp>
      <p:sp>
        <p:nvSpPr>
          <p:cNvPr id="70" name="mllm-body">
            <a:extLst>
              <a:ext uri="{FF2B5EF4-FFF2-40B4-BE49-F238E27FC236}">
                <a16:creationId xmlns:a16="http://schemas.microsoft.com/office/drawing/2014/main" id="{03008680-7890-47D0-90EC-94977B4B452C}"/>
              </a:ext>
            </a:extLst>
          </p:cNvPr>
          <p:cNvSpPr>
            <a:spLocks noGrp="1"/>
          </p:cNvSpPr>
          <p:nvPr/>
        </p:nvSpPr>
        <p:spPr>
          <a:xfrm>
            <a:off x="7000875" y="2952750"/>
            <a:ext cx="3476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575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逐步整合视觉—语言知识</a:t>
            </a:r>
          </a:p>
          <a:p>
            <a:pPr algn="ctr">
              <a:defRPr sz="1575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面对新场景呈现“类人适应性”</a:t>
            </a:r>
          </a:p>
        </p:txBody>
      </p:sp>
      <p:sp>
        <p:nvSpPr>
          <p:cNvPr id="71" name="task-to-model">
            <a:extLst>
              <a:ext uri="{FF2B5EF4-FFF2-40B4-BE49-F238E27FC236}">
                <a16:creationId xmlns:a16="http://schemas.microsoft.com/office/drawing/2014/main" id="{BB67330D-6B41-4497-9BC8-585B7FB3E710}"/>
              </a:ext>
            </a:extLst>
          </p:cNvPr>
          <p:cNvSpPr>
            <a:spLocks noGrp="1"/>
          </p:cNvSpPr>
          <p:nvPr/>
        </p:nvSpPr>
        <p:spPr>
          <a:xfrm>
            <a:off x="6191250" y="2809875"/>
            <a:ext cx="428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2550" b="1">
                <a:solidFill>
                  <a:srgbClr val="6D5AA7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6D5AA7"/>
                </a:solidFill>
                <a:latin typeface="Noto Sans SC"/>
                <a:ea typeface="Noto Sans SC"/>
                <a:cs typeface="Noto Sans SC"/>
              </a:rPr>
              <a:t>→</a:t>
            </a:r>
          </a:p>
        </p:txBody>
      </p:sp>
      <p:sp>
        <p:nvSpPr>
          <p:cNvPr id="72" name="plasticity-card">
            <a:extLst>
              <a:ext uri="{FF2B5EF4-FFF2-40B4-BE49-F238E27FC236}">
                <a16:creationId xmlns:a16="http://schemas.microsoft.com/office/drawing/2014/main" id="{3EE4A7B9-12CA-4F27-861A-AFB7130A53FD}"/>
              </a:ext>
            </a:extLst>
          </p:cNvPr>
          <p:cNvSpPr>
            <a:spLocks noGrp="1"/>
          </p:cNvSpPr>
          <p:nvPr/>
        </p:nvSpPr>
        <p:spPr>
          <a:xfrm>
            <a:off x="1619250" y="4524375"/>
            <a:ext cx="3810000" cy="1123950"/>
          </a:xfrm>
          <a:prstGeom prst="roundRect">
            <a:avLst>
              <a:gd name="adj" fmla="val 10169"/>
            </a:avLst>
          </a:prstGeom>
          <a:solidFill>
            <a:srgbClr val="FFF4E8"/>
          </a:solidFill>
          <a:ln w="12383">
            <a:solidFill>
              <a:srgbClr val="F0C48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3" name="plasticity">
            <a:extLst>
              <a:ext uri="{FF2B5EF4-FFF2-40B4-BE49-F238E27FC236}">
                <a16:creationId xmlns:a16="http://schemas.microsoft.com/office/drawing/2014/main" id="{93CA617E-E6C9-463F-8A59-2022C4A955F0}"/>
              </a:ext>
            </a:extLst>
          </p:cNvPr>
          <p:cNvSpPr>
            <a:spLocks noGrp="1"/>
          </p:cNvSpPr>
          <p:nvPr/>
        </p:nvSpPr>
        <p:spPr>
          <a:xfrm>
            <a:off x="1857375" y="4629150"/>
            <a:ext cx="3333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725" b="1">
                <a:solidFill>
                  <a:srgbClr val="E67E22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725" b="1" dirty="0">
                <a:solidFill>
                  <a:srgbClr val="E67E22"/>
                </a:solidFill>
                <a:latin typeface="Noto Sans SC"/>
                <a:ea typeface="Noto Sans SC"/>
                <a:cs typeface="Noto Sans SC"/>
              </a:rPr>
              <a:t>可</a:t>
            </a:r>
            <a:r>
              <a:rPr sz="1725" b="1" dirty="0" err="1">
                <a:solidFill>
                  <a:srgbClr val="E67E22"/>
                </a:solidFill>
                <a:latin typeface="Noto Sans SC"/>
                <a:ea typeface="Noto Sans SC"/>
                <a:cs typeface="Noto Sans SC"/>
              </a:rPr>
              <a:t>塑性</a:t>
            </a:r>
            <a:r>
              <a:rPr sz="1725" b="1" dirty="0">
                <a:solidFill>
                  <a:srgbClr val="E67E22"/>
                </a:solidFill>
                <a:latin typeface="Noto Sans SC"/>
                <a:ea typeface="Noto Sans SC"/>
                <a:cs typeface="Noto Sans SC"/>
              </a:rPr>
              <a:t> Plasticity</a:t>
            </a:r>
          </a:p>
          <a:p>
            <a:pPr algn="ctr">
              <a:defRPr sz="1725" b="1">
                <a:solidFill>
                  <a:srgbClr val="E67E22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 dirty="0" err="1">
                <a:solidFill>
                  <a:srgbClr val="E67E22"/>
                </a:solidFill>
                <a:latin typeface="Noto Sans SC"/>
                <a:ea typeface="Noto Sans SC"/>
                <a:cs typeface="Noto Sans SC"/>
              </a:rPr>
              <a:t>快速学会当前新任务</a:t>
            </a:r>
            <a:endParaRPr sz="1725" b="1" dirty="0">
              <a:solidFill>
                <a:srgbClr val="E67E22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4" name="stability-card">
            <a:extLst>
              <a:ext uri="{FF2B5EF4-FFF2-40B4-BE49-F238E27FC236}">
                <a16:creationId xmlns:a16="http://schemas.microsoft.com/office/drawing/2014/main" id="{752A60E0-1E70-4434-AF2D-60A0171BCFB8}"/>
              </a:ext>
            </a:extLst>
          </p:cNvPr>
          <p:cNvSpPr>
            <a:spLocks noGrp="1"/>
          </p:cNvSpPr>
          <p:nvPr/>
        </p:nvSpPr>
        <p:spPr>
          <a:xfrm>
            <a:off x="6762750" y="4524375"/>
            <a:ext cx="3810000" cy="1123950"/>
          </a:xfrm>
          <a:prstGeom prst="roundRect">
            <a:avLst>
              <a:gd name="adj" fmla="val 10169"/>
            </a:avLst>
          </a:prstGeom>
          <a:solidFill>
            <a:srgbClr val="EEF6FF"/>
          </a:solidFill>
          <a:ln w="12383">
            <a:solidFill>
              <a:srgbClr val="A9CB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5" name="stability">
            <a:extLst>
              <a:ext uri="{FF2B5EF4-FFF2-40B4-BE49-F238E27FC236}">
                <a16:creationId xmlns:a16="http://schemas.microsoft.com/office/drawing/2014/main" id="{02C7F2CD-FDB3-4922-B5C6-66E984984860}"/>
              </a:ext>
            </a:extLst>
          </p:cNvPr>
          <p:cNvSpPr>
            <a:spLocks noGrp="1"/>
          </p:cNvSpPr>
          <p:nvPr/>
        </p:nvSpPr>
        <p:spPr>
          <a:xfrm>
            <a:off x="7000875" y="4629150"/>
            <a:ext cx="3333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725" b="1">
                <a:solidFill>
                  <a:srgbClr val="0070C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070C0"/>
                </a:solidFill>
                <a:latin typeface="Noto Sans SC"/>
                <a:ea typeface="Noto Sans SC"/>
                <a:cs typeface="Noto Sans SC"/>
              </a:rPr>
              <a:t>稳定性 Stability</a:t>
            </a:r>
          </a:p>
          <a:p>
            <a:pPr algn="ctr">
              <a:defRPr sz="1725" b="1">
                <a:solidFill>
                  <a:srgbClr val="0070C0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0070C0"/>
                </a:solidFill>
                <a:latin typeface="Noto Sans SC"/>
                <a:ea typeface="Noto Sans SC"/>
                <a:cs typeface="Noto Sans SC"/>
              </a:rPr>
              <a:t>保留此前任务能力</a:t>
            </a:r>
          </a:p>
        </p:txBody>
      </p:sp>
      <p:sp>
        <p:nvSpPr>
          <p:cNvPr id="76" name="balance">
            <a:extLst>
              <a:ext uri="{FF2B5EF4-FFF2-40B4-BE49-F238E27FC236}">
                <a16:creationId xmlns:a16="http://schemas.microsoft.com/office/drawing/2014/main" id="{4180532D-DE60-4627-8EFC-19F0EFE4615B}"/>
              </a:ext>
            </a:extLst>
          </p:cNvPr>
          <p:cNvSpPr>
            <a:spLocks noGrp="1"/>
          </p:cNvSpPr>
          <p:nvPr/>
        </p:nvSpPr>
        <p:spPr>
          <a:xfrm>
            <a:off x="3000375" y="5791200"/>
            <a:ext cx="619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538" b="1">
                <a:solidFill>
                  <a:srgbClr val="C94B4B"/>
                </a:solidFill>
                <a:latin typeface="Noto Sans SC"/>
                <a:ea typeface="Noto Sans SC"/>
                <a:cs typeface="Noto Sans SC"/>
              </a:defRPr>
            </a:pPr>
            <a:r>
              <a:rPr sz="1538" b="1">
                <a:solidFill>
                  <a:srgbClr val="C94B4B"/>
                </a:solidFill>
                <a:latin typeface="Noto Sans SC"/>
                <a:ea typeface="Noto Sans SC"/>
                <a:cs typeface="Noto Sans SC"/>
              </a:rPr>
              <a:t>平衡失败 → 新任务更新破坏旧任务能力，即“灾难性遗忘”</a:t>
            </a:r>
          </a:p>
        </p:txBody>
      </p:sp>
    </p:spTree>
    <p:extLst>
      <p:ext uri="{BB962C8B-B14F-4D97-AF65-F5344CB8AC3E}">
        <p14:creationId xmlns:p14="http://schemas.microsoft.com/office/powerpoint/2010/main" val="2550535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椭圆 54">
            <a:extLst>
              <a:ext uri="{FF2B5EF4-FFF2-40B4-BE49-F238E27FC236}">
                <a16:creationId xmlns:a16="http://schemas.microsoft.com/office/drawing/2014/main" id="{776069EF-896D-6394-5EDF-C35443A74018}"/>
              </a:ext>
            </a:extLst>
          </p:cNvPr>
          <p:cNvSpPr>
            <a:spLocks noGrp="1"/>
          </p:cNvSpPr>
          <p:nvPr/>
        </p:nvSpPr>
        <p:spPr>
          <a:xfrm>
            <a:off x="383338" y="171051"/>
            <a:ext cx="468000" cy="468000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98FC8F2-1F35-9E16-E244-E16A8A1CADDC}"/>
              </a:ext>
            </a:extLst>
          </p:cNvPr>
          <p:cNvSpPr>
            <a:spLocks noGrp="1"/>
          </p:cNvSpPr>
          <p:nvPr/>
        </p:nvSpPr>
        <p:spPr>
          <a:xfrm>
            <a:off x="256004" y="244806"/>
            <a:ext cx="6731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1E785BB4-EF89-F29D-5A1D-44AD4E00FA15}"/>
              </a:ext>
            </a:extLst>
          </p:cNvPr>
          <p:cNvSpPr>
            <a:spLocks noGrp="1"/>
          </p:cNvSpPr>
          <p:nvPr/>
        </p:nvSpPr>
        <p:spPr>
          <a:xfrm>
            <a:off x="203760" y="614316"/>
            <a:ext cx="176213" cy="176213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" name="图片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799EB52-1A81-5F47-5428-DB72B4437E8F}"/>
              </a:ext>
            </a:extLst>
          </p:cNvPr>
          <p:cNvSpPr>
            <a:spLocks noGrp="1"/>
          </p:cNvSpPr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自强不息 厚德载物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E0AA41-0D6A-6E30-B1A7-00424B18DD43}"/>
              </a:ext>
            </a:extLst>
          </p:cNvPr>
          <p:cNvSpPr>
            <a:spLocks noGrp="1"/>
          </p:cNvSpPr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Arial"/>
                <a:ea typeface="Arial"/>
                <a:cs typeface="Arial"/>
              </a:rPr>
              <a:t>Tsinghua University of China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AF5B134-5984-4471-16C9-3E06CA264EB6}"/>
              </a:ext>
            </a:extLst>
          </p:cNvPr>
          <p:cNvSpPr>
            <a:spLocks noGrp="1"/>
          </p:cNvSpPr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自强不息 厚德载物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295EA6-07CD-F4EF-291D-17C1CE7F289D}"/>
              </a:ext>
            </a:extLst>
          </p:cNvPr>
          <p:cNvSpPr>
            <a:spLocks noGrp="1"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30B7C6-8B8A-74E6-2C62-A0235171065A}"/>
              </a:ext>
            </a:extLst>
          </p:cNvPr>
          <p:cNvSpPr>
            <a:spLocks noGrp="1"/>
          </p:cNvSpPr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知行合一、经世致用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AE9C65-74A6-810B-E41F-17031ACB248D}"/>
              </a:ext>
            </a:extLst>
          </p:cNvPr>
          <p:cNvSpPr>
            <a:spLocks noGrp="1"/>
          </p:cNvSpPr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prstClr val="white"/>
                </a:solidFill>
                <a:latin typeface="Arial"/>
                <a:ea typeface="Arial"/>
                <a:cs typeface="Arial"/>
              </a:rPr>
              <a:t>Central South University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86FEA058-DB90-4400-9271-F5D32D84644E}"/>
              </a:ext>
            </a:extLst>
          </p:cNvPr>
          <p:cNvSpPr>
            <a:spLocks noGrp="1"/>
          </p:cNvSpPr>
          <p:nvPr/>
        </p:nvSpPr>
        <p:spPr>
          <a:xfrm>
            <a:off x="660399" y="760413"/>
            <a:ext cx="11088000" cy="0"/>
          </a:xfrm>
          <a:prstGeom prst="line">
            <a:avLst/>
          </a:prstGeom>
          <a:noFill/>
          <a:ln w="22225">
            <a:solidFill>
              <a:srgbClr val="1C6299"/>
            </a:solidFill>
            <a:prstDash val="solid"/>
          </a:ln>
        </p:spPr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FF1C5D8-0187-1B57-5A50-EDF24F6450D7}"/>
              </a:ext>
            </a:extLst>
          </p:cNvPr>
          <p:cNvSpPr>
            <a:spLocks noGrp="1"/>
          </p:cNvSpPr>
          <p:nvPr/>
        </p:nvSpPr>
        <p:spPr>
          <a:xfrm>
            <a:off x="537845" y="863445"/>
            <a:ext cx="11241878" cy="523220"/>
          </a:xfrm>
          <a:prstGeom prst="rect">
            <a:avLst/>
          </a:prstGeo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14300" tIns="38100" rIns="76200" bIns="38100" anchor="ctr"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现有方法｜三条路线为什么仍然不够</a:t>
            </a:r>
          </a:p>
        </p:txBody>
      </p:sp>
      <p:sp>
        <p:nvSpPr>
          <p:cNvPr id="59" name="method-card-0">
            <a:extLst>
              <a:ext uri="{FF2B5EF4-FFF2-40B4-BE49-F238E27FC236}">
                <a16:creationId xmlns:a16="http://schemas.microsoft.com/office/drawing/2014/main" id="{480F73DE-ED14-490B-96D1-7CEB8BEDAFEC}"/>
              </a:ext>
            </a:extLst>
          </p:cNvPr>
          <p:cNvSpPr>
            <a:spLocks noGrp="1"/>
          </p:cNvSpPr>
          <p:nvPr/>
        </p:nvSpPr>
        <p:spPr>
          <a:xfrm>
            <a:off x="714375" y="1809750"/>
            <a:ext cx="3143250" cy="3476625"/>
          </a:xfrm>
          <a:prstGeom prst="roundRect">
            <a:avLst>
              <a:gd name="adj" fmla="val 3636"/>
            </a:avLst>
          </a:prstGeom>
          <a:solidFill>
            <a:srgbClr val="F5F9FD"/>
          </a:solidFill>
          <a:ln w="12383">
            <a:solidFill>
              <a:srgbClr val="6D5AA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0" name="method-pill-0">
            <a:extLst>
              <a:ext uri="{FF2B5EF4-FFF2-40B4-BE49-F238E27FC236}">
                <a16:creationId xmlns:a16="http://schemas.microsoft.com/office/drawing/2014/main" id="{E5063A0F-B750-464C-AE2E-423B2ED847F8}"/>
              </a:ext>
            </a:extLst>
          </p:cNvPr>
          <p:cNvSpPr>
            <a:spLocks noGrp="1"/>
          </p:cNvSpPr>
          <p:nvPr/>
        </p:nvSpPr>
        <p:spPr>
          <a:xfrm>
            <a:off x="1571625" y="1981200"/>
            <a:ext cx="1428750" cy="381000"/>
          </a:xfrm>
          <a:prstGeom prst="roundRect">
            <a:avLst>
              <a:gd name="adj" fmla="val 50000"/>
            </a:avLst>
          </a:prstGeom>
          <a:solidFill>
            <a:srgbClr val="6D5AA7"/>
          </a:solidFill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架构式</a:t>
            </a:r>
          </a:p>
        </p:txBody>
      </p:sp>
      <p:sp>
        <p:nvSpPr>
          <p:cNvPr id="61" name="method-en-0">
            <a:extLst>
              <a:ext uri="{FF2B5EF4-FFF2-40B4-BE49-F238E27FC236}">
                <a16:creationId xmlns:a16="http://schemas.microsoft.com/office/drawing/2014/main" id="{62B3F333-6C3D-42CA-A6DE-7374021B2579}"/>
              </a:ext>
            </a:extLst>
          </p:cNvPr>
          <p:cNvSpPr>
            <a:spLocks noGrp="1"/>
          </p:cNvSpPr>
          <p:nvPr/>
        </p:nvSpPr>
        <p:spPr>
          <a:xfrm>
            <a:off x="10477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2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Architecture-based</a:t>
            </a:r>
          </a:p>
        </p:txBody>
      </p:sp>
      <p:sp>
        <p:nvSpPr>
          <p:cNvPr id="62" name="method-body-0">
            <a:extLst>
              <a:ext uri="{FF2B5EF4-FFF2-40B4-BE49-F238E27FC236}">
                <a16:creationId xmlns:a16="http://schemas.microsoft.com/office/drawing/2014/main" id="{226D5EC3-D3AB-4657-9954-B43945AAE6A9}"/>
              </a:ext>
            </a:extLst>
          </p:cNvPr>
          <p:cNvSpPr>
            <a:spLocks noGrp="1"/>
          </p:cNvSpPr>
          <p:nvPr/>
        </p:nvSpPr>
        <p:spPr>
          <a:xfrm>
            <a:off x="981075" y="2857500"/>
            <a:ext cx="260985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defRPr sz="144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4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为不同任务分配 LoRA / 专家</a:t>
            </a:r>
          </a:p>
          <a:p>
            <a:endParaRPr sz="1448" b="0">
              <a:solidFill>
                <a:srgbClr val="202B36"/>
              </a:solidFill>
              <a:latin typeface="Noto Sans SC"/>
              <a:ea typeface="Noto Sans SC"/>
              <a:cs typeface="Noto Sans SC"/>
            </a:endParaRPr>
          </a:p>
          <a:p>
            <a:pPr algn="l">
              <a:defRPr sz="144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4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✓ 任务信息隔离</a:t>
            </a:r>
          </a:p>
          <a:p>
            <a:pPr algn="l">
              <a:defRPr sz="144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4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✗ 推理与计算开销增加</a:t>
            </a:r>
          </a:p>
          <a:p>
            <a:pPr algn="l">
              <a:defRPr sz="144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4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✗ 对未见任务泛化较弱</a:t>
            </a:r>
          </a:p>
        </p:txBody>
      </p:sp>
      <p:sp>
        <p:nvSpPr>
          <p:cNvPr id="63" name="method-card-1">
            <a:extLst>
              <a:ext uri="{FF2B5EF4-FFF2-40B4-BE49-F238E27FC236}">
                <a16:creationId xmlns:a16="http://schemas.microsoft.com/office/drawing/2014/main" id="{C8AF6C0F-499A-433A-BAE0-CA59FA839A7C}"/>
              </a:ext>
            </a:extLst>
          </p:cNvPr>
          <p:cNvSpPr>
            <a:spLocks noGrp="1"/>
          </p:cNvSpPr>
          <p:nvPr/>
        </p:nvSpPr>
        <p:spPr>
          <a:xfrm>
            <a:off x="4238625" y="1809750"/>
            <a:ext cx="3143250" cy="3476625"/>
          </a:xfrm>
          <a:prstGeom prst="roundRect">
            <a:avLst>
              <a:gd name="adj" fmla="val 3636"/>
            </a:avLst>
          </a:prstGeom>
          <a:solidFill>
            <a:srgbClr val="FFF9F0"/>
          </a:solidFill>
          <a:ln w="12383">
            <a:solidFill>
              <a:srgbClr val="E67E2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4" name="method-pill-1">
            <a:extLst>
              <a:ext uri="{FF2B5EF4-FFF2-40B4-BE49-F238E27FC236}">
                <a16:creationId xmlns:a16="http://schemas.microsoft.com/office/drawing/2014/main" id="{445A1461-916F-4046-8E21-40F12BCA728B}"/>
              </a:ext>
            </a:extLst>
          </p:cNvPr>
          <p:cNvSpPr>
            <a:spLocks noGrp="1"/>
          </p:cNvSpPr>
          <p:nvPr/>
        </p:nvSpPr>
        <p:spPr>
          <a:xfrm>
            <a:off x="5095875" y="1981200"/>
            <a:ext cx="1428750" cy="38100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回放式</a:t>
            </a:r>
          </a:p>
        </p:txBody>
      </p:sp>
      <p:sp>
        <p:nvSpPr>
          <p:cNvPr id="65" name="method-en-1">
            <a:extLst>
              <a:ext uri="{FF2B5EF4-FFF2-40B4-BE49-F238E27FC236}">
                <a16:creationId xmlns:a16="http://schemas.microsoft.com/office/drawing/2014/main" id="{3A212974-E883-4DC0-936F-58DBA1B39554}"/>
              </a:ext>
            </a:extLst>
          </p:cNvPr>
          <p:cNvSpPr>
            <a:spLocks noGrp="1"/>
          </p:cNvSpPr>
          <p:nvPr/>
        </p:nvSpPr>
        <p:spPr>
          <a:xfrm>
            <a:off x="457200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2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Rehearsal-based</a:t>
            </a:r>
          </a:p>
        </p:txBody>
      </p:sp>
      <p:sp>
        <p:nvSpPr>
          <p:cNvPr id="66" name="method-body-1">
            <a:extLst>
              <a:ext uri="{FF2B5EF4-FFF2-40B4-BE49-F238E27FC236}">
                <a16:creationId xmlns:a16="http://schemas.microsoft.com/office/drawing/2014/main" id="{C95D6C40-1343-4885-A9DC-EF6A91D6ED62}"/>
              </a:ext>
            </a:extLst>
          </p:cNvPr>
          <p:cNvSpPr>
            <a:spLocks noGrp="1"/>
          </p:cNvSpPr>
          <p:nvPr/>
        </p:nvSpPr>
        <p:spPr>
          <a:xfrm>
            <a:off x="4505325" y="2857500"/>
            <a:ext cx="260985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defRPr sz="144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4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保存旧数据或中间激活</a:t>
            </a:r>
          </a:p>
          <a:p>
            <a:endParaRPr sz="1448" b="0">
              <a:solidFill>
                <a:srgbClr val="202B36"/>
              </a:solidFill>
              <a:latin typeface="Noto Sans SC"/>
              <a:ea typeface="Noto Sans SC"/>
              <a:cs typeface="Noto Sans SC"/>
            </a:endParaRPr>
          </a:p>
          <a:p>
            <a:pPr algn="l">
              <a:defRPr sz="144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4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✓ 直接重现历史知识</a:t>
            </a:r>
          </a:p>
          <a:p>
            <a:pPr algn="l">
              <a:defRPr sz="144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4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✗ 隐私风险与存储成本</a:t>
            </a:r>
          </a:p>
          <a:p>
            <a:pPr algn="l">
              <a:defRPr sz="144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4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✗ 现实中旧数据可能不可得</a:t>
            </a:r>
          </a:p>
        </p:txBody>
      </p:sp>
      <p:sp>
        <p:nvSpPr>
          <p:cNvPr id="67" name="method-card-2">
            <a:extLst>
              <a:ext uri="{FF2B5EF4-FFF2-40B4-BE49-F238E27FC236}">
                <a16:creationId xmlns:a16="http://schemas.microsoft.com/office/drawing/2014/main" id="{34F04A4C-6248-46C3-8821-0B44195A0592}"/>
              </a:ext>
            </a:extLst>
          </p:cNvPr>
          <p:cNvSpPr>
            <a:spLocks noGrp="1"/>
          </p:cNvSpPr>
          <p:nvPr/>
        </p:nvSpPr>
        <p:spPr>
          <a:xfrm>
            <a:off x="7762875" y="1809750"/>
            <a:ext cx="3143250" cy="3476625"/>
          </a:xfrm>
          <a:prstGeom prst="roundRect">
            <a:avLst>
              <a:gd name="adj" fmla="val 3636"/>
            </a:avLst>
          </a:prstGeom>
          <a:solidFill>
            <a:srgbClr val="F5F9FD"/>
          </a:solidFill>
          <a:ln w="12383">
            <a:solidFill>
              <a:srgbClr val="0070C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8" name="method-pill-2">
            <a:extLst>
              <a:ext uri="{FF2B5EF4-FFF2-40B4-BE49-F238E27FC236}">
                <a16:creationId xmlns:a16="http://schemas.microsoft.com/office/drawing/2014/main" id="{889F0A69-938E-40B4-AFAB-8442415FB8D9}"/>
              </a:ext>
            </a:extLst>
          </p:cNvPr>
          <p:cNvSpPr>
            <a:spLocks noGrp="1"/>
          </p:cNvSpPr>
          <p:nvPr/>
        </p:nvSpPr>
        <p:spPr>
          <a:xfrm>
            <a:off x="8620125" y="1981200"/>
            <a:ext cx="1428750" cy="3810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正则式</a:t>
            </a:r>
          </a:p>
        </p:txBody>
      </p:sp>
      <p:sp>
        <p:nvSpPr>
          <p:cNvPr id="69" name="method-en-2">
            <a:extLst>
              <a:ext uri="{FF2B5EF4-FFF2-40B4-BE49-F238E27FC236}">
                <a16:creationId xmlns:a16="http://schemas.microsoft.com/office/drawing/2014/main" id="{9FF5B3F5-7BBE-4BB9-BA7A-FC2BFFC24E55}"/>
              </a:ext>
            </a:extLst>
          </p:cNvPr>
          <p:cNvSpPr>
            <a:spLocks noGrp="1"/>
          </p:cNvSpPr>
          <p:nvPr/>
        </p:nvSpPr>
        <p:spPr>
          <a:xfrm>
            <a:off x="8096250" y="24288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200" b="0">
                <a:solidFill>
                  <a:srgbClr val="5E6B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8"/>
                </a:solidFill>
                <a:latin typeface="Arial"/>
                <a:ea typeface="Arial"/>
                <a:cs typeface="Arial"/>
              </a:rPr>
              <a:t>Regularization-based</a:t>
            </a:r>
          </a:p>
        </p:txBody>
      </p:sp>
      <p:sp>
        <p:nvSpPr>
          <p:cNvPr id="70" name="method-body-2">
            <a:extLst>
              <a:ext uri="{FF2B5EF4-FFF2-40B4-BE49-F238E27FC236}">
                <a16:creationId xmlns:a16="http://schemas.microsoft.com/office/drawing/2014/main" id="{CE3C8381-5222-4168-930E-1CD81FCD6635}"/>
              </a:ext>
            </a:extLst>
          </p:cNvPr>
          <p:cNvSpPr>
            <a:spLocks noGrp="1"/>
          </p:cNvSpPr>
          <p:nvPr/>
        </p:nvSpPr>
        <p:spPr>
          <a:xfrm>
            <a:off x="8029575" y="2857500"/>
            <a:ext cx="260985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defRPr sz="144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4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限制参数更新子空间</a:t>
            </a:r>
          </a:p>
          <a:p>
            <a:endParaRPr sz="1448" b="0">
              <a:solidFill>
                <a:srgbClr val="202B36"/>
              </a:solidFill>
              <a:latin typeface="Noto Sans SC"/>
              <a:ea typeface="Noto Sans SC"/>
              <a:cs typeface="Noto Sans SC"/>
            </a:endParaRPr>
          </a:p>
          <a:p>
            <a:pPr algn="l">
              <a:defRPr sz="144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4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✓ 无回放、推理高效</a:t>
            </a:r>
          </a:p>
          <a:p>
            <a:pPr algn="l">
              <a:defRPr sz="144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4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✗ 参数正交仍不足以阻止干扰</a:t>
            </a:r>
          </a:p>
          <a:p>
            <a:pPr algn="l">
              <a:defRPr sz="144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4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→ 需要更有效的约束对象</a:t>
            </a:r>
          </a:p>
        </p:txBody>
      </p:sp>
      <p:sp>
        <p:nvSpPr>
          <p:cNvPr id="71" name="method-choice">
            <a:extLst>
              <a:ext uri="{FF2B5EF4-FFF2-40B4-BE49-F238E27FC236}">
                <a16:creationId xmlns:a16="http://schemas.microsoft.com/office/drawing/2014/main" id="{A00B5235-D327-4C6C-BB81-FCAE66CE2A27}"/>
              </a:ext>
            </a:extLst>
          </p:cNvPr>
          <p:cNvSpPr>
            <a:spLocks noGrp="1"/>
          </p:cNvSpPr>
          <p:nvPr/>
        </p:nvSpPr>
        <p:spPr>
          <a:xfrm>
            <a:off x="1428750" y="5572125"/>
            <a:ext cx="9334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725" b="1">
                <a:solidFill>
                  <a:srgbClr val="1F4E79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4E79"/>
                </a:solidFill>
                <a:latin typeface="Noto Sans SC"/>
                <a:ea typeface="Noto Sans SC"/>
                <a:cs typeface="Noto Sans SC"/>
              </a:rPr>
              <a:t>作者选择保留“正则式”的轻量优势，但把约束从参数空间推进到梯度空间。</a:t>
            </a:r>
          </a:p>
        </p:txBody>
      </p:sp>
    </p:spTree>
    <p:extLst>
      <p:ext uri="{BB962C8B-B14F-4D97-AF65-F5344CB8AC3E}">
        <p14:creationId xmlns:p14="http://schemas.microsoft.com/office/powerpoint/2010/main" val="116973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椭圆 54">
            <a:extLst>
              <a:ext uri="{FF2B5EF4-FFF2-40B4-BE49-F238E27FC236}">
                <a16:creationId xmlns:a16="http://schemas.microsoft.com/office/drawing/2014/main" id="{07B1D8E7-F803-32F9-F334-A18F2B5C1956}"/>
              </a:ext>
            </a:extLst>
          </p:cNvPr>
          <p:cNvSpPr>
            <a:spLocks noGrp="1"/>
          </p:cNvSpPr>
          <p:nvPr/>
        </p:nvSpPr>
        <p:spPr>
          <a:xfrm>
            <a:off x="383338" y="171051"/>
            <a:ext cx="468000" cy="468000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D8B8589-19C4-D702-4096-D08B382510ED}"/>
              </a:ext>
            </a:extLst>
          </p:cNvPr>
          <p:cNvSpPr>
            <a:spLocks noGrp="1"/>
          </p:cNvSpPr>
          <p:nvPr/>
        </p:nvSpPr>
        <p:spPr>
          <a:xfrm>
            <a:off x="256004" y="244806"/>
            <a:ext cx="6731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376C7E0F-AEA5-E133-713B-0D149C95FB07}"/>
              </a:ext>
            </a:extLst>
          </p:cNvPr>
          <p:cNvSpPr>
            <a:spLocks noGrp="1"/>
          </p:cNvSpPr>
          <p:nvPr/>
        </p:nvSpPr>
        <p:spPr>
          <a:xfrm>
            <a:off x="203760" y="614316"/>
            <a:ext cx="176213" cy="176213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" name="图片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6FBEF6F-D7A1-E739-F965-BD345260FFA9}"/>
              </a:ext>
            </a:extLst>
          </p:cNvPr>
          <p:cNvSpPr>
            <a:spLocks noGrp="1"/>
          </p:cNvSpPr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自强不息 厚德载物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CC7B413-9CE7-15A8-3DBC-9DCD60F19154}"/>
              </a:ext>
            </a:extLst>
          </p:cNvPr>
          <p:cNvSpPr>
            <a:spLocks noGrp="1"/>
          </p:cNvSpPr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Arial"/>
                <a:ea typeface="Arial"/>
                <a:cs typeface="Arial"/>
              </a:rPr>
              <a:t>Tsinghua University of China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AFDCA1-3E11-9B7D-4308-8E2622CBEC0E}"/>
              </a:ext>
            </a:extLst>
          </p:cNvPr>
          <p:cNvSpPr>
            <a:spLocks noGrp="1"/>
          </p:cNvSpPr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自强不息 厚德载物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CD1AEDD-F88E-24F2-1990-A8245E4A9E1B}"/>
              </a:ext>
            </a:extLst>
          </p:cNvPr>
          <p:cNvSpPr>
            <a:spLocks noGrp="1"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CC64D6-4B23-0579-7F05-7A5560CAEED8}"/>
              </a:ext>
            </a:extLst>
          </p:cNvPr>
          <p:cNvSpPr>
            <a:spLocks noGrp="1"/>
          </p:cNvSpPr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知行合一、经世致用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F273735-795D-440D-6F60-CE8CEC74F3CE}"/>
              </a:ext>
            </a:extLst>
          </p:cNvPr>
          <p:cNvSpPr>
            <a:spLocks noGrp="1"/>
          </p:cNvSpPr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prstClr val="white"/>
                </a:solidFill>
                <a:latin typeface="Arial"/>
                <a:ea typeface="Arial"/>
                <a:cs typeface="Arial"/>
              </a:rPr>
              <a:t>Central South University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FDDFDCBA-9450-48D8-A695-572EA6091818}"/>
              </a:ext>
            </a:extLst>
          </p:cNvPr>
          <p:cNvSpPr>
            <a:spLocks noGrp="1"/>
          </p:cNvSpPr>
          <p:nvPr/>
        </p:nvSpPr>
        <p:spPr>
          <a:xfrm>
            <a:off x="660399" y="760413"/>
            <a:ext cx="11088000" cy="0"/>
          </a:xfrm>
          <a:prstGeom prst="line">
            <a:avLst/>
          </a:prstGeom>
          <a:noFill/>
          <a:ln w="22225">
            <a:solidFill>
              <a:srgbClr val="1C6299"/>
            </a:solidFill>
            <a:prstDash val="solid"/>
          </a:ln>
        </p:spPr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6143DDE-6156-64E5-9948-BA8D1FD5E2BA}"/>
              </a:ext>
            </a:extLst>
          </p:cNvPr>
          <p:cNvSpPr>
            <a:spLocks noGrp="1"/>
          </p:cNvSpPr>
          <p:nvPr/>
        </p:nvSpPr>
        <p:spPr>
          <a:xfrm>
            <a:off x="537845" y="863445"/>
            <a:ext cx="11241878" cy="523220"/>
          </a:xfrm>
          <a:prstGeom prst="rect">
            <a:avLst/>
          </a:prstGeo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14300" tIns="38100" rIns="76200" bIns="38100" anchor="ctr"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核心动机｜参数正交不等于没有任务干扰</a:t>
            </a:r>
            <a:endParaRPr sz="2025" b="1" dirty="0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9" name="parameter-space">
            <a:extLst>
              <a:ext uri="{FF2B5EF4-FFF2-40B4-BE49-F238E27FC236}">
                <a16:creationId xmlns:a16="http://schemas.microsoft.com/office/drawing/2014/main" id="{A5494601-78C5-4E56-8C6C-287454FA776A}"/>
              </a:ext>
            </a:extLst>
          </p:cNvPr>
          <p:cNvSpPr>
            <a:spLocks noGrp="1"/>
          </p:cNvSpPr>
          <p:nvPr/>
        </p:nvSpPr>
        <p:spPr>
          <a:xfrm>
            <a:off x="762000" y="1762125"/>
            <a:ext cx="4810125" cy="3000375"/>
          </a:xfrm>
          <a:prstGeom prst="roundRect">
            <a:avLst>
              <a:gd name="adj" fmla="val 3810"/>
            </a:avLst>
          </a:prstGeom>
          <a:solidFill>
            <a:srgbClr val="F7F4FB"/>
          </a:solidFill>
          <a:ln w="12383">
            <a:solidFill>
              <a:srgbClr val="B7AAD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0" name="parameter-label">
            <a:extLst>
              <a:ext uri="{FF2B5EF4-FFF2-40B4-BE49-F238E27FC236}">
                <a16:creationId xmlns:a16="http://schemas.microsoft.com/office/drawing/2014/main" id="{85E02AAD-C97A-4452-99F2-EE514F62CF29}"/>
              </a:ext>
            </a:extLst>
          </p:cNvPr>
          <p:cNvSpPr>
            <a:spLocks noGrp="1"/>
          </p:cNvSpPr>
          <p:nvPr/>
        </p:nvSpPr>
        <p:spPr>
          <a:xfrm>
            <a:off x="2333625" y="1952625"/>
            <a:ext cx="1666875" cy="361950"/>
          </a:xfrm>
          <a:prstGeom prst="roundRect">
            <a:avLst>
              <a:gd name="adj" fmla="val 50000"/>
            </a:avLst>
          </a:prstGeom>
          <a:solidFill>
            <a:srgbClr val="6D5AA7"/>
          </a:solidFill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参数空间</a:t>
            </a:r>
          </a:p>
        </p:txBody>
      </p:sp>
      <p:sp>
        <p:nvSpPr>
          <p:cNvPr id="61" name="parameter-eq">
            <a:extLst>
              <a:ext uri="{FF2B5EF4-FFF2-40B4-BE49-F238E27FC236}">
                <a16:creationId xmlns:a16="http://schemas.microsoft.com/office/drawing/2014/main" id="{1459BF39-74B6-4C81-8ED4-5524ABCE2CDE}"/>
              </a:ext>
            </a:extLst>
          </p:cNvPr>
          <p:cNvSpPr>
            <a:spLocks noGrp="1"/>
          </p:cNvSpPr>
          <p:nvPr/>
        </p:nvSpPr>
        <p:spPr>
          <a:xfrm>
            <a:off x="1238250" y="2571750"/>
            <a:ext cx="38576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2550" b="1">
                <a:solidFill>
                  <a:srgbClr val="6D5AA7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>
                <a:solidFill>
                  <a:srgbClr val="6D5AA7"/>
                </a:solidFill>
                <a:latin typeface="Cambria Math"/>
                <a:ea typeface="Cambria Math"/>
                <a:cs typeface="Cambria Math"/>
              </a:rPr>
              <a:t>Δθ_new  ⟂  θ_old</a:t>
            </a:r>
          </a:p>
        </p:txBody>
      </p:sp>
      <p:sp>
        <p:nvSpPr>
          <p:cNvPr id="62" name="parameter-explain">
            <a:extLst>
              <a:ext uri="{FF2B5EF4-FFF2-40B4-BE49-F238E27FC236}">
                <a16:creationId xmlns:a16="http://schemas.microsoft.com/office/drawing/2014/main" id="{51D08A76-961B-4B5F-86CB-A80EB5982A57}"/>
              </a:ext>
            </a:extLst>
          </p:cNvPr>
          <p:cNvSpPr>
            <a:spLocks noGrp="1"/>
          </p:cNvSpPr>
          <p:nvPr/>
        </p:nvSpPr>
        <p:spPr>
          <a:xfrm>
            <a:off x="1238250" y="3381375"/>
            <a:ext cx="38576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725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新参数更新与旧参数向量正交</a:t>
            </a:r>
          </a:p>
          <a:p>
            <a:pPr algn="ctr">
              <a:defRPr sz="1725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≠ 保证旧任务损失不变</a:t>
            </a:r>
          </a:p>
        </p:txBody>
      </p:sp>
      <p:sp>
        <p:nvSpPr>
          <p:cNvPr id="63" name="gradient-space">
            <a:extLst>
              <a:ext uri="{FF2B5EF4-FFF2-40B4-BE49-F238E27FC236}">
                <a16:creationId xmlns:a16="http://schemas.microsoft.com/office/drawing/2014/main" id="{99A74165-5FB1-403F-9381-316437C76946}"/>
              </a:ext>
            </a:extLst>
          </p:cNvPr>
          <p:cNvSpPr>
            <a:spLocks noGrp="1"/>
          </p:cNvSpPr>
          <p:nvPr/>
        </p:nvSpPr>
        <p:spPr>
          <a:xfrm>
            <a:off x="6619875" y="1762125"/>
            <a:ext cx="4810125" cy="3000375"/>
          </a:xfrm>
          <a:prstGeom prst="roundRect">
            <a:avLst>
              <a:gd name="adj" fmla="val 3810"/>
            </a:avLst>
          </a:prstGeom>
          <a:solidFill>
            <a:srgbClr val="EEF7FF"/>
          </a:solidFill>
          <a:ln w="12383">
            <a:solidFill>
              <a:srgbClr val="9CC8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4" name="gradient-label">
            <a:extLst>
              <a:ext uri="{FF2B5EF4-FFF2-40B4-BE49-F238E27FC236}">
                <a16:creationId xmlns:a16="http://schemas.microsoft.com/office/drawing/2014/main" id="{9C7DB718-ADBE-4618-B103-09C5AF7FC28A}"/>
              </a:ext>
            </a:extLst>
          </p:cNvPr>
          <p:cNvSpPr>
            <a:spLocks noGrp="1"/>
          </p:cNvSpPr>
          <p:nvPr/>
        </p:nvSpPr>
        <p:spPr>
          <a:xfrm>
            <a:off x="8191500" y="1952625"/>
            <a:ext cx="1666875" cy="36195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梯度空间</a:t>
            </a:r>
          </a:p>
        </p:txBody>
      </p:sp>
      <p:sp>
        <p:nvSpPr>
          <p:cNvPr id="65" name="gradient-eq">
            <a:extLst>
              <a:ext uri="{FF2B5EF4-FFF2-40B4-BE49-F238E27FC236}">
                <a16:creationId xmlns:a16="http://schemas.microsoft.com/office/drawing/2014/main" id="{6E4A2761-D911-4DA6-A83C-14F77766C772}"/>
              </a:ext>
            </a:extLst>
          </p:cNvPr>
          <p:cNvSpPr>
            <a:spLocks noGrp="1"/>
          </p:cNvSpPr>
          <p:nvPr/>
        </p:nvSpPr>
        <p:spPr>
          <a:xfrm>
            <a:off x="6953250" y="2552700"/>
            <a:ext cx="41433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2325" b="1">
                <a:solidFill>
                  <a:srgbClr val="0070C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>
                <a:solidFill>
                  <a:srgbClr val="0070C0"/>
                </a:solidFill>
                <a:latin typeface="Cambria Math"/>
                <a:ea typeface="Cambria Math"/>
                <a:cs typeface="Cambria Math"/>
              </a:rPr>
              <a:t>ΔL_old  ≈  ∇L_oldᵀ Δθ</a:t>
            </a:r>
          </a:p>
        </p:txBody>
      </p:sp>
      <p:sp>
        <p:nvSpPr>
          <p:cNvPr id="66" name="gradient-explain">
            <a:extLst>
              <a:ext uri="{FF2B5EF4-FFF2-40B4-BE49-F238E27FC236}">
                <a16:creationId xmlns:a16="http://schemas.microsoft.com/office/drawing/2014/main" id="{CAB0C83B-42FF-42E4-B1BD-DCC9F50004B5}"/>
              </a:ext>
            </a:extLst>
          </p:cNvPr>
          <p:cNvSpPr>
            <a:spLocks noGrp="1"/>
          </p:cNvSpPr>
          <p:nvPr/>
        </p:nvSpPr>
        <p:spPr>
          <a:xfrm>
            <a:off x="7000875" y="3381375"/>
            <a:ext cx="404812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68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68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梯度刻画旧任务对参数变化的敏感方向</a:t>
            </a:r>
          </a:p>
          <a:p>
            <a:pPr algn="ctr">
              <a:defRPr sz="168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68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梯度正交才直接抑制一阶干扰</a:t>
            </a:r>
          </a:p>
        </p:txBody>
      </p:sp>
      <p:sp>
        <p:nvSpPr>
          <p:cNvPr id="67" name="motivation-question">
            <a:extLst>
              <a:ext uri="{FF2B5EF4-FFF2-40B4-BE49-F238E27FC236}">
                <a16:creationId xmlns:a16="http://schemas.microsoft.com/office/drawing/2014/main" id="{49608E93-4563-4DC9-B873-A8683B6ADEDD}"/>
              </a:ext>
            </a:extLst>
          </p:cNvPr>
          <p:cNvSpPr>
            <a:spLocks noGrp="1"/>
          </p:cNvSpPr>
          <p:nvPr/>
        </p:nvSpPr>
        <p:spPr>
          <a:xfrm>
            <a:off x="1095375" y="5191125"/>
            <a:ext cx="1000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800" b="1">
                <a:solidFill>
                  <a:srgbClr val="C94B4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 dirty="0" err="1">
                <a:solidFill>
                  <a:srgbClr val="C94B4B"/>
                </a:solidFill>
                <a:latin typeface="Noto Sans SC"/>
                <a:ea typeface="Noto Sans SC"/>
                <a:cs typeface="Noto Sans SC"/>
              </a:rPr>
              <a:t>关键缺口：能否只用过去权重</a:t>
            </a:r>
            <a:r>
              <a:rPr sz="1800" b="1" dirty="0">
                <a:solidFill>
                  <a:srgbClr val="C94B4B"/>
                </a:solidFill>
                <a:latin typeface="Noto Sans SC"/>
                <a:ea typeface="Noto Sans SC"/>
                <a:cs typeface="Noto Sans SC"/>
              </a:rPr>
              <a:t> + </a:t>
            </a:r>
            <a:r>
              <a:rPr sz="1800" b="1" dirty="0" err="1">
                <a:solidFill>
                  <a:srgbClr val="C94B4B"/>
                </a:solidFill>
                <a:latin typeface="Noto Sans SC"/>
                <a:ea typeface="Noto Sans SC"/>
                <a:cs typeface="Noto Sans SC"/>
              </a:rPr>
              <a:t>当前数据完成约束</a:t>
            </a:r>
            <a:r>
              <a:rPr sz="1800" b="1" dirty="0">
                <a:solidFill>
                  <a:srgbClr val="C94B4B"/>
                </a:solidFill>
                <a:latin typeface="Noto Sans SC"/>
                <a:ea typeface="Noto Sans SC"/>
                <a:cs typeface="Noto Sans SC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2010010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椭圆 54">
            <a:extLst>
              <a:ext uri="{FF2B5EF4-FFF2-40B4-BE49-F238E27FC236}">
                <a16:creationId xmlns:a16="http://schemas.microsoft.com/office/drawing/2014/main" id="{C22B827C-033E-8369-422D-B4A90F723BCF}"/>
              </a:ext>
            </a:extLst>
          </p:cNvPr>
          <p:cNvSpPr>
            <a:spLocks noGrp="1"/>
          </p:cNvSpPr>
          <p:nvPr/>
        </p:nvSpPr>
        <p:spPr>
          <a:xfrm>
            <a:off x="383338" y="171051"/>
            <a:ext cx="468000" cy="468000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6EF243F-4DDD-7B24-A549-22AF3746D7D0}"/>
              </a:ext>
            </a:extLst>
          </p:cNvPr>
          <p:cNvSpPr>
            <a:spLocks noGrp="1"/>
          </p:cNvSpPr>
          <p:nvPr/>
        </p:nvSpPr>
        <p:spPr>
          <a:xfrm>
            <a:off x="256004" y="244806"/>
            <a:ext cx="6731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27ABFA46-99B3-8497-A748-5D46F0BEFC3A}"/>
              </a:ext>
            </a:extLst>
          </p:cNvPr>
          <p:cNvSpPr>
            <a:spLocks noGrp="1"/>
          </p:cNvSpPr>
          <p:nvPr/>
        </p:nvSpPr>
        <p:spPr>
          <a:xfrm>
            <a:off x="203760" y="614316"/>
            <a:ext cx="176213" cy="176213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" name="图片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0D9D2AB-B651-E6EF-9EB7-1C65BCFA05F0}"/>
              </a:ext>
            </a:extLst>
          </p:cNvPr>
          <p:cNvSpPr>
            <a:spLocks noGrp="1"/>
          </p:cNvSpPr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自强不息 厚德载物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EFFC2D-0564-6C55-7888-E86DF11CB183}"/>
              </a:ext>
            </a:extLst>
          </p:cNvPr>
          <p:cNvSpPr>
            <a:spLocks noGrp="1"/>
          </p:cNvSpPr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Arial"/>
                <a:ea typeface="Arial"/>
                <a:cs typeface="Arial"/>
              </a:rPr>
              <a:t>Tsinghua University of China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BDACEAC-AABE-D15E-5938-3892CDE0D0DB}"/>
              </a:ext>
            </a:extLst>
          </p:cNvPr>
          <p:cNvSpPr>
            <a:spLocks noGrp="1"/>
          </p:cNvSpPr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自强不息 厚德载物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FD29CD-ADC8-223D-BBA4-E31E5DF67485}"/>
              </a:ext>
            </a:extLst>
          </p:cNvPr>
          <p:cNvSpPr>
            <a:spLocks noGrp="1"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A6B94D8-FF8C-BC7E-7E2D-E968B5374172}"/>
              </a:ext>
            </a:extLst>
          </p:cNvPr>
          <p:cNvSpPr>
            <a:spLocks noGrp="1"/>
          </p:cNvSpPr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知行合一、经世致用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C684101-6364-F740-105B-7CB8D7A48A21}"/>
              </a:ext>
            </a:extLst>
          </p:cNvPr>
          <p:cNvSpPr>
            <a:spLocks noGrp="1"/>
          </p:cNvSpPr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prstClr val="white"/>
                </a:solidFill>
                <a:latin typeface="Arial"/>
                <a:ea typeface="Arial"/>
                <a:cs typeface="Arial"/>
              </a:rPr>
              <a:t>Central South University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8021FD16-B2EF-4596-95E4-998FF7F66DD1}"/>
              </a:ext>
            </a:extLst>
          </p:cNvPr>
          <p:cNvSpPr>
            <a:spLocks noGrp="1"/>
          </p:cNvSpPr>
          <p:nvPr/>
        </p:nvSpPr>
        <p:spPr>
          <a:xfrm>
            <a:off x="660399" y="760413"/>
            <a:ext cx="11088000" cy="0"/>
          </a:xfrm>
          <a:prstGeom prst="line">
            <a:avLst/>
          </a:prstGeom>
          <a:noFill/>
          <a:ln w="22225">
            <a:solidFill>
              <a:srgbClr val="1C6299"/>
            </a:solidFill>
            <a:prstDash val="solid"/>
          </a:ln>
        </p:spPr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676B95E-5CF6-6B83-96B4-2B3C4D12C7E1}"/>
              </a:ext>
            </a:extLst>
          </p:cNvPr>
          <p:cNvSpPr>
            <a:spLocks noGrp="1"/>
          </p:cNvSpPr>
          <p:nvPr/>
        </p:nvSpPr>
        <p:spPr>
          <a:xfrm>
            <a:off x="537845" y="863445"/>
            <a:ext cx="11241878" cy="523220"/>
          </a:xfrm>
          <a:prstGeom prst="rect">
            <a:avLst/>
          </a:prstGeo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14300" tIns="38100" rIns="76200" bIns="38100" anchor="ctr"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Octopus 总览｜无历史梯度正交 + 两阶段微调</a:t>
            </a:r>
          </a:p>
        </p:txBody>
      </p:sp>
      <p:pic>
        <p:nvPicPr>
          <p:cNvPr id="78" name="图片 7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66750" y="1386665"/>
            <a:ext cx="7477125" cy="3355120"/>
          </a:xfrm>
          <a:prstGeom prst="rect">
            <a:avLst/>
          </a:prstGeom>
        </p:spPr>
      </p:pic>
      <p:sp>
        <p:nvSpPr>
          <p:cNvPr id="60" name="overview-card">
            <a:extLst>
              <a:ext uri="{FF2B5EF4-FFF2-40B4-BE49-F238E27FC236}">
                <a16:creationId xmlns:a16="http://schemas.microsoft.com/office/drawing/2014/main" id="{D983B2F7-5EBD-4B6E-917A-134317763A04}"/>
              </a:ext>
            </a:extLst>
          </p:cNvPr>
          <p:cNvSpPr>
            <a:spLocks noGrp="1"/>
          </p:cNvSpPr>
          <p:nvPr/>
        </p:nvSpPr>
        <p:spPr>
          <a:xfrm>
            <a:off x="8524875" y="1666875"/>
            <a:ext cx="2857500" cy="3476625"/>
          </a:xfrm>
          <a:prstGeom prst="roundRect">
            <a:avLst>
              <a:gd name="adj" fmla="val 4000"/>
            </a:avLst>
          </a:prstGeom>
          <a:solidFill>
            <a:srgbClr val="F4F9FD"/>
          </a:solidFill>
          <a:ln w="12383">
            <a:solidFill>
              <a:srgbClr val="0070C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1" name="overview-hifgo">
            <a:extLst>
              <a:ext uri="{FF2B5EF4-FFF2-40B4-BE49-F238E27FC236}">
                <a16:creationId xmlns:a16="http://schemas.microsoft.com/office/drawing/2014/main" id="{46296C4C-08DE-43A6-8874-4453D76DE3EF}"/>
              </a:ext>
            </a:extLst>
          </p:cNvPr>
          <p:cNvSpPr>
            <a:spLocks noGrp="1"/>
          </p:cNvSpPr>
          <p:nvPr/>
        </p:nvSpPr>
        <p:spPr>
          <a:xfrm>
            <a:off x="9334500" y="1857375"/>
            <a:ext cx="1238250" cy="36195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HiFGO</a:t>
            </a:r>
          </a:p>
        </p:txBody>
      </p:sp>
      <p:sp>
        <p:nvSpPr>
          <p:cNvPr id="62" name="overview-body">
            <a:extLst>
              <a:ext uri="{FF2B5EF4-FFF2-40B4-BE49-F238E27FC236}">
                <a16:creationId xmlns:a16="http://schemas.microsoft.com/office/drawing/2014/main" id="{2A4BCD41-2A73-4D11-B8CD-5C836589A806}"/>
              </a:ext>
            </a:extLst>
          </p:cNvPr>
          <p:cNvSpPr>
            <a:spLocks noGrp="1"/>
          </p:cNvSpPr>
          <p:nvPr/>
        </p:nvSpPr>
        <p:spPr>
          <a:xfrm>
            <a:off x="8810625" y="2333625"/>
            <a:ext cx="22860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defRPr sz="1410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10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History-Free Gradient Orthogonalization</a:t>
            </a:r>
          </a:p>
          <a:p>
            <a:endParaRPr sz="1410" b="0">
              <a:solidFill>
                <a:srgbClr val="202B36"/>
              </a:solidFill>
              <a:latin typeface="Noto Sans SC"/>
              <a:ea typeface="Noto Sans SC"/>
              <a:cs typeface="Noto Sans SC"/>
            </a:endParaRPr>
          </a:p>
          <a:p>
            <a:pPr algn="l">
              <a:defRPr sz="1410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10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• 只保留过去权重</a:t>
            </a:r>
          </a:p>
          <a:p>
            <a:pPr algn="l">
              <a:defRPr sz="1410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10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• 使用当前任务数据</a:t>
            </a:r>
          </a:p>
          <a:p>
            <a:pPr algn="l">
              <a:defRPr sz="1410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10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• 在梯度空间施加正交约束</a:t>
            </a:r>
          </a:p>
          <a:p>
            <a:pPr algn="l">
              <a:defRPr sz="1410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410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• 无需历史数据 / 回放缓冲区</a:t>
            </a:r>
          </a:p>
        </p:txBody>
      </p:sp>
      <p:sp>
        <p:nvSpPr>
          <p:cNvPr id="63" name="overview-two-stage">
            <a:extLst>
              <a:ext uri="{FF2B5EF4-FFF2-40B4-BE49-F238E27FC236}">
                <a16:creationId xmlns:a16="http://schemas.microsoft.com/office/drawing/2014/main" id="{B10FA45F-FFA1-472C-AE2A-E60D47224284}"/>
              </a:ext>
            </a:extLst>
          </p:cNvPr>
          <p:cNvSpPr>
            <a:spLocks noGrp="1"/>
          </p:cNvSpPr>
          <p:nvPr/>
        </p:nvSpPr>
        <p:spPr>
          <a:xfrm>
            <a:off x="9286875" y="4619625"/>
            <a:ext cx="1333500" cy="342900"/>
          </a:xfrm>
          <a:prstGeom prst="roundRect">
            <a:avLst>
              <a:gd name="adj" fmla="val 50000"/>
            </a:avLst>
          </a:prstGeom>
          <a:solidFill>
            <a:srgbClr val="6D5AA7"/>
          </a:solidFill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Two-stage</a:t>
            </a:r>
          </a:p>
        </p:txBody>
      </p:sp>
      <p:sp>
        <p:nvSpPr>
          <p:cNvPr id="64" name="figure2-caption">
            <a:extLst>
              <a:ext uri="{FF2B5EF4-FFF2-40B4-BE49-F238E27FC236}">
                <a16:creationId xmlns:a16="http://schemas.microsoft.com/office/drawing/2014/main" id="{DF358DFD-8AA9-4022-95F0-35C0459FE08E}"/>
              </a:ext>
            </a:extLst>
          </p:cNvPr>
          <p:cNvSpPr>
            <a:spLocks noGrp="1"/>
          </p:cNvSpPr>
          <p:nvPr/>
        </p:nvSpPr>
        <p:spPr>
          <a:xfrm>
            <a:off x="904875" y="5381625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313" b="0">
                <a:solidFill>
                  <a:srgbClr val="5E6B78"/>
                </a:solidFill>
                <a:latin typeface="Noto Sans SC"/>
                <a:ea typeface="Noto Sans SC"/>
                <a:cs typeface="Noto Sans SC"/>
              </a:defRPr>
            </a:pPr>
            <a:r>
              <a:rPr sz="1313" b="0" dirty="0">
                <a:solidFill>
                  <a:srgbClr val="5E6B78"/>
                </a:solidFill>
                <a:latin typeface="Noto Sans SC"/>
                <a:ea typeface="Noto Sans SC"/>
                <a:cs typeface="Noto Sans SC"/>
              </a:rPr>
              <a:t>图 2：左为 MLLM </a:t>
            </a:r>
            <a:r>
              <a:rPr sz="1313" b="0" dirty="0" err="1">
                <a:solidFill>
                  <a:srgbClr val="5E6B78"/>
                </a:solidFill>
                <a:latin typeface="Noto Sans SC"/>
                <a:ea typeface="Noto Sans SC"/>
                <a:cs typeface="Noto Sans SC"/>
              </a:rPr>
              <a:t>持续学习流程，右为</a:t>
            </a:r>
            <a:r>
              <a:rPr sz="1313" b="0" dirty="0">
                <a:solidFill>
                  <a:srgbClr val="5E6B78"/>
                </a:solidFill>
                <a:latin typeface="Noto Sans SC"/>
                <a:ea typeface="Noto Sans SC"/>
                <a:cs typeface="Noto Sans SC"/>
              </a:rPr>
              <a:t> Octopus </a:t>
            </a:r>
            <a:r>
              <a:rPr sz="1313" b="0" dirty="0" err="1">
                <a:solidFill>
                  <a:srgbClr val="5E6B78"/>
                </a:solidFill>
                <a:latin typeface="Noto Sans SC"/>
                <a:ea typeface="Noto Sans SC"/>
                <a:cs typeface="Noto Sans SC"/>
              </a:rPr>
              <a:t>的两阶段结构</a:t>
            </a:r>
            <a:r>
              <a:rPr sz="1313" b="0" dirty="0">
                <a:solidFill>
                  <a:srgbClr val="5E6B78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13456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椭圆 54">
            <a:extLst>
              <a:ext uri="{FF2B5EF4-FFF2-40B4-BE49-F238E27FC236}">
                <a16:creationId xmlns:a16="http://schemas.microsoft.com/office/drawing/2014/main" id="{57312C7C-5B02-B946-E355-4F0FBBDAA636}"/>
              </a:ext>
            </a:extLst>
          </p:cNvPr>
          <p:cNvSpPr>
            <a:spLocks noGrp="1"/>
          </p:cNvSpPr>
          <p:nvPr/>
        </p:nvSpPr>
        <p:spPr>
          <a:xfrm>
            <a:off x="383338" y="171051"/>
            <a:ext cx="468000" cy="468000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A5C4B04-ABD9-9E7E-121D-5ADF07D43B1D}"/>
              </a:ext>
            </a:extLst>
          </p:cNvPr>
          <p:cNvSpPr>
            <a:spLocks noGrp="1"/>
          </p:cNvSpPr>
          <p:nvPr/>
        </p:nvSpPr>
        <p:spPr>
          <a:xfrm>
            <a:off x="256004" y="244806"/>
            <a:ext cx="6731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92C1A60B-DBE3-AFCB-8016-A75BBD728EDA}"/>
              </a:ext>
            </a:extLst>
          </p:cNvPr>
          <p:cNvSpPr>
            <a:spLocks noGrp="1"/>
          </p:cNvSpPr>
          <p:nvPr/>
        </p:nvSpPr>
        <p:spPr>
          <a:xfrm>
            <a:off x="203760" y="614316"/>
            <a:ext cx="176213" cy="176213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4" name="图片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6CE657D-5106-4C40-47D3-8CDA3FA49B52}"/>
              </a:ext>
            </a:extLst>
          </p:cNvPr>
          <p:cNvSpPr>
            <a:spLocks noGrp="1"/>
          </p:cNvSpPr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自强不息 厚德载物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09043A-A707-4836-2909-8F841118A3FA}"/>
              </a:ext>
            </a:extLst>
          </p:cNvPr>
          <p:cNvSpPr>
            <a:spLocks noGrp="1"/>
          </p:cNvSpPr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Arial"/>
                <a:ea typeface="Arial"/>
                <a:cs typeface="Arial"/>
              </a:rPr>
              <a:t>Tsinghua University of China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C03AABE-40BF-FDD2-9E52-68170E8FFE22}"/>
              </a:ext>
            </a:extLst>
          </p:cNvPr>
          <p:cNvSpPr>
            <a:spLocks noGrp="1"/>
          </p:cNvSpPr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自强不息 厚德载物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D7233BE-D1AE-5993-6172-EF5519AAB18D}"/>
              </a:ext>
            </a:extLst>
          </p:cNvPr>
          <p:cNvSpPr>
            <a:spLocks noGrp="1"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49075B-2708-D848-36CA-EF343BD99BE4}"/>
              </a:ext>
            </a:extLst>
          </p:cNvPr>
          <p:cNvSpPr>
            <a:spLocks noGrp="1"/>
          </p:cNvSpPr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知行合一、经世致用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DA439C0-CE68-1999-5082-CB2A8210D283}"/>
              </a:ext>
            </a:extLst>
          </p:cNvPr>
          <p:cNvSpPr>
            <a:spLocks noGrp="1"/>
          </p:cNvSpPr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prstClr val="white"/>
                </a:solidFill>
                <a:latin typeface="Arial"/>
                <a:ea typeface="Arial"/>
                <a:cs typeface="Arial"/>
              </a:rPr>
              <a:t>Central South University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80AA1B3E-C36D-4697-A60A-06E7BDA623F6}"/>
              </a:ext>
            </a:extLst>
          </p:cNvPr>
          <p:cNvSpPr>
            <a:spLocks noGrp="1"/>
          </p:cNvSpPr>
          <p:nvPr/>
        </p:nvSpPr>
        <p:spPr>
          <a:xfrm>
            <a:off x="660399" y="760413"/>
            <a:ext cx="11088000" cy="0"/>
          </a:xfrm>
          <a:prstGeom prst="line">
            <a:avLst/>
          </a:prstGeom>
          <a:noFill/>
          <a:ln w="22225">
            <a:solidFill>
              <a:srgbClr val="1C6299"/>
            </a:solidFill>
            <a:prstDash val="solid"/>
          </a:ln>
        </p:spPr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12BA864-1EF8-8835-A7A7-D896163FAD81}"/>
              </a:ext>
            </a:extLst>
          </p:cNvPr>
          <p:cNvSpPr>
            <a:spLocks noGrp="1"/>
          </p:cNvSpPr>
          <p:nvPr/>
        </p:nvSpPr>
        <p:spPr>
          <a:xfrm>
            <a:off x="537845" y="863445"/>
            <a:ext cx="11241878" cy="523220"/>
          </a:xfrm>
          <a:prstGeom prst="rect">
            <a:avLst/>
          </a:prstGeo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14300" tIns="38100" rIns="76200" bIns="38100" anchor="ctr"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两阶段微调｜先学会，再防忘</a:t>
            </a:r>
          </a:p>
        </p:txBody>
      </p:sp>
      <p:sp>
        <p:nvSpPr>
          <p:cNvPr id="59" name="competition">
            <a:extLst>
              <a:ext uri="{FF2B5EF4-FFF2-40B4-BE49-F238E27FC236}">
                <a16:creationId xmlns:a16="http://schemas.microsoft.com/office/drawing/2014/main" id="{40BAAF16-30BF-43AA-B095-D453FC4C757B}"/>
              </a:ext>
            </a:extLst>
          </p:cNvPr>
          <p:cNvSpPr>
            <a:spLocks noGrp="1"/>
          </p:cNvSpPr>
          <p:nvPr/>
        </p:nvSpPr>
        <p:spPr>
          <a:xfrm>
            <a:off x="512923" y="1570039"/>
            <a:ext cx="1077682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725" b="1">
                <a:solidFill>
                  <a:srgbClr val="C94B4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 dirty="0" err="1">
                <a:solidFill>
                  <a:srgbClr val="C94B4B"/>
                </a:solidFill>
                <a:latin typeface="Noto Sans SC"/>
                <a:ea typeface="Noto Sans SC"/>
                <a:cs typeface="Noto Sans SC"/>
              </a:rPr>
              <a:t>观察：正则约束会与当前任务的原始训练目标竞争，若从一开始同时优化，可能压低当前任务的拟合上限</a:t>
            </a:r>
            <a:r>
              <a:rPr sz="1725" b="1" dirty="0">
                <a:solidFill>
                  <a:srgbClr val="C94B4B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60" name="stage1-card">
            <a:extLst>
              <a:ext uri="{FF2B5EF4-FFF2-40B4-BE49-F238E27FC236}">
                <a16:creationId xmlns:a16="http://schemas.microsoft.com/office/drawing/2014/main" id="{690FC7CC-B348-418D-BF89-2E7C9559ACBE}"/>
              </a:ext>
            </a:extLst>
          </p:cNvPr>
          <p:cNvSpPr>
            <a:spLocks noGrp="1"/>
          </p:cNvSpPr>
          <p:nvPr/>
        </p:nvSpPr>
        <p:spPr>
          <a:xfrm>
            <a:off x="1000125" y="2571750"/>
            <a:ext cx="4095750" cy="2381250"/>
          </a:xfrm>
          <a:prstGeom prst="roundRect">
            <a:avLst>
              <a:gd name="adj" fmla="val 4800"/>
            </a:avLst>
          </a:prstGeom>
          <a:solidFill>
            <a:srgbClr val="FFF4E8"/>
          </a:solidFill>
          <a:ln w="19050">
            <a:solidFill>
              <a:srgbClr val="EEB57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1" name="stage1-pill">
            <a:extLst>
              <a:ext uri="{FF2B5EF4-FFF2-40B4-BE49-F238E27FC236}">
                <a16:creationId xmlns:a16="http://schemas.microsoft.com/office/drawing/2014/main" id="{BEC30EF4-FF94-4523-A24B-602E0CE8E056}"/>
              </a:ext>
            </a:extLst>
          </p:cNvPr>
          <p:cNvSpPr>
            <a:spLocks noGrp="1"/>
          </p:cNvSpPr>
          <p:nvPr/>
        </p:nvSpPr>
        <p:spPr>
          <a:xfrm>
            <a:off x="2333625" y="2781300"/>
            <a:ext cx="1428750" cy="38100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STAGE 1</a:t>
            </a:r>
          </a:p>
        </p:txBody>
      </p:sp>
      <p:sp>
        <p:nvSpPr>
          <p:cNvPr id="62" name="stage1-title">
            <a:extLst>
              <a:ext uri="{FF2B5EF4-FFF2-40B4-BE49-F238E27FC236}">
                <a16:creationId xmlns:a16="http://schemas.microsoft.com/office/drawing/2014/main" id="{41253CF6-4EC0-4ED6-8D09-614EDC226691}"/>
              </a:ext>
            </a:extLst>
          </p:cNvPr>
          <p:cNvSpPr>
            <a:spLocks noGrp="1"/>
          </p:cNvSpPr>
          <p:nvPr/>
        </p:nvSpPr>
        <p:spPr>
          <a:xfrm>
            <a:off x="1428750" y="333375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2100" b="1">
                <a:solidFill>
                  <a:srgbClr val="E67E22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E67E22"/>
                </a:solidFill>
                <a:latin typeface="Noto Sans SC"/>
                <a:ea typeface="Noto Sans SC"/>
                <a:cs typeface="Noto Sans SC"/>
              </a:rPr>
              <a:t>无约束任务适应</a:t>
            </a:r>
          </a:p>
        </p:txBody>
      </p:sp>
      <p:sp>
        <p:nvSpPr>
          <p:cNvPr id="63" name="stage1-body">
            <a:extLst>
              <a:ext uri="{FF2B5EF4-FFF2-40B4-BE49-F238E27FC236}">
                <a16:creationId xmlns:a16="http://schemas.microsoft.com/office/drawing/2014/main" id="{B6ADD65A-9D91-4146-8378-90D30C2D87A5}"/>
              </a:ext>
            </a:extLst>
          </p:cNvPr>
          <p:cNvSpPr>
            <a:spLocks noGrp="1"/>
          </p:cNvSpPr>
          <p:nvPr/>
        </p:nvSpPr>
        <p:spPr>
          <a:xfrm>
            <a:off x="1428750" y="3905250"/>
            <a:ext cx="3238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650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充分学习当前任务知识</a:t>
            </a:r>
          </a:p>
          <a:p>
            <a:pPr algn="ctr">
              <a:defRPr sz="1650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优先保证塑性 Plasticity</a:t>
            </a:r>
          </a:p>
        </p:txBody>
      </p:sp>
      <p:sp>
        <p:nvSpPr>
          <p:cNvPr id="64" name="stage-arrow">
            <a:extLst>
              <a:ext uri="{FF2B5EF4-FFF2-40B4-BE49-F238E27FC236}">
                <a16:creationId xmlns:a16="http://schemas.microsoft.com/office/drawing/2014/main" id="{976C655A-0319-4F12-8BB5-A6F04AE17CD3}"/>
              </a:ext>
            </a:extLst>
          </p:cNvPr>
          <p:cNvSpPr>
            <a:spLocks noGrp="1"/>
          </p:cNvSpPr>
          <p:nvPr/>
        </p:nvSpPr>
        <p:spPr>
          <a:xfrm>
            <a:off x="5476875" y="3333750"/>
            <a:ext cx="1238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4350" b="1">
                <a:solidFill>
                  <a:srgbClr val="6D5AA7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6D5AA7"/>
                </a:solidFill>
                <a:latin typeface="Noto Sans SC"/>
                <a:ea typeface="Noto Sans SC"/>
                <a:cs typeface="Noto Sans SC"/>
              </a:rPr>
              <a:t>→</a:t>
            </a:r>
          </a:p>
        </p:txBody>
      </p:sp>
      <p:sp>
        <p:nvSpPr>
          <p:cNvPr id="65" name="stage2-card">
            <a:extLst>
              <a:ext uri="{FF2B5EF4-FFF2-40B4-BE49-F238E27FC236}">
                <a16:creationId xmlns:a16="http://schemas.microsoft.com/office/drawing/2014/main" id="{141B3D77-132A-433B-B310-FB9B83898979}"/>
              </a:ext>
            </a:extLst>
          </p:cNvPr>
          <p:cNvSpPr>
            <a:spLocks noGrp="1"/>
          </p:cNvSpPr>
          <p:nvPr/>
        </p:nvSpPr>
        <p:spPr>
          <a:xfrm>
            <a:off x="7096125" y="2571750"/>
            <a:ext cx="4095750" cy="2381250"/>
          </a:xfrm>
          <a:prstGeom prst="roundRect">
            <a:avLst>
              <a:gd name="adj" fmla="val 4800"/>
            </a:avLst>
          </a:prstGeom>
          <a:solidFill>
            <a:srgbClr val="EDF6FF"/>
          </a:solidFill>
          <a:ln w="19050">
            <a:solidFill>
              <a:srgbClr val="8BBC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6" name="stage2-pill">
            <a:extLst>
              <a:ext uri="{FF2B5EF4-FFF2-40B4-BE49-F238E27FC236}">
                <a16:creationId xmlns:a16="http://schemas.microsoft.com/office/drawing/2014/main" id="{D233934B-00B9-45C5-A793-C4BFF8047027}"/>
              </a:ext>
            </a:extLst>
          </p:cNvPr>
          <p:cNvSpPr>
            <a:spLocks noGrp="1"/>
          </p:cNvSpPr>
          <p:nvPr/>
        </p:nvSpPr>
        <p:spPr>
          <a:xfrm>
            <a:off x="8429625" y="2781300"/>
            <a:ext cx="1428750" cy="3810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STAGE 2</a:t>
            </a:r>
          </a:p>
        </p:txBody>
      </p:sp>
      <p:sp>
        <p:nvSpPr>
          <p:cNvPr id="67" name="stage2-title">
            <a:extLst>
              <a:ext uri="{FF2B5EF4-FFF2-40B4-BE49-F238E27FC236}">
                <a16:creationId xmlns:a16="http://schemas.microsoft.com/office/drawing/2014/main" id="{5B688B89-EB05-4263-BE3D-121A1E7881B4}"/>
              </a:ext>
            </a:extLst>
          </p:cNvPr>
          <p:cNvSpPr>
            <a:spLocks noGrp="1"/>
          </p:cNvSpPr>
          <p:nvPr/>
        </p:nvSpPr>
        <p:spPr>
          <a:xfrm>
            <a:off x="7524750" y="333375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2100" b="1">
                <a:solidFill>
                  <a:srgbClr val="0070C0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0070C0"/>
                </a:solidFill>
                <a:latin typeface="Noto Sans SC"/>
                <a:ea typeface="Noto Sans SC"/>
                <a:cs typeface="Noto Sans SC"/>
              </a:rPr>
              <a:t>加入 HiFGO 约束</a:t>
            </a:r>
          </a:p>
        </p:txBody>
      </p:sp>
      <p:sp>
        <p:nvSpPr>
          <p:cNvPr id="68" name="stage2-body">
            <a:extLst>
              <a:ext uri="{FF2B5EF4-FFF2-40B4-BE49-F238E27FC236}">
                <a16:creationId xmlns:a16="http://schemas.microsoft.com/office/drawing/2014/main" id="{E8A73E08-7A0B-4B6E-872C-5E2DBDC0D426}"/>
              </a:ext>
            </a:extLst>
          </p:cNvPr>
          <p:cNvSpPr>
            <a:spLocks noGrp="1"/>
          </p:cNvSpPr>
          <p:nvPr/>
        </p:nvSpPr>
        <p:spPr>
          <a:xfrm>
            <a:off x="7524750" y="3857625"/>
            <a:ext cx="3238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575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靠近第一阶段最优解，同时减少旧任务干扰</a:t>
            </a:r>
          </a:p>
          <a:p>
            <a:pPr algn="ctr">
              <a:defRPr sz="1575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优先保证稳定性 Stability</a:t>
            </a:r>
          </a:p>
        </p:txBody>
      </p:sp>
      <p:sp>
        <p:nvSpPr>
          <p:cNvPr id="69" name="stage-balance">
            <a:extLst>
              <a:ext uri="{FF2B5EF4-FFF2-40B4-BE49-F238E27FC236}">
                <a16:creationId xmlns:a16="http://schemas.microsoft.com/office/drawing/2014/main" id="{5841134A-62B1-41C1-B8AF-AEB73A7F612C}"/>
              </a:ext>
            </a:extLst>
          </p:cNvPr>
          <p:cNvSpPr>
            <a:spLocks noGrp="1"/>
          </p:cNvSpPr>
          <p:nvPr/>
        </p:nvSpPr>
        <p:spPr>
          <a:xfrm>
            <a:off x="1714500" y="5334000"/>
            <a:ext cx="8763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875" b="1">
                <a:solidFill>
                  <a:srgbClr val="6D5AA7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6D5AA7"/>
                </a:solidFill>
                <a:latin typeface="Noto Sans SC"/>
                <a:ea typeface="Noto Sans SC"/>
                <a:cs typeface="Noto Sans SC"/>
              </a:rPr>
              <a:t>最终目标：在 Plasticity ↔ Stability 之间取得更合理的平衡</a:t>
            </a:r>
          </a:p>
        </p:txBody>
      </p:sp>
    </p:spTree>
    <p:extLst>
      <p:ext uri="{BB962C8B-B14F-4D97-AF65-F5344CB8AC3E}">
        <p14:creationId xmlns:p14="http://schemas.microsoft.com/office/powerpoint/2010/main" val="194130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椭圆 54">
            <a:extLst>
              <a:ext uri="{FF2B5EF4-FFF2-40B4-BE49-F238E27FC236}">
                <a16:creationId xmlns:a16="http://schemas.microsoft.com/office/drawing/2014/main" id="{A9BAA480-37BB-4E2A-8560-287A0AE90204}"/>
              </a:ext>
            </a:extLst>
          </p:cNvPr>
          <p:cNvSpPr>
            <a:spLocks noGrp="1"/>
          </p:cNvSpPr>
          <p:nvPr/>
        </p:nvSpPr>
        <p:spPr>
          <a:xfrm>
            <a:off x="383338" y="171051"/>
            <a:ext cx="468000" cy="468000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0CC8FDB-86F6-4C73-BAAC-825484444EF4}"/>
              </a:ext>
            </a:extLst>
          </p:cNvPr>
          <p:cNvSpPr>
            <a:spLocks noGrp="1"/>
          </p:cNvSpPr>
          <p:nvPr/>
        </p:nvSpPr>
        <p:spPr>
          <a:xfrm>
            <a:off x="256004" y="244806"/>
            <a:ext cx="6731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DB4D7FB4-C9D5-444C-892B-E1B0596CCF12}"/>
              </a:ext>
            </a:extLst>
          </p:cNvPr>
          <p:cNvSpPr>
            <a:spLocks noGrp="1"/>
          </p:cNvSpPr>
          <p:nvPr/>
        </p:nvSpPr>
        <p:spPr>
          <a:xfrm>
            <a:off x="203760" y="614316"/>
            <a:ext cx="176213" cy="176213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6" name="图片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3F9F1C0-3A56-0EDB-8BC1-69CB68ABA986}"/>
              </a:ext>
            </a:extLst>
          </p:cNvPr>
          <p:cNvSpPr>
            <a:spLocks noGrp="1"/>
          </p:cNvSpPr>
          <p:nvPr/>
        </p:nvSpPr>
        <p:spPr>
          <a:xfrm>
            <a:off x="59409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自强不息 厚德载物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67F544-E6CC-3D4C-093F-4E988EA014D1}"/>
              </a:ext>
            </a:extLst>
          </p:cNvPr>
          <p:cNvSpPr>
            <a:spLocks noGrp="1"/>
          </p:cNvSpPr>
          <p:nvPr/>
        </p:nvSpPr>
        <p:spPr>
          <a:xfrm>
            <a:off x="8655288" y="6583649"/>
            <a:ext cx="296747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Arial"/>
                <a:ea typeface="Arial"/>
                <a:cs typeface="Arial"/>
              </a:rPr>
              <a:t>Tsinghua University of China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7BEA70-75BE-9894-8FED-CD3A65A01106}"/>
              </a:ext>
            </a:extLst>
          </p:cNvPr>
          <p:cNvSpPr>
            <a:spLocks noGrp="1"/>
          </p:cNvSpPr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自强不息 厚德载物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934A68A-0CF2-3CDE-2556-F4B0B39AB02B}"/>
              </a:ext>
            </a:extLst>
          </p:cNvPr>
          <p:cNvSpPr>
            <a:spLocks noGrp="1"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4EE41F-450F-19EA-D041-1207D9DFD14D}"/>
              </a:ext>
            </a:extLst>
          </p:cNvPr>
          <p:cNvSpPr>
            <a:spLocks noGrp="1"/>
          </p:cNvSpPr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知行合一、经世致用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A0048BD-B030-D5C0-83A7-3EB4F7286FAF}"/>
              </a:ext>
            </a:extLst>
          </p:cNvPr>
          <p:cNvSpPr>
            <a:spLocks noGrp="1"/>
          </p:cNvSpPr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prstClr val="white"/>
                </a:solidFill>
                <a:latin typeface="Arial"/>
                <a:ea typeface="Arial"/>
                <a:cs typeface="Arial"/>
              </a:rPr>
              <a:t>Central South University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1B3BEC41-501D-4ECE-8C75-834E4C249B8B}"/>
              </a:ext>
            </a:extLst>
          </p:cNvPr>
          <p:cNvSpPr>
            <a:spLocks noGrp="1"/>
          </p:cNvSpPr>
          <p:nvPr/>
        </p:nvSpPr>
        <p:spPr>
          <a:xfrm>
            <a:off x="660399" y="760413"/>
            <a:ext cx="11088000" cy="0"/>
          </a:xfrm>
          <a:prstGeom prst="line">
            <a:avLst/>
          </a:prstGeom>
          <a:noFill/>
          <a:ln w="22225">
            <a:solidFill>
              <a:srgbClr val="1C6299"/>
            </a:solidFill>
            <a:prstDash val="solid"/>
          </a:ln>
        </p:spPr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1720FA2-B8D9-9DEE-134E-CE1D6C6AA6BA}"/>
              </a:ext>
            </a:extLst>
          </p:cNvPr>
          <p:cNvSpPr>
            <a:spLocks noGrp="1"/>
          </p:cNvSpPr>
          <p:nvPr/>
        </p:nvSpPr>
        <p:spPr>
          <a:xfrm>
            <a:off x="537845" y="863445"/>
            <a:ext cx="11241878" cy="523220"/>
          </a:xfrm>
          <a:prstGeom prst="rect">
            <a:avLst/>
          </a:prstGeom>
          <a:solidFill>
            <a:srgbClr val="0070C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14300" tIns="38100" rIns="76200" bIns="38100" anchor="ctr"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结果与贡献｜摘要给出的结论</a:t>
            </a:r>
          </a:p>
        </p:txBody>
      </p:sp>
      <p:pic>
        <p:nvPicPr>
          <p:cNvPr id="85" name="图片 8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57250" y="1679087"/>
            <a:ext cx="4762500" cy="3785577"/>
          </a:xfrm>
          <a:prstGeom prst="rect">
            <a:avLst/>
          </a:prstGeom>
        </p:spPr>
      </p:pic>
      <p:sp>
        <p:nvSpPr>
          <p:cNvPr id="60" name="figure1-caption">
            <a:extLst>
              <a:ext uri="{FF2B5EF4-FFF2-40B4-BE49-F238E27FC236}">
                <a16:creationId xmlns:a16="http://schemas.microsoft.com/office/drawing/2014/main" id="{C4B42B8F-C4E2-4F80-B43F-3E723B274B8A}"/>
              </a:ext>
            </a:extLst>
          </p:cNvPr>
          <p:cNvSpPr>
            <a:spLocks noGrp="1"/>
          </p:cNvSpPr>
          <p:nvPr/>
        </p:nvSpPr>
        <p:spPr>
          <a:xfrm>
            <a:off x="838200" y="5476875"/>
            <a:ext cx="4857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238" b="0">
                <a:solidFill>
                  <a:srgbClr val="5E6B78"/>
                </a:solidFill>
                <a:latin typeface="Noto Sans SC"/>
                <a:ea typeface="Noto Sans SC"/>
                <a:cs typeface="Noto Sans SC"/>
              </a:defRPr>
            </a:pPr>
            <a:r>
              <a:rPr sz="1238" b="0">
                <a:solidFill>
                  <a:srgbClr val="5E6B78"/>
                </a:solidFill>
                <a:latin typeface="Noto Sans SC"/>
                <a:ea typeface="Noto Sans SC"/>
                <a:cs typeface="Noto Sans SC"/>
              </a:rPr>
              <a:t>图 1：UCIT 的 Last 指标对比，Octopus 在六个任务上形成更大的整体包络。</a:t>
            </a:r>
          </a:p>
        </p:txBody>
      </p:sp>
      <p:sp>
        <p:nvSpPr>
          <p:cNvPr id="61" name="metric-avg">
            <a:extLst>
              <a:ext uri="{FF2B5EF4-FFF2-40B4-BE49-F238E27FC236}">
                <a16:creationId xmlns:a16="http://schemas.microsoft.com/office/drawing/2014/main" id="{D3F18FD1-20B1-4FD7-A511-CBBABE36D5C7}"/>
              </a:ext>
            </a:extLst>
          </p:cNvPr>
          <p:cNvSpPr>
            <a:spLocks noGrp="1"/>
          </p:cNvSpPr>
          <p:nvPr/>
        </p:nvSpPr>
        <p:spPr>
          <a:xfrm>
            <a:off x="6191250" y="1666875"/>
            <a:ext cx="2238375" cy="1123950"/>
          </a:xfrm>
          <a:prstGeom prst="roundRect">
            <a:avLst>
              <a:gd name="adj" fmla="val 10169"/>
            </a:avLst>
          </a:prstGeom>
          <a:solidFill>
            <a:srgbClr val="EEF7FF"/>
          </a:solidFill>
          <a:ln w="12383">
            <a:solidFill>
              <a:srgbClr val="0070C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2" name="metric-avg-text">
            <a:extLst>
              <a:ext uri="{FF2B5EF4-FFF2-40B4-BE49-F238E27FC236}">
                <a16:creationId xmlns:a16="http://schemas.microsoft.com/office/drawing/2014/main" id="{E1C5F1DF-F035-4717-986D-806A7083361D}"/>
              </a:ext>
            </a:extLst>
          </p:cNvPr>
          <p:cNvSpPr>
            <a:spLocks noGrp="1"/>
          </p:cNvSpPr>
          <p:nvPr/>
        </p:nvSpPr>
        <p:spPr>
          <a:xfrm>
            <a:off x="6381750" y="1762125"/>
            <a:ext cx="185737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2325" b="1">
                <a:solidFill>
                  <a:srgbClr val="0070C0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0070C0"/>
                </a:solidFill>
                <a:latin typeface="Noto Sans SC"/>
                <a:ea typeface="Noto Sans SC"/>
                <a:cs typeface="Noto Sans SC"/>
              </a:rPr>
              <a:t>+2.14%</a:t>
            </a:r>
          </a:p>
          <a:p>
            <a:pPr algn="ctr">
              <a:defRPr sz="2325" b="1">
                <a:solidFill>
                  <a:srgbClr val="0070C0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0070C0"/>
                </a:solidFill>
                <a:latin typeface="Noto Sans SC"/>
                <a:ea typeface="Noto Sans SC"/>
                <a:cs typeface="Noto Sans SC"/>
              </a:rPr>
              <a:t>Avg</a:t>
            </a:r>
          </a:p>
        </p:txBody>
      </p:sp>
      <p:sp>
        <p:nvSpPr>
          <p:cNvPr id="63" name="metric-last">
            <a:extLst>
              <a:ext uri="{FF2B5EF4-FFF2-40B4-BE49-F238E27FC236}">
                <a16:creationId xmlns:a16="http://schemas.microsoft.com/office/drawing/2014/main" id="{208371AB-904E-4963-A8D5-536B968C7F10}"/>
              </a:ext>
            </a:extLst>
          </p:cNvPr>
          <p:cNvSpPr>
            <a:spLocks noGrp="1"/>
          </p:cNvSpPr>
          <p:nvPr/>
        </p:nvSpPr>
        <p:spPr>
          <a:xfrm>
            <a:off x="8810625" y="1666875"/>
            <a:ext cx="2238375" cy="1123950"/>
          </a:xfrm>
          <a:prstGeom prst="roundRect">
            <a:avLst>
              <a:gd name="adj" fmla="val 10169"/>
            </a:avLst>
          </a:prstGeom>
          <a:solidFill>
            <a:srgbClr val="F1F8F4"/>
          </a:solidFill>
          <a:ln w="12383">
            <a:solidFill>
              <a:srgbClr val="2E8B5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4" name="metric-last-text">
            <a:extLst>
              <a:ext uri="{FF2B5EF4-FFF2-40B4-BE49-F238E27FC236}">
                <a16:creationId xmlns:a16="http://schemas.microsoft.com/office/drawing/2014/main" id="{57CAFE1F-F894-4308-BB19-54F7BCAF3A91}"/>
              </a:ext>
            </a:extLst>
          </p:cNvPr>
          <p:cNvSpPr>
            <a:spLocks noGrp="1"/>
          </p:cNvSpPr>
          <p:nvPr/>
        </p:nvSpPr>
        <p:spPr>
          <a:xfrm>
            <a:off x="9001125" y="1762125"/>
            <a:ext cx="185737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2325" b="1">
                <a:solidFill>
                  <a:srgbClr val="2E8B57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2E8B57"/>
                </a:solidFill>
                <a:latin typeface="Noto Sans SC"/>
                <a:ea typeface="Noto Sans SC"/>
                <a:cs typeface="Noto Sans SC"/>
              </a:rPr>
              <a:t>+6.82%</a:t>
            </a:r>
          </a:p>
          <a:p>
            <a:pPr algn="ctr">
              <a:defRPr sz="2325" b="1">
                <a:solidFill>
                  <a:srgbClr val="2E8B57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2E8B57"/>
                </a:solidFill>
                <a:latin typeface="Noto Sans SC"/>
                <a:ea typeface="Noto Sans SC"/>
                <a:cs typeface="Noto Sans SC"/>
              </a:rPr>
              <a:t>Last</a:t>
            </a:r>
          </a:p>
        </p:txBody>
      </p:sp>
      <p:sp>
        <p:nvSpPr>
          <p:cNvPr id="65" name="contribution-title">
            <a:extLst>
              <a:ext uri="{FF2B5EF4-FFF2-40B4-BE49-F238E27FC236}">
                <a16:creationId xmlns:a16="http://schemas.microsoft.com/office/drawing/2014/main" id="{46C8662E-D9FA-4CEE-8B7A-12816663AB92}"/>
              </a:ext>
            </a:extLst>
          </p:cNvPr>
          <p:cNvSpPr>
            <a:spLocks noGrp="1"/>
          </p:cNvSpPr>
          <p:nvPr/>
        </p:nvSpPr>
        <p:spPr>
          <a:xfrm>
            <a:off x="6191250" y="3095625"/>
            <a:ext cx="4857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875" b="1">
                <a:solidFill>
                  <a:srgbClr val="1F4E79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 dirty="0" err="1">
                <a:solidFill>
                  <a:srgbClr val="1F4E79"/>
                </a:solidFill>
                <a:latin typeface="Noto Sans SC"/>
                <a:ea typeface="Noto Sans SC"/>
                <a:cs typeface="Noto Sans SC"/>
              </a:rPr>
              <a:t>三点贡献</a:t>
            </a:r>
            <a:endParaRPr sz="1875" b="1" dirty="0">
              <a:solidFill>
                <a:srgbClr val="1F4E79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6" name="contrib-num-0">
            <a:extLst>
              <a:ext uri="{FF2B5EF4-FFF2-40B4-BE49-F238E27FC236}">
                <a16:creationId xmlns:a16="http://schemas.microsoft.com/office/drawing/2014/main" id="{2CB36D89-C07A-419C-8BFD-6313936F6206}"/>
              </a:ext>
            </a:extLst>
          </p:cNvPr>
          <p:cNvSpPr>
            <a:spLocks noGrp="1"/>
          </p:cNvSpPr>
          <p:nvPr/>
        </p:nvSpPr>
        <p:spPr>
          <a:xfrm>
            <a:off x="6334125" y="3714750"/>
            <a:ext cx="533400" cy="3810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67" name="contrib-text-0">
            <a:extLst>
              <a:ext uri="{FF2B5EF4-FFF2-40B4-BE49-F238E27FC236}">
                <a16:creationId xmlns:a16="http://schemas.microsoft.com/office/drawing/2014/main" id="{B71C296F-745A-4871-9AFA-1F1857501FD6}"/>
              </a:ext>
            </a:extLst>
          </p:cNvPr>
          <p:cNvSpPr>
            <a:spLocks noGrp="1"/>
          </p:cNvSpPr>
          <p:nvPr/>
        </p:nvSpPr>
        <p:spPr>
          <a:xfrm>
            <a:off x="7000875" y="3638550"/>
            <a:ext cx="400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defRPr sz="138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388" b="0" dirty="0" err="1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提出</a:t>
            </a:r>
            <a:r>
              <a:rPr sz="1388" b="0" dirty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388" b="0" dirty="0" err="1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HiFGO：不保存历史数据，也能在梯度空间抑制任务干扰</a:t>
            </a:r>
            <a:r>
              <a:rPr sz="1388" b="0" dirty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68" name="contrib-num-1">
            <a:extLst>
              <a:ext uri="{FF2B5EF4-FFF2-40B4-BE49-F238E27FC236}">
                <a16:creationId xmlns:a16="http://schemas.microsoft.com/office/drawing/2014/main" id="{EE66390C-48D6-4011-945E-F7EDFE03149C}"/>
              </a:ext>
            </a:extLst>
          </p:cNvPr>
          <p:cNvSpPr>
            <a:spLocks noGrp="1"/>
          </p:cNvSpPr>
          <p:nvPr/>
        </p:nvSpPr>
        <p:spPr>
          <a:xfrm>
            <a:off x="6334125" y="4381500"/>
            <a:ext cx="533400" cy="3810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69" name="contrib-text-1">
            <a:extLst>
              <a:ext uri="{FF2B5EF4-FFF2-40B4-BE49-F238E27FC236}">
                <a16:creationId xmlns:a16="http://schemas.microsoft.com/office/drawing/2014/main" id="{E7025AA5-8A4E-41A5-A552-631B9141DBBC}"/>
              </a:ext>
            </a:extLst>
          </p:cNvPr>
          <p:cNvSpPr>
            <a:spLocks noGrp="1"/>
          </p:cNvSpPr>
          <p:nvPr/>
        </p:nvSpPr>
        <p:spPr>
          <a:xfrm>
            <a:off x="7000875" y="4305300"/>
            <a:ext cx="400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defRPr sz="138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388" b="0" dirty="0" err="1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提出两阶段微调：将任务适应与正则约束解耦，平衡塑性与稳定性</a:t>
            </a:r>
            <a:r>
              <a:rPr sz="1388" b="0" dirty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70" name="contrib-num-2">
            <a:extLst>
              <a:ext uri="{FF2B5EF4-FFF2-40B4-BE49-F238E27FC236}">
                <a16:creationId xmlns:a16="http://schemas.microsoft.com/office/drawing/2014/main" id="{5AE7EFBB-D14F-410A-9109-C31FEAB4DF16}"/>
              </a:ext>
            </a:extLst>
          </p:cNvPr>
          <p:cNvSpPr>
            <a:spLocks noGrp="1"/>
          </p:cNvSpPr>
          <p:nvPr/>
        </p:nvSpPr>
        <p:spPr>
          <a:xfrm>
            <a:off x="6334125" y="5048250"/>
            <a:ext cx="533400" cy="3810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71" name="contrib-text-2">
            <a:extLst>
              <a:ext uri="{FF2B5EF4-FFF2-40B4-BE49-F238E27FC236}">
                <a16:creationId xmlns:a16="http://schemas.microsoft.com/office/drawing/2014/main" id="{34878660-32B5-4D25-AC83-166BE72DF3D5}"/>
              </a:ext>
            </a:extLst>
          </p:cNvPr>
          <p:cNvSpPr>
            <a:spLocks noGrp="1"/>
          </p:cNvSpPr>
          <p:nvPr/>
        </p:nvSpPr>
        <p:spPr>
          <a:xfrm>
            <a:off x="7000875" y="4972050"/>
            <a:ext cx="400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defRPr sz="138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defRPr>
            </a:pPr>
            <a:r>
              <a:rPr sz="1388" b="0">
                <a:solidFill>
                  <a:srgbClr val="202B36"/>
                </a:solidFill>
                <a:latin typeface="Noto Sans SC"/>
                <a:ea typeface="Noto Sans SC"/>
                <a:cs typeface="Noto Sans SC"/>
              </a:rPr>
              <a:t>在 UCIT 达到新 SOTA，并保持推理效率与无回放优势。</a:t>
            </a:r>
          </a:p>
        </p:txBody>
      </p:sp>
    </p:spTree>
    <p:extLst>
      <p:ext uri="{BB962C8B-B14F-4D97-AF65-F5344CB8AC3E}">
        <p14:creationId xmlns:p14="http://schemas.microsoft.com/office/powerpoint/2010/main" val="821032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22F40B12-078A-4A36-BDD4-86822D9247C4}"/>
              </a:ext>
            </a:extLst>
          </p:cNvPr>
          <p:cNvSpPr>
            <a:spLocks noGrp="1"/>
          </p:cNvSpPr>
          <p:nvPr/>
        </p:nvSpPr>
        <p:spPr>
          <a:xfrm>
            <a:off x="660400" y="760413"/>
            <a:ext cx="10858500" cy="0"/>
          </a:xfrm>
          <a:prstGeom prst="line">
            <a:avLst/>
          </a:prstGeom>
          <a:noFill/>
          <a:ln w="22225">
            <a:solidFill>
              <a:srgbClr val="1C6299"/>
            </a:solidFill>
            <a:prstDash val="solid"/>
          </a:ln>
        </p:spPr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D9D7C445-C51A-4591-A211-5F4C0297DEC4}"/>
              </a:ext>
            </a:extLst>
          </p:cNvPr>
          <p:cNvSpPr>
            <a:spLocks noGrp="1"/>
          </p:cNvSpPr>
          <p:nvPr/>
        </p:nvSpPr>
        <p:spPr>
          <a:xfrm>
            <a:off x="383338" y="171051"/>
            <a:ext cx="468000" cy="468000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2D81A80-B28B-4D41-BBE8-64FC8CB05FE6}"/>
              </a:ext>
            </a:extLst>
          </p:cNvPr>
          <p:cNvSpPr>
            <a:spLocks noGrp="1"/>
          </p:cNvSpPr>
          <p:nvPr/>
        </p:nvSpPr>
        <p:spPr>
          <a:xfrm>
            <a:off x="256004" y="244806"/>
            <a:ext cx="6731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7E992D5D-D7F0-4471-8EEC-9D0029F7D4A6}"/>
              </a:ext>
            </a:extLst>
          </p:cNvPr>
          <p:cNvSpPr>
            <a:spLocks noGrp="1"/>
          </p:cNvSpPr>
          <p:nvPr/>
        </p:nvSpPr>
        <p:spPr>
          <a:xfrm>
            <a:off x="203760" y="614316"/>
            <a:ext cx="176213" cy="176213"/>
          </a:xfrm>
          <a:prstGeom prst="ellipse">
            <a:avLst/>
          </a:prstGeom>
          <a:gradFill>
            <a:gsLst>
              <a:gs pos="0">
                <a:srgbClr val="1C6299"/>
              </a:gs>
              <a:gs pos="100000">
                <a:srgbClr val="5C307D">
                  <a:alpha val="90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CCFC479-A06E-4DFA-99BD-F538882AC794}"/>
              </a:ext>
            </a:extLst>
          </p:cNvPr>
          <p:cNvSpPr>
            <a:spLocks noGrp="1"/>
          </p:cNvSpPr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自强不息 厚德载物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2DCD50E-D3F9-44A1-8551-70D59F63900D}"/>
              </a:ext>
            </a:extLst>
          </p:cNvPr>
          <p:cNvSpPr>
            <a:spLocks noGrp="1"/>
          </p:cNvSpPr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012FC0F-32BD-451D-9419-D3AB717D18CD}"/>
              </a:ext>
            </a:extLst>
          </p:cNvPr>
          <p:cNvSpPr>
            <a:spLocks noGrp="1"/>
          </p:cNvSpPr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000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知行合一、经世致用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6DB89A83-2C77-4AED-AB48-78850E2CADD1}"/>
              </a:ext>
            </a:extLst>
          </p:cNvPr>
          <p:cNvSpPr>
            <a:spLocks noGrp="1"/>
          </p:cNvSpPr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</a:pPr>
            <a:r>
              <a:rPr sz="1000">
                <a:solidFill>
                  <a:prstClr val="white"/>
                </a:solidFill>
                <a:latin typeface="Arial"/>
                <a:ea typeface="Arial"/>
                <a:cs typeface="Arial"/>
              </a:rPr>
              <a:t>Central South University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FFF07AF6-B633-423D-BE7E-4EC19AEC4CC8}"/>
              </a:ext>
            </a:extLst>
          </p:cNvPr>
          <p:cNvSpPr>
            <a:spLocks noGrp="1"/>
          </p:cNvSpPr>
          <p:nvPr/>
        </p:nvSpPr>
        <p:spPr>
          <a:xfrm>
            <a:off x="660400" y="760413"/>
            <a:ext cx="11196000" cy="0"/>
          </a:xfrm>
          <a:prstGeom prst="line">
            <a:avLst/>
          </a:prstGeom>
          <a:noFill/>
          <a:ln w="22225">
            <a:solidFill>
              <a:srgbClr val="1C6299"/>
            </a:solidFill>
            <a:prstDash val="solid"/>
          </a:ln>
        </p:spPr>
      </p:sp>
      <p:pic>
        <p:nvPicPr>
          <p:cNvPr id="82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6770" y="123609"/>
            <a:ext cx="1897854" cy="555905"/>
          </a:xfrm>
          <a:prstGeom prst="rect">
            <a:avLst/>
          </a:prstGeom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A0C4D4FB-380B-709F-FD92-57BAB6B26B94}"/>
              </a:ext>
            </a:extLst>
          </p:cNvPr>
          <p:cNvSpPr>
            <a:spLocks noGrp="1"/>
          </p:cNvSpPr>
          <p:nvPr/>
        </p:nvSpPr>
        <p:spPr>
          <a:xfrm>
            <a:off x="1403566" y="1614027"/>
            <a:ext cx="9589911" cy="4132475"/>
          </a:xfrm>
          <a:prstGeom prst="roundRect">
            <a:avLst>
              <a:gd name="adj" fmla="val 7376"/>
            </a:avLst>
          </a:prstGeom>
          <a:ln w="6350">
            <a:solidFill>
              <a:srgbClr val="D9D9D9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09472AE-4790-4993-3ED9-3DFD84BC1F6C}"/>
              </a:ext>
            </a:extLst>
          </p:cNvPr>
          <p:cNvSpPr>
            <a:spLocks noGrp="1"/>
          </p:cNvSpPr>
          <p:nvPr/>
        </p:nvSpPr>
        <p:spPr>
          <a:xfrm>
            <a:off x="5212527" y="1517929"/>
            <a:ext cx="2091745" cy="539687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44D05FB-02A9-1544-63C2-076FA6B3D481}"/>
              </a:ext>
            </a:extLst>
          </p:cNvPr>
          <p:cNvSpPr>
            <a:spLocks noGrp="1"/>
          </p:cNvSpPr>
          <p:nvPr/>
        </p:nvSpPr>
        <p:spPr>
          <a:xfrm>
            <a:off x="5136443" y="1345232"/>
            <a:ext cx="2116667" cy="944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总结</a:t>
            </a:r>
            <a:endParaRPr sz="1575" b="1" dirty="0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6" name="summary-label-0">
            <a:extLst>
              <a:ext uri="{FF2B5EF4-FFF2-40B4-BE49-F238E27FC236}">
                <a16:creationId xmlns:a16="http://schemas.microsoft.com/office/drawing/2014/main" id="{1AA8899D-520F-4A4F-B4AA-B10EF2E859DE}"/>
              </a:ext>
            </a:extLst>
          </p:cNvPr>
          <p:cNvSpPr>
            <a:spLocks noGrp="1"/>
          </p:cNvSpPr>
          <p:nvPr/>
        </p:nvSpPr>
        <p:spPr>
          <a:xfrm>
            <a:off x="2047875" y="2238375"/>
            <a:ext cx="1000125" cy="400050"/>
          </a:xfrm>
          <a:prstGeom prst="roundRect">
            <a:avLst>
              <a:gd name="adj" fmla="val 50000"/>
            </a:avLst>
          </a:prstGeom>
          <a:solidFill>
            <a:srgbClr val="C94B4B"/>
          </a:solidFill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问题</a:t>
            </a:r>
          </a:p>
        </p:txBody>
      </p:sp>
      <p:sp>
        <p:nvSpPr>
          <p:cNvPr id="67" name="summary-text-0">
            <a:extLst>
              <a:ext uri="{FF2B5EF4-FFF2-40B4-BE49-F238E27FC236}">
                <a16:creationId xmlns:a16="http://schemas.microsoft.com/office/drawing/2014/main" id="{3AB45839-C5CD-4158-84B8-F8D9DE5D93A6}"/>
              </a:ext>
            </a:extLst>
          </p:cNvPr>
          <p:cNvSpPr>
            <a:spLocks noGrp="1"/>
          </p:cNvSpPr>
          <p:nvPr/>
        </p:nvSpPr>
        <p:spPr>
          <a:xfrm>
            <a:off x="3286125" y="2114550"/>
            <a:ext cx="6667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MLLM 顺序学习多个任务时，新任务更新会导致旧任务能力下降。</a:t>
            </a:r>
          </a:p>
        </p:txBody>
      </p:sp>
      <p:sp>
        <p:nvSpPr>
          <p:cNvPr id="68" name="summary-label-1">
            <a:extLst>
              <a:ext uri="{FF2B5EF4-FFF2-40B4-BE49-F238E27FC236}">
                <a16:creationId xmlns:a16="http://schemas.microsoft.com/office/drawing/2014/main" id="{6980402F-B5AB-4EE9-97D6-2DCD5B2AC678}"/>
              </a:ext>
            </a:extLst>
          </p:cNvPr>
          <p:cNvSpPr>
            <a:spLocks noGrp="1"/>
          </p:cNvSpPr>
          <p:nvPr/>
        </p:nvSpPr>
        <p:spPr>
          <a:xfrm>
            <a:off x="2047875" y="3114675"/>
            <a:ext cx="1000125" cy="40005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缺口</a:t>
            </a:r>
          </a:p>
        </p:txBody>
      </p:sp>
      <p:sp>
        <p:nvSpPr>
          <p:cNvPr id="69" name="summary-text-1">
            <a:extLst>
              <a:ext uri="{FF2B5EF4-FFF2-40B4-BE49-F238E27FC236}">
                <a16:creationId xmlns:a16="http://schemas.microsoft.com/office/drawing/2014/main" id="{08E17468-DB86-48E0-92ED-51D05B120B12}"/>
              </a:ext>
            </a:extLst>
          </p:cNvPr>
          <p:cNvSpPr>
            <a:spLocks noGrp="1"/>
          </p:cNvSpPr>
          <p:nvPr/>
        </p:nvSpPr>
        <p:spPr>
          <a:xfrm>
            <a:off x="3286125" y="2990850"/>
            <a:ext cx="6667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架构式有开销，回放式依赖历史数据，参数正交又不足；已有梯度正交仍需旧数据。</a:t>
            </a:r>
          </a:p>
        </p:txBody>
      </p:sp>
      <p:sp>
        <p:nvSpPr>
          <p:cNvPr id="70" name="summary-label-2">
            <a:extLst>
              <a:ext uri="{FF2B5EF4-FFF2-40B4-BE49-F238E27FC236}">
                <a16:creationId xmlns:a16="http://schemas.microsoft.com/office/drawing/2014/main" id="{8DFB6640-9060-4F27-AF4D-56A249F8C9AE}"/>
              </a:ext>
            </a:extLst>
          </p:cNvPr>
          <p:cNvSpPr>
            <a:spLocks noGrp="1"/>
          </p:cNvSpPr>
          <p:nvPr/>
        </p:nvSpPr>
        <p:spPr>
          <a:xfrm>
            <a:off x="2047875" y="3990975"/>
            <a:ext cx="1000125" cy="40005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0">
            <a:noFill/>
            <a:prstDash val="solid"/>
          </a:ln>
        </p:spPr>
        <p:txBody>
          <a:bodyPr lIns="38100" tIns="19050" rIns="38100" bIns="19050" anchor="ctr">
            <a:no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答案</a:t>
            </a:r>
          </a:p>
        </p:txBody>
      </p:sp>
      <p:sp>
        <p:nvSpPr>
          <p:cNvPr id="71" name="summary-text-2">
            <a:extLst>
              <a:ext uri="{FF2B5EF4-FFF2-40B4-BE49-F238E27FC236}">
                <a16:creationId xmlns:a16="http://schemas.microsoft.com/office/drawing/2014/main" id="{64800161-39EE-4B66-925B-B815A79BA12C}"/>
              </a:ext>
            </a:extLst>
          </p:cNvPr>
          <p:cNvSpPr>
            <a:spLocks noGrp="1"/>
          </p:cNvSpPr>
          <p:nvPr/>
        </p:nvSpPr>
        <p:spPr>
          <a:xfrm>
            <a:off x="3286125" y="3867150"/>
            <a:ext cx="701027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用 </a:t>
            </a:r>
            <a:r>
              <a:rPr sz="1500" b="0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HiFGO</a:t>
            </a:r>
            <a:r>
              <a:rPr sz="1500" b="0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实现无历史梯度正交，再以两阶段微调平衡塑性与稳定性</a:t>
            </a:r>
            <a:r>
              <a:rPr sz="1500" b="0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72" name="summary-takeaway">
            <a:extLst>
              <a:ext uri="{FF2B5EF4-FFF2-40B4-BE49-F238E27FC236}">
                <a16:creationId xmlns:a16="http://schemas.microsoft.com/office/drawing/2014/main" id="{A09A3383-E92D-4665-8D0B-EF9CEA87E26E}"/>
              </a:ext>
            </a:extLst>
          </p:cNvPr>
          <p:cNvSpPr>
            <a:spLocks noGrp="1"/>
          </p:cNvSpPr>
          <p:nvPr/>
        </p:nvSpPr>
        <p:spPr>
          <a:xfrm>
            <a:off x="2286000" y="4905375"/>
            <a:ext cx="762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1650" b="1">
                <a:solidFill>
                  <a:srgbClr val="FFF4D6"/>
                </a:solidFill>
                <a:latin typeface="Noto Sans SC"/>
                <a:ea typeface="Noto Sans SC"/>
                <a:cs typeface="Noto Sans SC"/>
              </a:defRPr>
            </a:pPr>
            <a:endParaRPr sz="1650" b="1" dirty="0">
              <a:solidFill>
                <a:srgbClr val="FFF4D6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2207858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51" y="212782"/>
            <a:ext cx="1966449" cy="575997"/>
          </a:xfrm>
          <a:prstGeom prst="rect">
            <a:avLst/>
          </a:prstGeom>
        </p:spPr>
      </p:pic>
      <p:pic>
        <p:nvPicPr>
          <p:cNvPr id="22" name="Picture 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-1" y="1"/>
            <a:ext cx="12206135" cy="367665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01E00F51-4691-4955-86A9-9D206CC127D4}"/>
              </a:ext>
            </a:extLst>
          </p:cNvPr>
          <p:cNvSpPr>
            <a:spLocks noGrp="1"/>
          </p:cNvSpPr>
          <p:nvPr/>
        </p:nvSpPr>
        <p:spPr>
          <a:xfrm>
            <a:off x="-14137" y="3201364"/>
            <a:ext cx="12220271" cy="1376135"/>
          </a:xfrm>
          <a:prstGeom prst="rect">
            <a:avLst/>
          </a:prstGeom>
          <a:solidFill>
            <a:srgbClr val="1C6299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382112-0A7E-4A72-911E-D3D82178D365}"/>
              </a:ext>
            </a:extLst>
          </p:cNvPr>
          <p:cNvSpPr>
            <a:spLocks noGrp="1"/>
          </p:cNvSpPr>
          <p:nvPr/>
        </p:nvSpPr>
        <p:spPr>
          <a:xfrm>
            <a:off x="3642992" y="3353092"/>
            <a:ext cx="5109210" cy="101562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3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390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感谢聆听</a:t>
            </a:r>
          </a:p>
        </p:txBody>
      </p:sp>
      <p:sp>
        <p:nvSpPr>
          <p:cNvPr id="19" name="closing-qa">
            <a:extLst>
              <a:ext uri="{FF2B5EF4-FFF2-40B4-BE49-F238E27FC236}">
                <a16:creationId xmlns:a16="http://schemas.microsoft.com/office/drawing/2014/main" id="{C358F6BD-1692-489E-805B-E9E2035860DE}"/>
              </a:ext>
            </a:extLst>
          </p:cNvPr>
          <p:cNvSpPr>
            <a:spLocks noGrp="1"/>
          </p:cNvSpPr>
          <p:nvPr/>
        </p:nvSpPr>
        <p:spPr>
          <a:xfrm>
            <a:off x="4572000" y="4810125"/>
            <a:ext cx="304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38100" rIns="47625" bIns="38100" anchor="ctr">
            <a:noAutofit/>
          </a:bodyPr>
          <a:lstStyle/>
          <a:p>
            <a:pPr algn="ctr">
              <a:defRPr sz="25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endParaRPr sz="2550" b="1" dirty="0">
              <a:solidFill>
                <a:srgbClr val="1F4E79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441515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自定义设计方案">
  <a:themeElements>
    <a:clrScheme name="自定义 10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91B89"/>
      </a:accent1>
      <a:accent2>
        <a:srgbClr val="EEB51A"/>
      </a:accent2>
      <a:accent3>
        <a:srgbClr val="591B89"/>
      </a:accent3>
      <a:accent4>
        <a:srgbClr val="EEB51A"/>
      </a:accent4>
      <a:accent5>
        <a:srgbClr val="591B89"/>
      </a:accent5>
      <a:accent6>
        <a:srgbClr val="EEB51A"/>
      </a:accent6>
      <a:hlink>
        <a:srgbClr val="591B89"/>
      </a:hlink>
      <a:folHlink>
        <a:srgbClr val="EEB51A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0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609</Words>
  <Application>Microsoft Office PowerPoint</Application>
  <DocSecurity>0</DocSecurity>
  <PresentationFormat>宽屏</PresentationFormat>
  <Paragraphs>175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Noto Sans SC</vt:lpstr>
      <vt:lpstr>等线</vt:lpstr>
      <vt:lpstr>微软雅黑</vt:lpstr>
      <vt:lpstr>Arial</vt:lpstr>
      <vt:lpstr>Calibri</vt:lpstr>
      <vt:lpstr>Calibri Light</vt:lpstr>
      <vt:lpstr>Cambria Math</vt:lpstr>
      <vt:lpstr>Tahoma</vt:lpstr>
      <vt:lpstr>Times New Roman</vt:lpstr>
      <vt:lpstr>1_Office 主题​​</vt:lpstr>
      <vt:lpstr>2_Office 主题​​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zy h</cp:lastModifiedBy>
  <cp:revision>5</cp:revision>
  <dcterms:created xsi:type="dcterms:W3CDTF">2026-07-20T01:00:24Z</dcterms:created>
  <dcterms:modified xsi:type="dcterms:W3CDTF">2026-07-20T01:08:39Z</dcterms:modified>
</cp:coreProperties>
</file>