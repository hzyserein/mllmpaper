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71" r:id="rId7"/>
    <p:sldId id="261" r:id="rId8"/>
    <p:sldId id="265" r:id="rId9"/>
    <p:sldId id="266" r:id="rId10"/>
    <p:sldId id="272" r:id="rId11"/>
    <p:sldId id="262" r:id="rId12"/>
    <p:sldId id="268" r:id="rId13"/>
    <p:sldId id="269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24" autoAdjust="0"/>
  </p:normalViewPr>
  <p:slideViewPr>
    <p:cSldViewPr snapToGrid="0">
      <p:cViewPr varScale="1">
        <p:scale>
          <a:sx n="66" d="100"/>
          <a:sy n="66" d="100"/>
        </p:scale>
        <p:origin x="52" y="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333333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\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01DF-3A37-765A-D57F-E2EC8D6F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4EC1BD-4EE7-DE5D-4FF0-1361E97FE4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EF231-2007-DF7E-1E3A-E109CCE3EB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7309EA-AC4F-9200-4D1F-82C305615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9A0B532-1634-E138-73BA-CAE015596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CF971-3754-E3EF-FFEA-6463208A89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E3E9F-BCD1-4922-83D3-CBFC137BC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34506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F2308991-02EC-F5AF-033D-C21F640F2296}"/>
              </a:ext>
            </a:extLst>
          </p:cNvPr>
          <p:cNvSpPr/>
          <p:nvPr/>
        </p:nvSpPr>
        <p:spPr>
          <a:xfrm>
            <a:off x="0" y="1798079"/>
            <a:ext cx="12191365" cy="242679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998351" y="2827865"/>
            <a:ext cx="762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40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AAAI 2025 </a:t>
            </a:r>
            <a:r>
              <a:rPr lang="en-US" sz="40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论文报告</a:t>
            </a:r>
            <a:endParaRPr lang="en-US" sz="1600" dirty="0"/>
          </a:p>
        </p:txBody>
      </p:sp>
      <p:sp>
        <p:nvSpPr>
          <p:cNvPr id="6" name="AutoShape 6"/>
          <p:cNvSpPr/>
          <p:nvPr/>
        </p:nvSpPr>
        <p:spPr>
          <a:xfrm>
            <a:off x="3335866" y="4609014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2026年4月</a:t>
            </a:r>
            <a:endParaRPr lang="en-US" sz="1100" dirty="0"/>
          </a:p>
        </p:txBody>
      </p:sp>
      <p:pic>
        <p:nvPicPr>
          <p:cNvPr id="7" name="图片 6" descr="（蓝）大数据研究院LOGO">
            <a:extLst>
              <a:ext uri="{FF2B5EF4-FFF2-40B4-BE49-F238E27FC236}">
                <a16:creationId xmlns:a16="http://schemas.microsoft.com/office/drawing/2014/main" id="{22579818-CE34-17F5-5BAC-09CF295DEE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030"/>
          <a:stretch/>
        </p:blipFill>
        <p:spPr>
          <a:xfrm>
            <a:off x="158831" y="0"/>
            <a:ext cx="4034641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 flipV="1"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4" y="288000"/>
                  <a:pt x="12192000" y="288000"/>
                </a:cubicBezTo>
                <a:close/>
              </a:path>
            </a:pathLst>
          </a:cu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414" b="414"/>
          <a:stretch>
            <a:fillRect/>
          </a:stretch>
        </p:blipFill>
        <p:spPr>
          <a:xfrm>
            <a:off x="10109200" y="139700"/>
            <a:ext cx="1663700" cy="482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800100" y="2235200"/>
            <a:ext cx="10871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4400" b="1" i="0" u="none" strike="noStrike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引言与核心挑战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研究背景：跨模态匹配的困境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96900" y="657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83333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知行合一 · 经世致用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01100" y="65786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r">
              <a:lnSpc>
                <a:spcPct val="83333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762000"/>
            <a:ext cx="110871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dirty="0"/>
              <a:t>1</a:t>
            </a: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254000" y="241300"/>
            <a:ext cx="673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9728200" y="1778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33400" y="863600"/>
            <a:ext cx="11239500" cy="520700"/>
          </a:xfrm>
          <a:prstGeom prst="rect">
            <a:avLst/>
          </a:prstGeom>
          <a:solidFill>
            <a:srgbClr val="0070C0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0000"/>
                </a:solidFill>
                <a:latin typeface="等线"/>
                <a:ea typeface="等线"/>
                <a:cs typeface="等线"/>
                <a:sym typeface="等线"/>
              </a:rPr>
              <a:t>问题：</a:t>
            </a:r>
            <a:r>
              <a:rPr lang="en-US" sz="2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现有方法的核心瓶颈：对称惩罚的困境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96900" y="6578600"/>
            <a:ext cx="2286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83333"/>
              </a:lnSpc>
              <a:defRPr/>
            </a:pPr>
            <a:r>
              <a:rPr lang="en-US" sz="1200" b="0" i="0" u="none" strike="noStrike" spc="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017000" y="6578600"/>
            <a:ext cx="254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83333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323642" y="1663700"/>
            <a:ext cx="3355726" cy="533400"/>
          </a:xfrm>
          <a:prstGeom prst="roundRect">
            <a:avLst>
              <a:gd name="adj" fmla="val 23809"/>
            </a:avLst>
          </a:prstGeom>
          <a:solidFill>
            <a:srgbClr val="C5E0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81001" y="1632297"/>
            <a:ext cx="3177924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为什么对称学习范式会失败</a:t>
            </a:r>
            <a:r>
              <a:rPr lang="en-US" sz="1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？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203200" y="2298700"/>
            <a:ext cx="3355725" cy="4064000"/>
          </a:xfrm>
          <a:prstGeom prst="roundRect">
            <a:avLst>
              <a:gd name="adj" fmla="val 5633"/>
            </a:avLst>
          </a:prstGeom>
          <a:solidFill>
            <a:srgbClr val="F4F8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254000" y="2362200"/>
            <a:ext cx="3383865" cy="373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08333"/>
              </a:lnSpc>
              <a:spcBef>
                <a:spcPts val="500"/>
              </a:spcBef>
              <a:defRPr/>
            </a:pPr>
            <a:r>
              <a:rPr lang="en-US" sz="1500" b="1" i="0" u="none" strike="noStrike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500" b="1" i="0" u="none" strike="noStrike" dirty="0" err="1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三元组损失的本质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目标函数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 max(0, S(负) - S(正) + margin)。</a:t>
            </a: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旨在拉开正负样本距离，使其超过固定边界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margin。</a:t>
            </a:r>
            <a:endParaRPr lang="en-US" sz="1100" dirty="0"/>
          </a:p>
          <a:p>
            <a:pPr>
              <a:lnSpc>
                <a:spcPct val="108333"/>
              </a:lnSpc>
              <a:spcBef>
                <a:spcPts val="1000"/>
              </a:spcBef>
            </a:pPr>
            <a:r>
              <a:rPr lang="en-US" sz="1500" b="1" i="0" u="none" strike="noStrike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500" b="1" i="0" u="none" strike="noStrike" dirty="0" err="1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对称惩罚的问题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latin typeface="Noto Sans SC DemiLight" panose="020B0200000000000000" pitchFamily="34" charset="-122"/>
                <a:ea typeface="Noto Sans SC DemiLight" panose="020B0200000000000000" pitchFamily="34" charset="-122"/>
              </a:rPr>
              <a:t>当降低潜在噪声正样本的优化权重或放宽其正样本约束时，由于正负样本共享同一个 </a:t>
            </a:r>
            <a:r>
              <a:rPr lang="en-US" altLang="zh-CN" dirty="0">
                <a:latin typeface="Noto Sans SC DemiLight" panose="020B0200000000000000" pitchFamily="34" charset="-122"/>
                <a:ea typeface="Noto Sans SC DemiLight" panose="020B0200000000000000" pitchFamily="34" charset="-122"/>
              </a:rPr>
              <a:t>margin</a:t>
            </a:r>
            <a:r>
              <a:rPr lang="zh-CN" altLang="en-US" dirty="0">
                <a:latin typeface="Noto Sans SC DemiLight" panose="020B0200000000000000" pitchFamily="34" charset="-122"/>
                <a:ea typeface="Noto Sans SC DemiLight" panose="020B0200000000000000" pitchFamily="34" charset="-122"/>
              </a:rPr>
              <a:t>，负样本的优化也可能被迫停止或削弱</a:t>
            </a:r>
            <a:endParaRPr lang="en-US" altLang="zh-CN" dirty="0">
              <a:latin typeface="Noto Sans SC DemiLight" panose="020B0200000000000000" pitchFamily="34" charset="-122"/>
              <a:ea typeface="Noto Sans SC DemiLight" panose="020B0200000000000000" pitchFamily="34" charset="-122"/>
            </a:endParaRPr>
          </a:p>
          <a:p>
            <a:pPr>
              <a:lnSpc>
                <a:spcPct val="108333"/>
              </a:lnSpc>
              <a:spcBef>
                <a:spcPts val="1000"/>
              </a:spcBef>
            </a:pPr>
            <a:r>
              <a:rPr lang="en-US" sz="1500" b="1" i="0" u="none" strike="noStrike" dirty="0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500" b="1" i="0" u="none" strike="noStrike" dirty="0" err="1">
                <a:solidFill>
                  <a:srgbClr val="0070C0"/>
                </a:solidFill>
                <a:latin typeface="Noto Sans SC"/>
                <a:ea typeface="Noto Sans SC"/>
                <a:cs typeface="Noto Sans SC"/>
                <a:sym typeface="Noto Sans SC"/>
              </a:rPr>
              <a:t>直观理解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拉低正样本相似度以惩罚噪声时，也变相“奖励”了负样本（降低了对其要求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导致负样本学习不充分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69943" y="1701800"/>
            <a:ext cx="3677564" cy="533400"/>
          </a:xfrm>
          <a:prstGeom prst="roundRect">
            <a:avLst>
              <a:gd name="adj" fmla="val 23809"/>
            </a:avLst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714838" y="1752600"/>
            <a:ext cx="4096161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结果：学习不充分，性能瓶颈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013700" y="2286000"/>
            <a:ext cx="3606800" cy="4064000"/>
          </a:xfrm>
          <a:prstGeom prst="roundRect">
            <a:avLst>
              <a:gd name="adj" fmla="val 5633"/>
            </a:avLst>
          </a:prstGeom>
          <a:solidFill>
            <a:srgbClr val="FFF1F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13700" y="2654994"/>
            <a:ext cx="343028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16666"/>
              </a:lnSpc>
              <a:spcBef>
                <a:spcPts val="500"/>
              </a:spcBef>
              <a:defRPr/>
            </a:pPr>
            <a:r>
              <a:rPr lang="en-US" sz="1500" b="1" i="0" u="none" strike="noStrike" dirty="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500" b="1" i="0" u="none" strike="noStrike" dirty="0" err="1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优化目标模糊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传统损失仅要求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S(正) - S(负) &gt; </a:t>
            </a: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margin。满足该条件的样本对可能有不同的区分度（如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(0.5,0.2) vs (0.8,0.5)），</a:t>
            </a: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导致算法收敛于次优解</a:t>
            </a: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2000"/>
              </a:spcBef>
            </a:pPr>
            <a:r>
              <a:rPr lang="en-US" sz="1500" b="1" i="0" u="none" strike="noStrike" dirty="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500" b="1" i="0" u="none" strike="noStrike" dirty="0" err="1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</a:t>
            </a:r>
            <a:r>
              <a:rPr lang="en-US" sz="1500" b="1" i="0" u="none" strike="noStrike" dirty="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 (Our Question)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如何在有效惩罚噪声正样本的同时，不削弱甚至增强对负样本的学习</a:t>
            </a:r>
            <a:r>
              <a:rPr lang="en-US" sz="13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3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39D2413-FBB5-AC31-A982-798FA0130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925" y="2197100"/>
            <a:ext cx="4213888" cy="2109667"/>
          </a:xfrm>
          <a:prstGeom prst="rect">
            <a:avLst/>
          </a:prstGeom>
        </p:spPr>
      </p:pic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6B2AD529-E864-B22E-1F2F-74B4A21DC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08907"/>
              </p:ext>
            </p:extLst>
          </p:nvPr>
        </p:nvGraphicFramePr>
        <p:xfrm>
          <a:off x="3558925" y="4978400"/>
          <a:ext cx="4454775" cy="1244600"/>
        </p:xfrm>
        <a:graphic>
          <a:graphicData uri="http://schemas.openxmlformats.org/drawingml/2006/table">
            <a:tbl>
              <a:tblPr/>
              <a:tblGrid>
                <a:gridCol w="1168304">
                  <a:extLst>
                    <a:ext uri="{9D8B030D-6E8A-4147-A177-3AD203B41FA5}">
                      <a16:colId xmlns:a16="http://schemas.microsoft.com/office/drawing/2014/main" val="3578047920"/>
                    </a:ext>
                  </a:extLst>
                </a:gridCol>
                <a:gridCol w="1122215">
                  <a:extLst>
                    <a:ext uri="{9D8B030D-6E8A-4147-A177-3AD203B41FA5}">
                      <a16:colId xmlns:a16="http://schemas.microsoft.com/office/drawing/2014/main" val="3622751404"/>
                    </a:ext>
                  </a:extLst>
                </a:gridCol>
                <a:gridCol w="1068766">
                  <a:extLst>
                    <a:ext uri="{9D8B030D-6E8A-4147-A177-3AD203B41FA5}">
                      <a16:colId xmlns:a16="http://schemas.microsoft.com/office/drawing/2014/main" val="2273813456"/>
                    </a:ext>
                  </a:extLst>
                </a:gridCol>
                <a:gridCol w="1095490">
                  <a:extLst>
                    <a:ext uri="{9D8B030D-6E8A-4147-A177-3AD203B41FA5}">
                      <a16:colId xmlns:a16="http://schemas.microsoft.com/office/drawing/2014/main" val="641945801"/>
                    </a:ext>
                  </a:extLst>
                </a:gridCol>
              </a:tblGrid>
              <a:tr h="500743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场景</a:t>
                      </a:r>
                    </a:p>
                  </a:txBody>
                  <a:tcPr marL="63500" marR="63500" marT="63500" marB="63500">
                    <a:lnL>
                      <a:solidFill>
                        <a:srgbClr val="1E2022"/>
                      </a:solidFill>
                      <a:prstDash val="soli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正样本相似度 </a:t>
                      </a:r>
                      <a:r>
                        <a:rPr lang="en-US" altLang="zh-CN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(AP)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负样本相似度 </a:t>
                      </a:r>
                      <a:r>
                        <a:rPr lang="en-US" altLang="zh-CN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en-US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AN)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差值 </a:t>
                      </a:r>
                      <a:r>
                        <a:rPr lang="en-US" altLang="zh-CN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(</a:t>
                      </a:r>
                      <a:r>
                        <a:rPr lang="en-US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AP - AN)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483211"/>
                  </a:ext>
                </a:extLst>
              </a:tr>
              <a:tr h="20470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状态</a:t>
                      </a:r>
                      <a:r>
                        <a:rPr lang="en-US" altLang="zh-CN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1</a:t>
                      </a:r>
                    </a:p>
                  </a:txBody>
                  <a:tcPr marL="63500" marR="63500" marT="63500" marB="63500">
                    <a:lnL>
                      <a:solidFill>
                        <a:srgbClr val="1E2022"/>
                      </a:solidFill>
                      <a:prstDash val="soli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0.5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0.2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0.3</a:t>
                      </a:r>
                      <a:endParaRPr lang="zh-CN" altLang="en-US" dirty="0">
                        <a:solidFill>
                          <a:srgbClr val="1E2022"/>
                        </a:solidFill>
                        <a:effectLst/>
                        <a:latin typeface="inherit"/>
                      </a:endParaRP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868915"/>
                  </a:ext>
                </a:extLst>
              </a:tr>
              <a:tr h="204709"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zh-CN" altLang="en-US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状态</a:t>
                      </a:r>
                      <a:r>
                        <a:rPr lang="en-US" altLang="zh-CN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2</a:t>
                      </a:r>
                    </a:p>
                  </a:txBody>
                  <a:tcPr marL="63500" marR="63500" marT="63500" marB="63500">
                    <a:lnL>
                      <a:solidFill>
                        <a:srgbClr val="1E2022"/>
                      </a:solidFill>
                      <a:prstDash val="soli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0.8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0.5</a:t>
                      </a: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650"/>
                        </a:lnSpc>
                        <a:buNone/>
                      </a:pPr>
                      <a:r>
                        <a:rPr lang="en-US" altLang="zh-CN" b="1" dirty="0">
                          <a:solidFill>
                            <a:srgbClr val="1E2022"/>
                          </a:solidFill>
                          <a:effectLst/>
                          <a:latin typeface="inherit"/>
                        </a:rPr>
                        <a:t>0.3</a:t>
                      </a:r>
                      <a:endParaRPr lang="zh-CN" altLang="en-US" dirty="0">
                        <a:solidFill>
                          <a:srgbClr val="1E2022"/>
                        </a:solidFill>
                        <a:effectLst/>
                        <a:latin typeface="inherit"/>
                      </a:endParaRPr>
                    </a:p>
                  </a:txBody>
                  <a:tcPr marL="63500" marR="63500" marT="63500" marB="63500">
                    <a:lnL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solidFill>
                        <a:srgbClr val="1E2022"/>
                      </a:solidFill>
                      <a:prstDash val="solid"/>
                    </a:lnR>
                    <a:lnT w="4229" cap="flat" cmpd="sng" algn="ctr">
                      <a:solidFill>
                        <a:srgbClr val="1E20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1E202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886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1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dirty="0"/>
              <a:t>2</a:t>
            </a: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1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9728200" y="1778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33400" y="863600"/>
            <a:ext cx="11239500" cy="520700"/>
          </a:xfrm>
          <a:prstGeom prst="rect">
            <a:avLst/>
          </a:prstGeom>
          <a:solidFill>
            <a:srgbClr val="1C6299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方法总览：非对称相似性学习 (ASL)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" y="14986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核心思想：打破正负样本优化的对称性，实现对潜在噪声正样本的独立惩罚，同时保持对负样本的正常优化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57200" y="2222500"/>
            <a:ext cx="2794000" cy="3048000"/>
          </a:xfrm>
          <a:prstGeom prst="roundRect">
            <a:avLst>
              <a:gd name="adj" fmla="val 4545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70952" y="3302000"/>
            <a:ext cx="2794000" cy="18835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800" b="1" i="0" u="none" strike="noStrike" dirty="0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软边界计算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(Soft Boundary Computing)</a:t>
            </a:r>
          </a:p>
          <a:p>
            <a:pPr indent="0" algn="ctr">
              <a:lnSpc>
                <a:spcPct val="150000"/>
              </a:lnSpc>
              <a:spcAft>
                <a:spcPts val="1000"/>
              </a:spcAft>
              <a:defRPr/>
            </a:pPr>
            <a:endParaRPr lang="en-US" sz="1300" dirty="0">
              <a:solidFill>
                <a:srgbClr val="6B7280"/>
              </a:solidFill>
            </a:endParaRPr>
          </a:p>
          <a:p>
            <a:pPr>
              <a:lnSpc>
                <a:spcPct val="150000"/>
              </a:lnSpc>
              <a:spcAft>
                <a:spcPts val="1000"/>
              </a:spcAft>
              <a:defRPr/>
            </a:pPr>
            <a:r>
              <a:rPr lang="zh-CN" altLang="en-US" sz="1200" dirty="0"/>
              <a:t>利用</a:t>
            </a:r>
            <a:r>
              <a:rPr lang="en-US" altLang="zh-CN" sz="1200" dirty="0"/>
              <a:t>VBGMM</a:t>
            </a:r>
            <a:r>
              <a:rPr lang="zh-CN" altLang="en-US" sz="1200" dirty="0"/>
              <a:t>（</a:t>
            </a:r>
            <a:r>
              <a:rPr lang="en-US" altLang="zh-CN" sz="1200" b="1" dirty="0"/>
              <a:t>Variational Bayesian Gaussian Mixture Modeling</a:t>
            </a:r>
            <a:r>
              <a:rPr lang="zh-CN" altLang="en-US" sz="1200" dirty="0"/>
              <a:t>）对每样本损失的分布进行建模以估计其标签，然后利用估计的标签计算每样本的优化边界</a:t>
            </a:r>
            <a:endParaRPr lang="en-US" sz="1200" dirty="0">
              <a:solidFill>
                <a:srgbClr val="6B7280"/>
              </a:solidFill>
            </a:endParaRPr>
          </a:p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endParaRPr lang="en-US" sz="1300" dirty="0">
              <a:solidFill>
                <a:srgbClr val="6B7280"/>
              </a:solidFill>
            </a:endParaRPr>
          </a:p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endParaRPr lang="en-US" sz="1300" dirty="0">
              <a:solidFill>
                <a:srgbClr val="6B7280"/>
              </a:solidFill>
            </a:endParaRPr>
          </a:p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endParaRPr lang="en-US" sz="1300" dirty="0">
              <a:solidFill>
                <a:srgbClr val="6B7280"/>
              </a:solidFill>
            </a:endParaRPr>
          </a:p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endParaRPr lang="en-US" sz="1100" dirty="0"/>
          </a:p>
          <a:p>
            <a:pPr indent="0" algn="just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872766" y="2324100"/>
            <a:ext cx="2717800" cy="2889250"/>
          </a:xfrm>
          <a:prstGeom prst="roundRect">
            <a:avLst>
              <a:gd name="adj" fmla="val 4545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961666" y="2019300"/>
            <a:ext cx="2540000" cy="267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800" b="1" i="0" u="none" strike="noStrike" dirty="0">
                <a:solidFill>
                  <a:srgbClr val="5C307D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5C307D"/>
                </a:solidFill>
                <a:latin typeface="Noto Sans SC"/>
                <a:ea typeface="Noto Sans SC"/>
                <a:cs typeface="Noto Sans SC"/>
                <a:sym typeface="Noto Sans SC"/>
              </a:rPr>
              <a:t>非对称相似性学习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(Asymmetric Similarity Learning)</a:t>
            </a:r>
            <a:endParaRPr lang="en-US" sz="1100" dirty="0"/>
          </a:p>
          <a:p>
            <a:pPr indent="0" algn="just">
              <a:lnSpc>
                <a:spcPct val="108333"/>
              </a:lnSpc>
            </a:pPr>
            <a:endParaRPr lang="en-US" sz="12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just">
              <a:lnSpc>
                <a:spcPct val="108333"/>
              </a:lnSpc>
            </a:pPr>
            <a:endParaRPr lang="en-US" sz="12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just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使用设计的</a:t>
            </a:r>
            <a:r>
              <a:rPr lang="en-US" sz="1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非对称动态匹配损失</a:t>
            </a:r>
            <a:r>
              <a:rPr lang="en-US" sz="1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(Asymmetric Dynamic Matching Loss)</a:t>
            </a:r>
            <a:r>
              <a:rPr lang="en-US" sz="12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2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实现对正负样本的独立、解耦优化，精准处理噪声干扰</a:t>
            </a:r>
            <a:r>
              <a:rPr lang="en-US" sz="12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3400" y="558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33400" y="657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0" y="657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29B6329-FB47-041F-8FAB-942F612A0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52" y="2324100"/>
            <a:ext cx="5474872" cy="24868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762000"/>
            <a:ext cx="110871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241300"/>
            <a:ext cx="673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6578600"/>
            <a:ext cx="19431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9728200" y="1778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96900" y="6578600"/>
            <a:ext cx="2032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知行合一、经世致用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0" y="6578600"/>
            <a:ext cx="24892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016000" y="127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/>
              <a:t>传统对称损失</a:t>
            </a:r>
            <a:r>
              <a:rPr lang="en-US" altLang="zh-CN" sz="2800" b="1" dirty="0"/>
              <a:t>VS</a:t>
            </a:r>
            <a:r>
              <a:rPr lang="zh-CN" altLang="en-US" sz="2800" b="1" dirty="0"/>
              <a:t>非对称损失</a:t>
            </a:r>
            <a:endParaRPr lang="en-US" sz="2800" b="1" dirty="0"/>
          </a:p>
        </p:txBody>
      </p:sp>
      <p:sp>
        <p:nvSpPr>
          <p:cNvPr id="13" name="AutoShape 13"/>
          <p:cNvSpPr/>
          <p:nvPr/>
        </p:nvSpPr>
        <p:spPr>
          <a:xfrm>
            <a:off x="762000" y="1524000"/>
            <a:ext cx="4826000" cy="2286000"/>
          </a:xfrm>
          <a:prstGeom prst="roundRect">
            <a:avLst>
              <a:gd name="adj" fmla="val 5555"/>
            </a:avLst>
          </a:prstGeom>
          <a:solidFill>
            <a:srgbClr val="F2F2F2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165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传统对称损失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016000" y="21590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Anchor (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锚点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) ←── Margin (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固定边界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) ──→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Positive (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正样本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) Negative (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负样本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C83232"/>
                </a:solidFill>
                <a:latin typeface="微软雅黑"/>
                <a:ea typeface="微软雅黑"/>
                <a:cs typeface="微软雅黑"/>
                <a:sym typeface="微软雅黑"/>
              </a:rPr>
              <a:t>❌ </a:t>
            </a:r>
            <a:r>
              <a:rPr lang="en-US" sz="1400" b="0" i="0" u="none" strike="noStrike" dirty="0" err="1">
                <a:solidFill>
                  <a:srgbClr val="C83232"/>
                </a:solidFill>
                <a:latin typeface="微软雅黑"/>
                <a:ea typeface="微软雅黑"/>
                <a:cs typeface="微软雅黑"/>
                <a:sym typeface="微软雅黑"/>
              </a:rPr>
              <a:t>惩罚噪声正样本时，负样本也受牵连</a:t>
            </a:r>
            <a:endParaRPr lang="en-US" sz="1400" b="0" i="0" u="none" strike="noStrike" dirty="0">
              <a:solidFill>
                <a:srgbClr val="C8323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4826000" cy="2286000"/>
          </a:xfrm>
          <a:prstGeom prst="roundRect">
            <a:avLst>
              <a:gd name="adj" fmla="val 5555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1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非对称</a:t>
            </a:r>
            <a:r>
              <a:rPr lang="zh-CN" altLang="en-US" sz="16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损失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16000" y="48260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Anchor (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锚点</a:t>
            </a:r>
            <a:r>
              <a:rPr lang="en-US" sz="14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↑ Push Up (&gt;0.8) ↓ Push Down (&lt;0.2)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Positive (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正样本</a:t>
            </a:r>
            <a:r>
              <a:rPr lang="en-US" sz="14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) Negative (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负样本</a:t>
            </a:r>
            <a:r>
              <a:rPr lang="en-US" sz="14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)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228B22"/>
                </a:solidFill>
                <a:latin typeface="微软雅黑"/>
                <a:ea typeface="微软雅黑"/>
                <a:cs typeface="微软雅黑"/>
                <a:sym typeface="微软雅黑"/>
              </a:rPr>
              <a:t>✅ </a:t>
            </a:r>
            <a:r>
              <a:rPr lang="en-US" sz="1400" b="0" i="0" u="none" strike="noStrike" dirty="0" err="1">
                <a:solidFill>
                  <a:srgbClr val="228B22"/>
                </a:solidFill>
                <a:latin typeface="微软雅黑"/>
                <a:ea typeface="微软雅黑"/>
                <a:cs typeface="微软雅黑"/>
                <a:sym typeface="微软雅黑"/>
              </a:rPr>
              <a:t>正负样本目标独立，互不干扰</a:t>
            </a:r>
            <a:endParaRPr lang="en-US" sz="1400" b="0" i="0" u="none" strike="noStrike" dirty="0">
              <a:solidFill>
                <a:srgbClr val="228B22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96000" y="1524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096000" y="22860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1" i="0" u="none" strike="noStrike" dirty="0">
                <a:solidFill>
                  <a:srgbClr val="C83232"/>
                </a:solidFill>
                <a:latin typeface="微软雅黑"/>
                <a:ea typeface="微软雅黑"/>
                <a:cs typeface="微软雅黑"/>
                <a:sym typeface="微软雅黑"/>
              </a:rPr>
              <a:t>1. </a:t>
            </a:r>
            <a:r>
              <a:rPr lang="en-US" sz="1500" b="1" i="0" u="none" strike="noStrike" dirty="0" err="1">
                <a:solidFill>
                  <a:srgbClr val="C83232"/>
                </a:solidFill>
                <a:latin typeface="微软雅黑"/>
                <a:ea typeface="微软雅黑"/>
                <a:cs typeface="微软雅黑"/>
                <a:sym typeface="微软雅黑"/>
              </a:rPr>
              <a:t>传统方法的痛点</a:t>
            </a:r>
            <a:r>
              <a:rPr lang="en-US" sz="1500" b="1" i="0" u="none" strike="noStrike" dirty="0">
                <a:solidFill>
                  <a:srgbClr val="C83232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5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共享单一优化边界（Margin</a:t>
            </a:r>
            <a:r>
              <a:rPr lang="en-US" sz="15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），导致惩罚噪声正样本时，负样本也“</a:t>
            </a:r>
            <a:r>
              <a:rPr lang="en-US" sz="15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躺枪</a:t>
            </a:r>
            <a:r>
              <a:rPr lang="en-US" sz="15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”，</a:t>
            </a:r>
            <a:r>
              <a:rPr lang="en-US" sz="15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优化不充分</a:t>
            </a:r>
            <a:r>
              <a:rPr lang="en-US" sz="15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096000" y="3937000"/>
            <a:ext cx="533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1" i="0" u="none" strike="noStrike" dirty="0">
                <a:solidFill>
                  <a:srgbClr val="228B22"/>
                </a:solidFill>
                <a:latin typeface="微软雅黑"/>
                <a:ea typeface="微软雅黑"/>
                <a:cs typeface="微软雅黑"/>
                <a:sym typeface="微软雅黑"/>
              </a:rPr>
              <a:t>2. </a:t>
            </a:r>
            <a:r>
              <a:rPr lang="en-US" sz="1500" b="1" i="0" u="none" strike="noStrike" dirty="0" err="1">
                <a:solidFill>
                  <a:srgbClr val="228B22"/>
                </a:solidFill>
                <a:latin typeface="微软雅黑"/>
                <a:ea typeface="微软雅黑"/>
                <a:cs typeface="微软雅黑"/>
                <a:sym typeface="微软雅黑"/>
              </a:rPr>
              <a:t>我们的解决方案</a:t>
            </a:r>
            <a:r>
              <a:rPr lang="en-US" sz="1500" b="1" i="0" u="none" strike="noStrike" dirty="0">
                <a:solidFill>
                  <a:srgbClr val="228B22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500" b="0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500" b="0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独立目标：</a:t>
            </a:r>
            <a:r>
              <a:rPr lang="en-US" sz="15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正负样本设定不同相似度目标</a:t>
            </a:r>
            <a:r>
              <a:rPr lang="en-US" sz="15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 (</a:t>
            </a:r>
            <a:r>
              <a:rPr lang="en-US" sz="15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如正</a:t>
            </a:r>
            <a:r>
              <a:rPr lang="en-US" sz="15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&gt;0.8，负&lt;0.2)。</a:t>
            </a:r>
          </a:p>
          <a:p>
            <a:pPr>
              <a:lnSpc>
                <a:spcPct val="116666"/>
              </a:lnSpc>
            </a:pPr>
            <a:r>
              <a:rPr lang="en-US" sz="1500" b="0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• </a:t>
            </a:r>
            <a:r>
              <a:rPr lang="en-US" sz="1500" b="0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精准惩罚</a:t>
            </a:r>
            <a:r>
              <a:rPr lang="en-US" sz="1500" b="0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150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对潜在噪声正样本进行软抑制，降低其作为强正样本的优化影响。</a:t>
            </a:r>
            <a:endParaRPr lang="en-US" sz="15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65200" y="25400"/>
            <a:ext cx="82804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b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关键技术：基于</a:t>
            </a:r>
            <a:r>
              <a:rPr lang="en-US" sz="2600" b="1" i="0" u="none" strike="noStrike">
                <a:solidFill>
                  <a:srgbClr val="1C62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VBGMM</a:t>
            </a:r>
            <a:r>
              <a:rPr lang="en-US" sz="2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的软标签估计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660400" y="762000"/>
            <a:ext cx="110871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22300" y="1117600"/>
            <a:ext cx="3073400" cy="495300"/>
          </a:xfrm>
          <a:prstGeom prst="homePlate">
            <a:avLst>
              <a:gd name="adj" fmla="val 50000"/>
            </a:avLst>
          </a:prstGeom>
          <a:solidFill>
            <a:srgbClr val="0070C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核心目的 &amp; 记忆效应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" y="1778000"/>
            <a:ext cx="5334000" cy="243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6666"/>
              </a:lnSpc>
              <a:spcBef>
                <a:spcPts val="600"/>
              </a:spcBef>
              <a:defRPr/>
            </a:pPr>
            <a:r>
              <a:rPr lang="en-US" sz="16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核心目的：</a:t>
            </a:r>
            <a:r>
              <a:rPr lang="en-US" sz="1500" b="0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准确区分训练数据中的“干净”样本与“噪声”样本，为后续模型优化提供高质量输入</a:t>
            </a:r>
            <a:r>
              <a:rPr lang="en-US" sz="15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利用</a:t>
            </a:r>
            <a:r>
              <a:rPr lang="en-US" sz="16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DNN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的“记忆效应</a:t>
            </a:r>
            <a:r>
              <a:rPr lang="en-US" sz="16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”：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在训练初期（Warm-up阶段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），模型倾向于先拟合语义对齐、特征明显的</a:t>
            </a:r>
            <a:r>
              <a:rPr lang="en-US" sz="1300" b="1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“</a:t>
            </a:r>
            <a:r>
              <a:rPr lang="en-US" sz="1300" b="1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干净样本</a:t>
            </a:r>
            <a:r>
              <a:rPr lang="en-US" sz="1300" b="1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”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因此，</a:t>
            </a:r>
            <a:r>
              <a:rPr lang="en-US" sz="1300" b="1" i="0" u="none" strike="noStrike" dirty="0" err="1">
                <a:solidFill>
                  <a:srgbClr val="D93025"/>
                </a:solidFill>
                <a:latin typeface="微软雅黑"/>
                <a:ea typeface="微软雅黑"/>
                <a:cs typeface="微软雅黑"/>
                <a:sym typeface="微软雅黑"/>
              </a:rPr>
              <a:t>干净样本的损失值显著低于噪声样本</a:t>
            </a:r>
            <a:r>
              <a:rPr lang="en-US" sz="1300" b="0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，为后续聚类提供了可区分的分布特征</a:t>
            </a:r>
            <a:r>
              <a:rPr lang="en-US" sz="1300" b="0" i="0" u="none" strike="noStrike" dirty="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334000" cy="2438400"/>
          </a:xfrm>
          <a:prstGeom prst="roundRect">
            <a:avLst>
              <a:gd name="adj" fmla="val 5208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1C62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1905000"/>
            <a:ext cx="5080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62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Distribution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“干净样本”簇 (Low Loss)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3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“噪声样本”簇 (High Loss)</a:t>
            </a:r>
          </a:p>
          <a:p>
            <a:pPr indent="0" algn="ctr">
              <a:lnSpc>
                <a:spcPct val="133333"/>
              </a:lnSpc>
            </a:pPr>
            <a:r>
              <a:rPr lang="en-US" sz="1200" b="0" i="0" u="none" strike="noStrike">
                <a:solidFill>
                  <a:srgbClr val="787878"/>
                </a:solidFill>
                <a:latin typeface="微软雅黑"/>
                <a:ea typeface="微软雅黑"/>
                <a:cs typeface="微软雅黑"/>
                <a:sym typeface="微软雅黑"/>
              </a:rPr>
              <a:t>通过聚类算法将损失值划分为两个分布，计算样本属于“干净簇”的概率即为</a:t>
            </a:r>
            <a:r>
              <a:rPr lang="en-US" sz="1200" b="1" i="0" u="none" strike="noStrike">
                <a:solidFill>
                  <a:srgbClr val="787878"/>
                </a:solidFill>
                <a:latin typeface="微软雅黑"/>
                <a:ea typeface="微软雅黑"/>
                <a:cs typeface="微软雅黑"/>
                <a:sym typeface="微软雅黑"/>
              </a:rPr>
              <a:t>软标签 ŷᵢ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33400" y="4381500"/>
            <a:ext cx="3302000" cy="495300"/>
          </a:xfrm>
          <a:prstGeom prst="homePlate">
            <a:avLst>
              <a:gd name="adj" fmla="val 50000"/>
            </a:avLst>
          </a:prstGeom>
          <a:solidFill>
            <a:srgbClr val="5C30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为什么选择 VBGMM？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3400" y="5080000"/>
            <a:ext cx="11176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190500" indent="-190500" algn="l">
              <a:lnSpc>
                <a:spcPct val="108333"/>
              </a:lnSpc>
              <a:buClr>
                <a:srgbClr val="1C6299"/>
              </a:buClr>
              <a:buFont typeface="Wingdings"/>
              <a:buChar char="u"/>
              <a:defRPr/>
            </a:pPr>
            <a:r>
              <a:rPr lang="en-US" sz="15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引入先验，增强鲁棒性：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结合贝叶斯推断与参数先验分布，避免模型被噪声数据干扰，在小样本和分布不平衡场景下表现更稳定</a:t>
            </a:r>
            <a:r>
              <a:rPr lang="en-US" sz="1400" b="0" i="0" u="none" strike="noStrike" dirty="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  <a:p>
            <a:pPr marL="190500" indent="-190500" algn="l">
              <a:lnSpc>
                <a:spcPct val="108333"/>
              </a:lnSpc>
              <a:buClr>
                <a:srgbClr val="1C6299"/>
              </a:buClr>
              <a:buFont typeface="Wingdings"/>
              <a:buChar char="u"/>
            </a:pPr>
            <a:r>
              <a:rPr lang="en-US" sz="15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r>
              <a:rPr lang="en-US" sz="15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更可靠的概率密度估计：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有效量化模型参数的不确定性，比传统</a:t>
            </a:r>
            <a:r>
              <a:rPr lang="en-US" sz="1400" b="0" i="0" u="none" strike="noStrike" dirty="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 GMM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更精准地拟合损失分布，划分“干净”与“噪声”簇</a:t>
            </a:r>
            <a:r>
              <a:rPr lang="en-US" sz="1400" b="0" i="0" u="none" strike="noStrike" dirty="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marL="190500" indent="-190500" algn="l">
              <a:lnSpc>
                <a:spcPct val="108333"/>
              </a:lnSpc>
              <a:buClr>
                <a:srgbClr val="1C6299"/>
              </a:buClr>
              <a:buFont typeface="Wingdings"/>
              <a:buChar char="u"/>
            </a:pPr>
            <a:r>
              <a:rPr lang="en-US" sz="15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计算“软标签</a:t>
            </a:r>
            <a:r>
              <a:rPr lang="en-US" sz="15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” ŷᵢ：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通过后验概率计算每个样本属于“干净簇”的置信度，作为动态权重参与后续模型训练，实现噪声样本的“软过滤</a:t>
            </a:r>
            <a:r>
              <a:rPr lang="en-US" sz="1400" b="0" i="0" u="none" strike="noStrike" dirty="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”。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96900" y="6578600"/>
            <a:ext cx="2286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0" rtlCol="0" anchor="t" anchorCtr="0"/>
          <a:lstStyle/>
          <a:p>
            <a:pPr indent="0" algn="l">
              <a:lnSpc>
                <a:spcPct val="83333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0" y="6578600"/>
            <a:ext cx="2794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0" rtlCol="0" anchor="t" anchorCtr="0"/>
          <a:lstStyle/>
          <a:p>
            <a:pPr indent="0" algn="r">
              <a:lnSpc>
                <a:spcPct val="83333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762000"/>
            <a:ext cx="110871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33400" y="863600"/>
            <a:ext cx="11239500" cy="5207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FFCC00"/>
                </a:solidFill>
                <a:latin typeface="等线"/>
                <a:ea typeface="等线"/>
                <a:cs typeface="等线"/>
                <a:sym typeface="等线"/>
              </a:rPr>
              <a:t>▍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从软标签到动态边界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96900" y="6578600"/>
            <a:ext cx="2286000" cy="241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83333"/>
              </a:lnSpc>
              <a:defRPr/>
            </a:pPr>
            <a:r>
              <a:rPr lang="en-US" sz="1200" b="0" i="0" u="none" strike="noStrike" spc="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1778000"/>
            <a:ext cx="3556000" cy="4572000"/>
          </a:xfrm>
          <a:prstGeom prst="roundRect">
            <a:avLst>
              <a:gd name="adj" fmla="val 357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08000" y="1778000"/>
            <a:ext cx="3556000" cy="635000"/>
          </a:xfrm>
          <a:prstGeom prst="roundRect">
            <a:avLst>
              <a:gd name="adj" fmla="val 2000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8000" y="1778000"/>
            <a:ext cx="355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软标签 (Soft Label)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" y="2667000"/>
            <a:ext cx="3302000" cy="355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13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3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定义与计算</a:t>
            </a:r>
            <a:b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VBGMM (</a:t>
            </a: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变分贝叶斯高斯混合模型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计算每个样本的“软标签”</a:t>
            </a:r>
            <a:r>
              <a:rPr lang="en-US" sz="1300" b="0" i="1" u="none" strike="noStrik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ŷ_i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200" dirty="0"/>
              <a:t>其取值范围为 </a:t>
            </a:r>
            <a:r>
              <a:rPr lang="en-US" altLang="zh-CN" sz="1200" dirty="0"/>
              <a:t>[0,1]</a:t>
            </a:r>
            <a:endParaRPr lang="en-US" sz="1100" dirty="0"/>
          </a:p>
          <a:p>
            <a:pPr indent="0" algn="ctr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3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语义解读</a:t>
            </a:r>
            <a:r>
              <a:rPr lang="en-US" sz="13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 (Clean)</a:t>
            </a:r>
            <a:b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若</a:t>
            </a:r>
            <a:r>
              <a:rPr lang="en-US" sz="1300" b="0" i="1" u="none" strike="noStrik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ŷ_i</a:t>
            </a:r>
            <a:r>
              <a:rPr lang="en-US" sz="1300" b="0" i="1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≈ 1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，表示该样本被判定为高质量“干净”样本，可信度极高。</a:t>
            </a:r>
          </a:p>
          <a:p>
            <a:pPr indent="0" algn="ctr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 dirty="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300" b="1" i="0" u="none" strike="noStrike" dirty="0" err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语义解读</a:t>
            </a:r>
            <a:r>
              <a:rPr lang="en-US" sz="1300" b="1" i="0" u="none" strike="noStrike" dirty="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 (Noisy)</a:t>
            </a:r>
            <a:b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若</a:t>
            </a:r>
            <a:r>
              <a:rPr lang="en-US" sz="1300" b="0" i="1" u="none" strike="noStrike" dirty="0" err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ŷ_i</a:t>
            </a:r>
            <a:r>
              <a:rPr lang="en-US" sz="1300" b="0" i="1" u="none" strike="noStrik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≈ 0</a:t>
            </a:r>
            <a: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，表示该样本极大概率是“噪声”样本，不可靠。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445000" y="1778000"/>
            <a:ext cx="3302000" cy="4572000"/>
          </a:xfrm>
          <a:prstGeom prst="roundRect">
            <a:avLst>
              <a:gd name="adj" fmla="val 3846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CD34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45000" y="1778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45000" y="1778000"/>
            <a:ext cx="330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核心转换逻辑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2667000"/>
            <a:ext cx="3048000" cy="355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将概率值映射为优化边界</a:t>
            </a:r>
            <a:endParaRPr lang="en-US" sz="1100" dirty="0"/>
          </a:p>
          <a:p>
            <a:pPr indent="0" algn="ctr">
              <a:lnSpc>
                <a:spcPct val="125000"/>
              </a:lnSpc>
              <a:spcBef>
                <a:spcPts val="3000"/>
              </a:spcBef>
            </a:pPr>
            <a:r>
              <a:rPr lang="zh-CN" altLang="en-US" sz="1200" dirty="0"/>
              <a:t>通过带松弛因子 </a:t>
            </a:r>
            <a:r>
              <a:rPr lang="en-US" altLang="zh-CN" sz="1200" dirty="0"/>
              <a:t>z </a:t>
            </a:r>
            <a:r>
              <a:rPr lang="zh-CN" altLang="en-US" sz="1200" dirty="0"/>
              <a:t>的映射函数，将软标签 </a:t>
            </a:r>
            <a:r>
              <a:rPr lang="en-US" altLang="zh-CN" sz="1200" dirty="0"/>
              <a:t>ŷᵢ </a:t>
            </a:r>
            <a:r>
              <a:rPr lang="zh-CN" altLang="en-US" sz="1200" dirty="0"/>
              <a:t>转化为缩放系数 </a:t>
            </a:r>
            <a:r>
              <a:rPr lang="en-US" altLang="zh-CN" sz="1200" dirty="0"/>
              <a:t>σ</a:t>
            </a:r>
            <a:r>
              <a:rPr lang="zh-CN" altLang="en-US" sz="1200" dirty="0"/>
              <a:t>，再得到正样本的动态优化边界 </a:t>
            </a:r>
            <a:r>
              <a:rPr lang="en-US" altLang="zh-CN" sz="1200" dirty="0" err="1"/>
              <a:t>σU</a:t>
            </a:r>
            <a:r>
              <a:rPr lang="en-US" altLang="zh-CN" sz="1200" dirty="0"/>
              <a:t>ₚ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556000" cy="4572000"/>
          </a:xfrm>
          <a:prstGeom prst="roundRect">
            <a:avLst>
              <a:gd name="adj" fmla="val 357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556000" cy="635000"/>
          </a:xfrm>
          <a:prstGeom prst="roundRect">
            <a:avLst>
              <a:gd name="adj" fmla="val 2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1778000"/>
            <a:ext cx="355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动态边界 (Dynamic Boundary)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2667000"/>
            <a:ext cx="3302000" cy="355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13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300" b="1" i="0" u="none" strike="noStrike" dirty="0" err="1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场景一：针对干净样本</a:t>
            </a:r>
            <a:r>
              <a:rPr lang="en-US" sz="1300" b="1" i="0" u="none" strike="noStrike" dirty="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 (ŷᵢ ≈ 1)</a:t>
            </a:r>
            <a:b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/>
              <a:t>此时 </a:t>
            </a:r>
            <a:r>
              <a:rPr lang="en-US" altLang="zh-CN" sz="1200" dirty="0"/>
              <a:t>σ </a:t>
            </a:r>
            <a:r>
              <a:rPr lang="zh-CN" altLang="en-US" sz="1200" dirty="0"/>
              <a:t>接近 </a:t>
            </a:r>
            <a:r>
              <a:rPr lang="en-US" altLang="zh-CN" sz="1200" dirty="0"/>
              <a:t>1</a:t>
            </a:r>
            <a:r>
              <a:rPr lang="zh-CN" altLang="en-US" sz="1200" dirty="0"/>
              <a:t>，动态边界 </a:t>
            </a:r>
            <a:r>
              <a:rPr lang="en-US" altLang="zh-CN" sz="1200" dirty="0" err="1"/>
              <a:t>σU</a:t>
            </a:r>
            <a:r>
              <a:rPr lang="en-US" altLang="zh-CN" sz="1200" dirty="0"/>
              <a:t>ₚ </a:t>
            </a:r>
            <a:r>
              <a:rPr lang="zh-CN" altLang="en-US" sz="1200" dirty="0"/>
              <a:t>接近理想正样本边界 </a:t>
            </a:r>
            <a:r>
              <a:rPr lang="en-US" altLang="zh-CN" sz="1200" dirty="0"/>
              <a:t>Uₚ</a:t>
            </a:r>
            <a:r>
              <a:rPr lang="zh-CN" altLang="en-US" sz="1200" dirty="0"/>
              <a:t>。模型认为该图文对可信，因此保持较强的正样本优化，使其跨模态表示进一步对齐。</a:t>
            </a:r>
            <a:endParaRPr lang="en-US" altLang="zh-CN" sz="1200" dirty="0"/>
          </a:p>
          <a:p>
            <a:pPr indent="0" algn="ctr">
              <a:lnSpc>
                <a:spcPct val="116666"/>
              </a:lnSpc>
              <a:spcBef>
                <a:spcPts val="1000"/>
              </a:spcBef>
              <a:defRPr/>
            </a:pPr>
            <a:endParaRPr lang="en-US" altLang="zh-CN" sz="1200" dirty="0"/>
          </a:p>
          <a:p>
            <a:pPr indent="0" algn="ctr">
              <a:lnSpc>
                <a:spcPct val="116666"/>
              </a:lnSpc>
              <a:spcBef>
                <a:spcPts val="1000"/>
              </a:spcBef>
              <a:defRPr/>
            </a:pPr>
            <a:r>
              <a:rPr lang="en-US" sz="1300" b="1" i="0" u="none" strike="noStrike" dirty="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300" b="1" i="0" u="none" strike="noStrike" dirty="0" err="1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场景二：针对噪声样本</a:t>
            </a:r>
            <a:r>
              <a:rPr lang="en-US" sz="1300" b="1" i="0" u="none" strike="noStrike" dirty="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 (ŷᵢ ≈ 0)</a:t>
            </a:r>
            <a:br>
              <a:rPr lang="en-US" sz="13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sz="1200" dirty="0"/>
              <a:t>此时 </a:t>
            </a:r>
            <a:r>
              <a:rPr lang="en-US" altLang="zh-CN" sz="1200" dirty="0"/>
              <a:t>σ </a:t>
            </a:r>
            <a:r>
              <a:rPr lang="zh-CN" altLang="en-US" sz="1200" dirty="0"/>
              <a:t>接近 </a:t>
            </a:r>
            <a:r>
              <a:rPr lang="en-US" altLang="zh-CN" sz="1200" dirty="0"/>
              <a:t>0</a:t>
            </a:r>
            <a:r>
              <a:rPr lang="zh-CN" altLang="en-US" sz="1200" dirty="0"/>
              <a:t>，动态边界 </a:t>
            </a:r>
            <a:r>
              <a:rPr lang="en-US" altLang="zh-CN" sz="1200" dirty="0" err="1"/>
              <a:t>σU</a:t>
            </a:r>
            <a:r>
              <a:rPr lang="en-US" altLang="zh-CN" sz="1200" dirty="0"/>
              <a:t>ₚ </a:t>
            </a:r>
            <a:r>
              <a:rPr lang="zh-CN" altLang="en-US" sz="1200" dirty="0"/>
              <a:t>被降低。模型不再强行把该图文对作为高置信正样本拉近，从而减少错误匹配对跨模态表示空间的污染。</a:t>
            </a:r>
            <a:endParaRPr lang="en-US" sz="13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D326D67-FEA6-3D05-CA89-F19619A25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70" y="2806700"/>
            <a:ext cx="2925459" cy="666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1375" y="165100"/>
            <a:ext cx="469900" cy="469900"/>
          </a:xfrm>
          <a:prstGeom prst="ellipse">
            <a:avLst/>
          </a:prstGeom>
          <a:gradFill rotWithShape="1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1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9728200" y="1778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33400" y="863600"/>
            <a:ext cx="11239500" cy="5207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2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非对称动态损失匹配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33400" y="1498600"/>
            <a:ext cx="1117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在上一步计算得到动态边界 σU_p 后，我们引入非对称动态匹配损失，通过自适应权重机制对潜在噪声样本施加差异化惩罚。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" y="2413000"/>
            <a:ext cx="2540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2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0" y="2413000"/>
            <a:ext cx="2540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200" b="0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69565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33400" y="6578600"/>
            <a:ext cx="2540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0" y="65786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ASL Framework Analysis</a:t>
            </a:r>
            <a:endParaRPr lang="en-US" sz="110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7111691-FFC6-4AA2-91C8-BA702B6AD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200" y="5119485"/>
            <a:ext cx="3458058" cy="57158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D742EF8-459E-2C51-541B-803C38A29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139" y="5119485"/>
            <a:ext cx="3458058" cy="57158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D8868A6-794D-5CE6-83AC-5AC27F33B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5772190"/>
            <a:ext cx="3458058" cy="60015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66702CA-A699-CC34-509B-F3036179D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139" y="5772190"/>
            <a:ext cx="3458057" cy="58110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54E4533-6E1D-2AF9-9218-6BF011B5A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928" y="2970857"/>
            <a:ext cx="5131044" cy="208468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84D3DDA4-BF72-1C0F-3A1D-145676C105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9175" y="2994573"/>
            <a:ext cx="5051751" cy="204378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EE340C4-EF1B-5900-56F9-EF69F862A5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0983" y="2181702"/>
            <a:ext cx="6904067" cy="6581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A308-6D5B-AE0D-A0F6-3999F6C4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9C82981-2A46-9E33-3A39-415824E31EA3}"/>
              </a:ext>
            </a:extLst>
          </p:cNvPr>
          <p:cNvCxnSpPr/>
          <p:nvPr/>
        </p:nvCxnSpPr>
        <p:spPr>
          <a:xfrm>
            <a:off x="660400" y="762000"/>
            <a:ext cx="110871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7864D0FE-91CB-AE52-E2F9-F21CF57369CF}"/>
              </a:ext>
            </a:extLst>
          </p:cNvPr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32744D0-A159-E223-165D-8CDDCC889855}"/>
              </a:ext>
            </a:extLst>
          </p:cNvPr>
          <p:cNvSpPr/>
          <p:nvPr/>
        </p:nvSpPr>
        <p:spPr>
          <a:xfrm>
            <a:off x="254000" y="241300"/>
            <a:ext cx="673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E52F882-CBB8-1936-4889-A19C113CFE4D}"/>
              </a:ext>
            </a:extLst>
          </p:cNvPr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21A6090-6551-B2B7-7530-123BC01E5A4D}"/>
              </a:ext>
            </a:extLst>
          </p:cNvPr>
          <p:cNvSpPr/>
          <p:nvPr/>
        </p:nvSpPr>
        <p:spPr>
          <a:xfrm>
            <a:off x="660400" y="6578600"/>
            <a:ext cx="19431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E084E5A-0825-7BC4-432E-766A8C292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9728200" y="1778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C82B6688-E61D-C00B-DC19-415030FE1913}"/>
              </a:ext>
            </a:extLst>
          </p:cNvPr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7AF63A45-74D6-3DA5-19D0-6DB14D304E7E}"/>
              </a:ext>
            </a:extLst>
          </p:cNvPr>
          <p:cNvSpPr/>
          <p:nvPr/>
        </p:nvSpPr>
        <p:spPr>
          <a:xfrm>
            <a:off x="596900" y="6578600"/>
            <a:ext cx="2032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知行合一、经世致用</a:t>
            </a:r>
            <a:endParaRPr lang="en-US" sz="110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D2A41833-FD51-C91E-9A4C-BA91C70E0185}"/>
              </a:ext>
            </a:extLst>
          </p:cNvPr>
          <p:cNvSpPr/>
          <p:nvPr/>
        </p:nvSpPr>
        <p:spPr>
          <a:xfrm>
            <a:off x="9144000" y="6578600"/>
            <a:ext cx="24892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r">
              <a:lnSpc>
                <a:spcPct val="100000"/>
              </a:lnSpc>
              <a:defRPr/>
            </a:pPr>
            <a:endParaRPr lang="en-US" sz="1100" dirty="0"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E6B9E636-03F8-9823-EC6B-1C99E337A6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38300" y="2616200"/>
            <a:ext cx="1079500" cy="1079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30F5294E-7B57-6A2A-9850-2A2981DC772C}"/>
              </a:ext>
            </a:extLst>
          </p:cNvPr>
          <p:cNvSpPr/>
          <p:nvPr/>
        </p:nvSpPr>
        <p:spPr>
          <a:xfrm>
            <a:off x="3746500" y="1854200"/>
            <a:ext cx="1879600" cy="2603500"/>
          </a:xfrm>
          <a:prstGeom prst="roundRect">
            <a:avLst>
              <a:gd name="adj" fmla="val 7432"/>
            </a:avLst>
          </a:prstGeom>
          <a:solidFill>
            <a:srgbClr val="9DC3E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D8D1A71-3D8C-C9FA-B4F3-1ADBD120D898}"/>
              </a:ext>
            </a:extLst>
          </p:cNvPr>
          <p:cNvSpPr/>
          <p:nvPr/>
        </p:nvSpPr>
        <p:spPr>
          <a:xfrm>
            <a:off x="3784600" y="4127500"/>
            <a:ext cx="18796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动态优化逻辑</a:t>
            </a:r>
            <a:endParaRPr lang="en-US" sz="1100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8EA9218-CA6F-F930-13E8-2A4531CE294A}"/>
              </a:ext>
            </a:extLst>
          </p:cNvPr>
          <p:cNvSpPr/>
          <p:nvPr/>
        </p:nvSpPr>
        <p:spPr>
          <a:xfrm>
            <a:off x="4470400" y="2794000"/>
            <a:ext cx="3048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98BF2438-C3EB-3237-EA17-BB8B84118EA5}"/>
              </a:ext>
            </a:extLst>
          </p:cNvPr>
          <p:cNvSpPr/>
          <p:nvPr/>
        </p:nvSpPr>
        <p:spPr>
          <a:xfrm>
            <a:off x="3937000" y="3175000"/>
            <a:ext cx="508000" cy="228600"/>
          </a:xfrm>
          <a:prstGeom prst="roundRect">
            <a:avLst>
              <a:gd name="adj" fmla="val 0"/>
            </a:avLst>
          </a:prstGeom>
          <a:solidFill>
            <a:srgbClr val="E7F9F8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none" lIns="0" tIns="12700" rIns="0" bIns="127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m_p / m_n</a:t>
            </a:r>
            <a:endParaRPr lang="en-US" sz="11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ECA56AFA-DD51-36AB-D8BB-7A7CF5F6F7AD}"/>
              </a:ext>
            </a:extLst>
          </p:cNvPr>
          <p:cNvSpPr/>
          <p:nvPr/>
        </p:nvSpPr>
        <p:spPr>
          <a:xfrm>
            <a:off x="4953000" y="3175000"/>
            <a:ext cx="508000" cy="228600"/>
          </a:xfrm>
          <a:prstGeom prst="roundRect">
            <a:avLst>
              <a:gd name="adj" fmla="val 0"/>
            </a:avLst>
          </a:prstGeom>
          <a:solidFill>
            <a:srgbClr val="E7F9F8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12700" rIns="0" bIns="127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μ_p / μ_n</a:t>
            </a:r>
            <a:endParaRPr lang="en-US" sz="110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919A1D4A-EA72-BC8A-6C29-CA3E12DF4EE9}"/>
              </a:ext>
            </a:extLst>
          </p:cNvPr>
          <p:cNvSpPr/>
          <p:nvPr/>
        </p:nvSpPr>
        <p:spPr>
          <a:xfrm rot="5400000">
            <a:off x="4572000" y="3556000"/>
            <a:ext cx="228600" cy="1778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BC66FA72-BD03-A9E1-DE33-8A599DB68027}"/>
              </a:ext>
            </a:extLst>
          </p:cNvPr>
          <p:cNvSpPr/>
          <p:nvPr/>
        </p:nvSpPr>
        <p:spPr>
          <a:xfrm>
            <a:off x="4000500" y="2501900"/>
            <a:ext cx="330200" cy="266700"/>
          </a:xfrm>
          <a:prstGeom prst="roundRect">
            <a:avLst>
              <a:gd name="adj" fmla="val 0"/>
            </a:avLst>
          </a:prstGeom>
          <a:solidFill>
            <a:srgbClr val="FFC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83333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S_p</a:t>
            </a:r>
            <a:endParaRPr lang="en-US" sz="1100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7B71F729-DCC2-F1F4-C4A0-32E878358DD1}"/>
              </a:ext>
            </a:extLst>
          </p:cNvPr>
          <p:cNvSpPr/>
          <p:nvPr/>
        </p:nvSpPr>
        <p:spPr>
          <a:xfrm>
            <a:off x="4330700" y="2501900"/>
            <a:ext cx="330200" cy="266700"/>
          </a:xfrm>
          <a:prstGeom prst="roundRect">
            <a:avLst>
              <a:gd name="adj" fmla="val 0"/>
            </a:avLst>
          </a:prstGeom>
          <a:solidFill>
            <a:srgbClr val="FFC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83333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S_n</a:t>
            </a:r>
            <a:endParaRPr lang="en-US" sz="110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40FFE3D-E2C9-E217-F4A3-BE8E4AD8129A}"/>
              </a:ext>
            </a:extLst>
          </p:cNvPr>
          <p:cNvSpPr/>
          <p:nvPr/>
        </p:nvSpPr>
        <p:spPr>
          <a:xfrm>
            <a:off x="4660900" y="2501900"/>
            <a:ext cx="304800" cy="266700"/>
          </a:xfrm>
          <a:prstGeom prst="roundRect">
            <a:avLst>
              <a:gd name="adj" fmla="val 0"/>
            </a:avLst>
          </a:prstGeom>
          <a:solidFill>
            <a:srgbClr val="FFC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83333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endParaRPr lang="en-US" sz="110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DC22ACB5-9BB0-C859-F0D1-D1D42F2BE1CB}"/>
              </a:ext>
            </a:extLst>
          </p:cNvPr>
          <p:cNvSpPr/>
          <p:nvPr/>
        </p:nvSpPr>
        <p:spPr>
          <a:xfrm>
            <a:off x="4965700" y="2501900"/>
            <a:ext cx="330200" cy="266700"/>
          </a:xfrm>
          <a:prstGeom prst="roundRect">
            <a:avLst>
              <a:gd name="adj" fmla="val 0"/>
            </a:avLst>
          </a:prstGeom>
          <a:solidFill>
            <a:srgbClr val="FFC000">
              <a:alpha val="100000"/>
            </a:srgbClr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miter lim="10000000"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83333"/>
              </a:lnSpc>
              <a:defRPr/>
            </a:pPr>
            <a:r>
              <a:rPr lang="en-US" sz="12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endParaRPr lang="en-US" sz="1100"/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BE99063A-3709-3542-AC16-EA4EB67C1DFC}"/>
              </a:ext>
            </a:extLst>
          </p:cNvPr>
          <p:cNvSpPr/>
          <p:nvPr/>
        </p:nvSpPr>
        <p:spPr>
          <a:xfrm>
            <a:off x="3860800" y="2413000"/>
            <a:ext cx="1574800" cy="419100"/>
          </a:xfrm>
          <a:prstGeom prst="roundRect">
            <a:avLst>
              <a:gd name="adj" fmla="val 15151"/>
            </a:avLst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lg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5F6D8F20-FFF0-BCC8-9331-2A92E74D7BE3}"/>
              </a:ext>
            </a:extLst>
          </p:cNvPr>
          <p:cNvSpPr/>
          <p:nvPr/>
        </p:nvSpPr>
        <p:spPr>
          <a:xfrm>
            <a:off x="3746500" y="1854200"/>
            <a:ext cx="1879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Asymmetric Loss</a:t>
            </a:r>
            <a:endParaRPr lang="en-US" sz="1100"/>
          </a:p>
        </p:txBody>
      </p:sp>
      <p:cxnSp>
        <p:nvCxnSpPr>
          <p:cNvPr id="25" name="Connector 25">
            <a:extLst>
              <a:ext uri="{FF2B5EF4-FFF2-40B4-BE49-F238E27FC236}">
                <a16:creationId xmlns:a16="http://schemas.microsoft.com/office/drawing/2014/main" id="{C6D24C30-967F-5548-DDE0-3A5EB40D720A}"/>
              </a:ext>
            </a:extLst>
          </p:cNvPr>
          <p:cNvCxnSpPr/>
          <p:nvPr/>
        </p:nvCxnSpPr>
        <p:spPr>
          <a:xfrm rot="-42439">
            <a:off x="2717839" y="3155950"/>
            <a:ext cx="102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BF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26" name="Connector 26">
            <a:extLst>
              <a:ext uri="{FF2B5EF4-FFF2-40B4-BE49-F238E27FC236}">
                <a16:creationId xmlns:a16="http://schemas.microsoft.com/office/drawing/2014/main" id="{A05DF7EC-734C-87A4-D826-D6A54FACF222}"/>
              </a:ext>
            </a:extLst>
          </p:cNvPr>
          <p:cNvCxnSpPr/>
          <p:nvPr/>
        </p:nvCxnSpPr>
        <p:spPr>
          <a:xfrm rot="-60305">
            <a:off x="5626156" y="3155950"/>
            <a:ext cx="72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BF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27" name="AutoShape 27">
            <a:extLst>
              <a:ext uri="{FF2B5EF4-FFF2-40B4-BE49-F238E27FC236}">
                <a16:creationId xmlns:a16="http://schemas.microsoft.com/office/drawing/2014/main" id="{FF18A30B-60D5-4238-9599-DF8A579EA545}"/>
              </a:ext>
            </a:extLst>
          </p:cNvPr>
          <p:cNvSpPr/>
          <p:nvPr/>
        </p:nvSpPr>
        <p:spPr>
          <a:xfrm>
            <a:off x="6565900" y="2787650"/>
            <a:ext cx="1422400" cy="7366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12700" cap="flat" cmpd="sng">
            <a:solidFill>
              <a:srgbClr val="2F559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独立边界</a:t>
            </a:r>
            <a:endParaRPr lang="en-US" sz="1100" dirty="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b="0" i="0" u="none" strike="noStrik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m_p</a:t>
            </a:r>
            <a:r>
              <a:rPr lang="en-US" sz="1200" b="0" i="0" u="none" strike="noStrik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≠ </a:t>
            </a:r>
            <a:r>
              <a:rPr lang="en-US" sz="1200" b="0" i="0" u="none" strike="noStrik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m_n</a:t>
            </a:r>
            <a:r>
              <a:rPr lang="en-US" sz="1200" b="0" i="0" u="none" strike="noStrik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cxnSp>
        <p:nvCxnSpPr>
          <p:cNvPr id="28" name="Connector 28">
            <a:extLst>
              <a:ext uri="{FF2B5EF4-FFF2-40B4-BE49-F238E27FC236}">
                <a16:creationId xmlns:a16="http://schemas.microsoft.com/office/drawing/2014/main" id="{012554C9-DF56-5BC5-14F4-95681C06832F}"/>
              </a:ext>
            </a:extLst>
          </p:cNvPr>
          <p:cNvCxnSpPr/>
          <p:nvPr/>
        </p:nvCxnSpPr>
        <p:spPr>
          <a:xfrm rot="-60305">
            <a:off x="7759756" y="3155950"/>
            <a:ext cx="72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BF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29" name="AutoShape 29">
            <a:extLst>
              <a:ext uri="{FF2B5EF4-FFF2-40B4-BE49-F238E27FC236}">
                <a16:creationId xmlns:a16="http://schemas.microsoft.com/office/drawing/2014/main" id="{FE391F42-863D-4108-B4F0-188203A0DECF}"/>
              </a:ext>
            </a:extLst>
          </p:cNvPr>
          <p:cNvSpPr/>
          <p:nvPr/>
        </p:nvSpPr>
        <p:spPr>
          <a:xfrm>
            <a:off x="8470900" y="2565400"/>
            <a:ext cx="1549400" cy="1193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12700" cap="flat" cmpd="sng">
            <a:solidFill>
              <a:srgbClr val="2F559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自适应权重</a:t>
            </a: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(μ_p &amp; μ_n)</a:t>
            </a:r>
          </a:p>
        </p:txBody>
      </p:sp>
      <p:sp>
        <p:nvSpPr>
          <p:cNvPr id="30" name="AutoShape 30">
            <a:extLst>
              <a:ext uri="{FF2B5EF4-FFF2-40B4-BE49-F238E27FC236}">
                <a16:creationId xmlns:a16="http://schemas.microsoft.com/office/drawing/2014/main" id="{A429CF8F-525F-0236-4A57-335A07DCF811}"/>
              </a:ext>
            </a:extLst>
          </p:cNvPr>
          <p:cNvSpPr/>
          <p:nvPr/>
        </p:nvSpPr>
        <p:spPr>
          <a:xfrm>
            <a:off x="8483600" y="1701800"/>
            <a:ext cx="1536700" cy="4953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12700" cap="flat" cmpd="sng">
            <a:solidFill>
              <a:srgbClr val="2F559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解耦优化</a:t>
            </a:r>
            <a:endParaRPr lang="en-US" sz="1100"/>
          </a:p>
        </p:txBody>
      </p:sp>
      <p:cxnSp>
        <p:nvCxnSpPr>
          <p:cNvPr id="31" name="Connector 31">
            <a:extLst>
              <a:ext uri="{FF2B5EF4-FFF2-40B4-BE49-F238E27FC236}">
                <a16:creationId xmlns:a16="http://schemas.microsoft.com/office/drawing/2014/main" id="{F8B92C21-365D-693E-0B70-51377B6143A4}"/>
              </a:ext>
            </a:extLst>
          </p:cNvPr>
          <p:cNvCxnSpPr/>
          <p:nvPr/>
        </p:nvCxnSpPr>
        <p:spPr>
          <a:xfrm rot="-5510856">
            <a:off x="9048750" y="2374798"/>
            <a:ext cx="393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BF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32" name="AutoShape 32">
            <a:extLst>
              <a:ext uri="{FF2B5EF4-FFF2-40B4-BE49-F238E27FC236}">
                <a16:creationId xmlns:a16="http://schemas.microsoft.com/office/drawing/2014/main" id="{F1DAD281-837E-4A09-FA00-22202F7A8BAE}"/>
              </a:ext>
            </a:extLst>
          </p:cNvPr>
          <p:cNvSpPr/>
          <p:nvPr/>
        </p:nvSpPr>
        <p:spPr>
          <a:xfrm>
            <a:off x="5537200" y="2819400"/>
            <a:ext cx="1117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优化目标</a:t>
            </a:r>
            <a:endParaRPr lang="en-US" sz="1100"/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391B624F-CB81-AB70-D843-356BBF5469FF}"/>
              </a:ext>
            </a:extLst>
          </p:cNvPr>
          <p:cNvSpPr/>
          <p:nvPr/>
        </p:nvSpPr>
        <p:spPr>
          <a:xfrm>
            <a:off x="1371600" y="3695700"/>
            <a:ext cx="1600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输入样本对</a:t>
            </a:r>
            <a:endParaRPr lang="en-US" sz="1100"/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BA647BA2-E52B-E2F9-691F-A9BD895BF369}"/>
              </a:ext>
            </a:extLst>
          </p:cNvPr>
          <p:cNvSpPr/>
          <p:nvPr/>
        </p:nvSpPr>
        <p:spPr>
          <a:xfrm>
            <a:off x="4140200" y="1498600"/>
            <a:ext cx="139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Loss 架构</a:t>
            </a:r>
            <a:endParaRPr lang="en-US" sz="1100"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98F1DFCA-D1EF-476D-DCF7-72F670EE0375}"/>
              </a:ext>
            </a:extLst>
          </p:cNvPr>
          <p:cNvSpPr/>
          <p:nvPr/>
        </p:nvSpPr>
        <p:spPr>
          <a:xfrm>
            <a:off x="266700" y="4540250"/>
            <a:ext cx="5168900" cy="1346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▍</a:t>
            </a:r>
            <a:r>
              <a:rPr lang="en-US" sz="18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非对称损失公式</a:t>
            </a:r>
            <a:r>
              <a:rPr lang="en-US" sz="18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300" b="0" i="0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公式通过分别约束正、负样本的相似度</a:t>
            </a:r>
            <a:r>
              <a:rPr lang="en-US" sz="12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(S)</a:t>
            </a:r>
            <a:r>
              <a:rPr lang="en-US" sz="12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与目标边界</a:t>
            </a:r>
            <a:r>
              <a:rPr lang="en-US" sz="12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(m)</a:t>
            </a:r>
            <a:r>
              <a:rPr lang="en-US" sz="12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的距离，并引入自适应系数</a:t>
            </a:r>
            <a:r>
              <a:rPr lang="en-US" sz="12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(μ)</a:t>
            </a:r>
            <a:r>
              <a:rPr lang="en-US" sz="12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与缩放因子</a:t>
            </a:r>
            <a:r>
              <a:rPr lang="en-US" sz="12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(λ)，</a:t>
            </a:r>
            <a:r>
              <a:rPr lang="en-US" sz="12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实现对样本的精细化控制</a:t>
            </a:r>
            <a:r>
              <a:rPr lang="en-US" sz="12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971A7B6A-31A3-1DFC-3D00-C379DF86AB9B}"/>
              </a:ext>
            </a:extLst>
          </p:cNvPr>
          <p:cNvSpPr/>
          <p:nvPr/>
        </p:nvSpPr>
        <p:spPr>
          <a:xfrm>
            <a:off x="6578600" y="4343400"/>
            <a:ext cx="13589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关键机制</a:t>
            </a:r>
            <a:endParaRPr lang="en-US" sz="1100"/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E57F1395-129B-F165-E857-3EA93AD8E73C}"/>
              </a:ext>
            </a:extLst>
          </p:cNvPr>
          <p:cNvSpPr/>
          <p:nvPr/>
        </p:nvSpPr>
        <p:spPr>
          <a:xfrm>
            <a:off x="5715000" y="4826000"/>
            <a:ext cx="508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177800" indent="-177800" algn="l">
              <a:lnSpc>
                <a:spcPct val="116666"/>
              </a:lnSpc>
              <a:buClr>
                <a:srgbClr val="1C6299"/>
              </a:buClr>
              <a:buChar char="•"/>
              <a:defRPr/>
            </a:pPr>
            <a:r>
              <a:rPr lang="en-US" sz="14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独立边界</a:t>
            </a:r>
            <a:r>
              <a:rPr lang="en-US" sz="14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(</a:t>
            </a:r>
            <a:r>
              <a:rPr lang="en-US" sz="14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m_p</a:t>
            </a:r>
            <a:r>
              <a:rPr lang="en-US" sz="14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sz="14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m_n</a:t>
            </a:r>
            <a:r>
              <a:rPr lang="en-US" sz="14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)：</a:t>
            </a:r>
            <a:r>
              <a:rPr lang="en-US" sz="13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明确设定正样本相似度目标（如0.8）和负样本目标（如0.2），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解决传统对称边界的一刀切问题</a:t>
            </a:r>
            <a:r>
              <a:rPr lang="en-US" sz="13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  <a:p>
            <a:pPr marL="177800" indent="-177800">
              <a:lnSpc>
                <a:spcPct val="116666"/>
              </a:lnSpc>
              <a:buClr>
                <a:srgbClr val="1C6299"/>
              </a:buClr>
              <a:buChar char="•"/>
            </a:pPr>
            <a:r>
              <a:rPr lang="en-US" sz="14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自适应权重</a:t>
            </a:r>
            <a:r>
              <a:rPr lang="en-US" sz="14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 (</a:t>
            </a:r>
            <a:r>
              <a:rPr lang="en-US" sz="14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μ_p</a:t>
            </a:r>
            <a:r>
              <a:rPr lang="en-US" sz="14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, </a:t>
            </a:r>
            <a:r>
              <a:rPr lang="en-US" sz="1400" b="1" i="0" u="none" strike="noStrike" dirty="0" err="1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μ_n</a:t>
            </a:r>
            <a:r>
              <a:rPr lang="en-US" sz="1400" b="1" i="0" u="none" strike="noStrike" dirty="0">
                <a:solidFill>
                  <a:srgbClr val="1C6299"/>
                </a:solidFill>
                <a:latin typeface="微软雅黑"/>
                <a:ea typeface="微软雅黑"/>
                <a:cs typeface="微软雅黑"/>
                <a:sym typeface="微软雅黑"/>
              </a:rPr>
              <a:t>)：</a:t>
            </a:r>
            <a:r>
              <a:rPr lang="en-US" sz="1300" b="0" i="0" u="none" strike="noStrike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基于噪声检测动态调整权重</a:t>
            </a:r>
            <a:r>
              <a:rPr lang="en-US" sz="13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zh-CN" altLang="en-US" sz="13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对潜在噪声正样本进行软抑制，降低其作为强正样本的优化影响</a:t>
            </a:r>
            <a:r>
              <a:rPr lang="en-US" sz="1300" b="0" i="0" u="none" strike="noStrike" dirty="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6823D6A2-842D-93AE-75E7-48FECA773BF2}"/>
              </a:ext>
            </a:extLst>
          </p:cNvPr>
          <p:cNvSpPr/>
          <p:nvPr/>
        </p:nvSpPr>
        <p:spPr>
          <a:xfrm>
            <a:off x="965200" y="25400"/>
            <a:ext cx="82804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b" anchorCtr="0"/>
          <a:lstStyle/>
          <a:p>
            <a:pPr>
              <a:lnSpc>
                <a:spcPct val="91666"/>
              </a:lnSpc>
              <a:defRPr/>
            </a:pPr>
            <a:r>
              <a:rPr lang="zh-CN" altLang="en-US" sz="2800" dirty="0"/>
              <a:t>为什么 </a:t>
            </a:r>
            <a:r>
              <a:rPr lang="en-US" altLang="zh-CN" sz="2800" dirty="0"/>
              <a:t>ASL </a:t>
            </a:r>
            <a:r>
              <a:rPr lang="zh-CN" altLang="en-US" sz="2800" dirty="0"/>
              <a:t>能避免“抑制正样本时削弱负样本优化？”</a:t>
            </a:r>
            <a:endParaRPr lang="en-US" sz="1100" dirty="0"/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4E1A6C0E-7093-50A4-3508-BDC791680400}"/>
              </a:ext>
            </a:extLst>
          </p:cNvPr>
          <p:cNvSpPr/>
          <p:nvPr/>
        </p:nvSpPr>
        <p:spPr>
          <a:xfrm>
            <a:off x="558800" y="812800"/>
            <a:ext cx="11303000" cy="457200"/>
          </a:xfrm>
          <a:prstGeom prst="rect">
            <a:avLst/>
          </a:prstGeom>
          <a:solidFill>
            <a:srgbClr val="0070C0">
              <a:alpha val="100000"/>
            </a:srgbClr>
          </a:solidFill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核心设计：通过独立边界与自适应权重实现正负样本解耦优化</a:t>
            </a:r>
            <a:endParaRPr lang="en-US" sz="11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858C594B-C266-D8A5-7BA0-DA3D9A5F0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150" y="5340029"/>
            <a:ext cx="4610100" cy="10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06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7620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241300"/>
            <a:ext cx="673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96900" y="6578600"/>
            <a:ext cx="2032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0" rIns="88900" bIns="0" rtlCol="0" anchor="ctr" anchorCtr="0"/>
          <a:lstStyle/>
          <a:p>
            <a:pPr indent="0" algn="l">
              <a:lnSpc>
                <a:spcPct val="83333"/>
              </a:lnSpc>
              <a:defRPr/>
            </a:pPr>
            <a:r>
              <a:rPr lang="en-US" sz="1000" b="0" i="0" u="none" strike="noStrike" spc="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知行合一 经世致用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0" y="6578600"/>
            <a:ext cx="24892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0" rIns="88900" bIns="0" rtlCol="0" anchor="ctr" anchorCtr="0"/>
          <a:lstStyle/>
          <a:p>
            <a:pPr indent="0" algn="r">
              <a:lnSpc>
                <a:spcPct val="83333"/>
              </a:lnSpc>
              <a:defRPr/>
            </a:pP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>
            <a:off x="660400" y="762000"/>
            <a:ext cx="11201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10160000" y="1270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409700" y="1612900"/>
            <a:ext cx="9588500" cy="4127500"/>
          </a:xfrm>
          <a:prstGeom prst="roundRect">
            <a:avLst>
              <a:gd name="adj" fmla="val 7384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50800" dist="38100" dir="16200000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74800" y="1968500"/>
            <a:ext cx="9271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08333"/>
              </a:lnSpc>
              <a:spcBef>
                <a:spcPts val="500"/>
              </a:spcBef>
              <a:defRPr/>
            </a:pPr>
            <a:r>
              <a:rPr lang="en-US" sz="1600" b="1" i="0" u="none" strike="noStrike" dirty="0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01.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热身训练</a:t>
            </a:r>
            <a:r>
              <a:rPr lang="en-US" sz="1600" b="1" i="0" u="none" strike="noStrike" dirty="0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 (Warmup)：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使用标准的三元组损失训练模型数个epoch，收集每个样本的损失值，为后续步骤提供数据基础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02.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软标签估计：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将收集到的损失值输入变分贝叶斯高斯混合模型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(VBGMM)，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为每个样本计算出反映其置信度的软标签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ŷᵢ。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03.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动态边界计算：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基于得到的软标签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ŷᵢ，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为每一个正样本计算出动态优化边界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σU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ₚ，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以自适应不同样本的质量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08333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04.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非对称训练：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引入非对称动态匹配损失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lₐₛᵧ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并结合动态边界进行主训练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dirty="0"/>
              <a:t>对低置信度正样本进行自适应抑制，降低错误匹配对的优化影响，同时保持负样本的独立优化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600" b="1" i="0" u="none" strike="noStrike" dirty="0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05. </a:t>
            </a:r>
            <a:r>
              <a:rPr lang="en-US" sz="1600" b="1" i="0" u="none" strike="noStrike" dirty="0" err="1">
                <a:solidFill>
                  <a:srgbClr val="1C6299"/>
                </a:solidFill>
                <a:latin typeface="Inter"/>
                <a:ea typeface="Inter"/>
                <a:cs typeface="Inter"/>
                <a:sym typeface="Inter"/>
              </a:rPr>
              <a:t>双向匹配：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最终的损失函数整合了图像到文本与文本到图像两个方向的损失，以确保跨模态检索性能的一致性</a:t>
            </a:r>
            <a:endParaRPr lang="en-US" sz="14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2000" y="1308100"/>
            <a:ext cx="3048000" cy="533400"/>
          </a:xfrm>
          <a:prstGeom prst="roundRect">
            <a:avLst>
              <a:gd name="adj" fmla="val 5000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81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72000" y="1346200"/>
            <a:ext cx="3048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方法流程总结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7620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241300"/>
            <a:ext cx="673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SUMMARY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32794" y="65913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96900" y="6578600"/>
            <a:ext cx="2032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0" rIns="889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知行合一 经世致用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0" y="6578600"/>
            <a:ext cx="24892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0" rIns="88900" bIns="0" rtlCol="0" anchor="ctr" anchorCtr="0"/>
          <a:lstStyle/>
          <a:p>
            <a:pPr indent="0" algn="r">
              <a:lnSpc>
                <a:spcPct val="100000"/>
              </a:lnSpc>
              <a:defRPr/>
            </a:pP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>
            <a:off x="660400" y="762000"/>
            <a:ext cx="11201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10160000" y="1270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1409700" y="1612900"/>
            <a:ext cx="9588500" cy="4127500"/>
          </a:xfrm>
          <a:prstGeom prst="roundRect">
            <a:avLst>
              <a:gd name="adj" fmla="val 7384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74800" y="1968500"/>
            <a:ext cx="9271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08333"/>
              </a:lnSpc>
              <a:spcBef>
                <a:spcPts val="1000"/>
              </a:spcBef>
              <a:defRPr/>
            </a:pPr>
            <a:endParaRPr lang="en-US" sz="1800" b="1" i="0" u="none" strike="noStrike" dirty="0">
              <a:solidFill>
                <a:srgbClr val="1C629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1000"/>
              </a:spcBef>
              <a:defRPr/>
            </a:pPr>
            <a:r>
              <a:rPr lang="en-US" sz="1800" b="1" i="0" u="none" strike="noStrike" dirty="0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❖ </a:t>
            </a:r>
            <a:r>
              <a:rPr lang="en-US" sz="1800" b="1" i="0" u="none" strike="noStrike" dirty="0" err="1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核心贡献：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揭示了现有噪声对应关系纠正方法中，由对称优化范式导致的正负样本学习不充分问题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  <a:spcBef>
                <a:spcPts val="1500"/>
              </a:spcBef>
            </a:pPr>
            <a:endParaRPr lang="en-US" sz="1800" b="1" i="0" u="none" strike="noStrike" dirty="0">
              <a:solidFill>
                <a:srgbClr val="1C629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1500"/>
              </a:spcBef>
            </a:pPr>
            <a:endParaRPr lang="en-US" sz="1800" b="1" dirty="0">
              <a:solidFill>
                <a:srgbClr val="1C629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  <a:spcBef>
                <a:spcPts val="1500"/>
              </a:spcBef>
            </a:pPr>
            <a:r>
              <a:rPr lang="en-US" sz="1800" b="1" i="0" u="none" strike="noStrike" dirty="0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❖ </a:t>
            </a:r>
            <a:r>
              <a:rPr lang="en-US" sz="1800" b="1" i="0" u="none" strike="noStrike" dirty="0" err="1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提出名为</a:t>
            </a:r>
            <a:r>
              <a:rPr lang="en-US" sz="1400" b="1" i="0" u="none" strike="noStrike" dirty="0" err="1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ASL</a:t>
            </a:r>
            <a:r>
              <a:rPr lang="en-US" sz="1400" b="1" i="0" u="none" strike="noStrike" dirty="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 (Asymmetric Similarity Learning)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的新型噪声鲁棒学习框架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254000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sz="1200" dirty="0"/>
              <a:t>非对称学习：独立优化正负样本，对潜在噪声正样本进行自适应抑制，同时保持负样本的独立优化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VBGMM估计：引入变分贝叶斯策略建模样本损失分布，提升噪声识别准确率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156200" y="130810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0070C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130800" y="1346200"/>
            <a:ext cx="2120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0400" y="7620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3" name="AutoShape 3"/>
          <p:cNvSpPr/>
          <p:nvPr/>
        </p:nvSpPr>
        <p:spPr>
          <a:xfrm>
            <a:off x="381000" y="165100"/>
            <a:ext cx="469900" cy="4699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4000" y="241300"/>
            <a:ext cx="6731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03200" y="609600"/>
            <a:ext cx="177800" cy="177800"/>
          </a:xfrm>
          <a:prstGeom prst="ellipse">
            <a:avLst/>
          </a:prstGeom>
          <a:gradFill rotWithShape="0">
            <a:gsLst>
              <a:gs pos="0">
                <a:srgbClr val="1C6299">
                  <a:alpha val="100000"/>
                </a:srgbClr>
              </a:gs>
              <a:gs pos="100000">
                <a:srgbClr val="5C307D">
                  <a:alpha val="9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0400" y="6578600"/>
            <a:ext cx="19431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自强不息 厚德载物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565900"/>
            <a:ext cx="12192000" cy="2921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96900" y="6578600"/>
            <a:ext cx="2032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 spc="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知行合一、经世致用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0" y="6578600"/>
            <a:ext cx="24892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r">
              <a:lnSpc>
                <a:spcPct val="100000"/>
              </a:lnSpc>
              <a:defRPr/>
            </a:pP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>
            <a:off x="660400" y="762000"/>
            <a:ext cx="112014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C6299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353" r="353"/>
          <a:stretch>
            <a:fillRect/>
          </a:stretch>
        </p:blipFill>
        <p:spPr>
          <a:xfrm>
            <a:off x="10160000" y="127000"/>
            <a:ext cx="1892300" cy="558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409700" y="1612900"/>
            <a:ext cx="9588500" cy="4127500"/>
          </a:xfrm>
          <a:prstGeom prst="roundRect">
            <a:avLst>
              <a:gd name="adj" fmla="val 7384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485900" y="2032000"/>
            <a:ext cx="94234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algn="l">
              <a:lnSpc>
                <a:spcPct val="116666"/>
              </a:lnSpc>
              <a:spcBef>
                <a:spcPts val="800"/>
              </a:spcBef>
              <a:buClr>
                <a:srgbClr val="1C6299"/>
              </a:buClr>
              <a:defRPr/>
            </a:pPr>
            <a:r>
              <a:rPr lang="en-US" sz="1800" b="1" i="0" u="none" strike="noStrike" dirty="0" err="1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提出了一种新的学习范式：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首次构建了非对称学习范式来纠正噪声对应关系，有效解决了对称惩罚带来的学习不充分问题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algn="l">
              <a:lnSpc>
                <a:spcPct val="116666"/>
              </a:lnSpc>
              <a:spcBef>
                <a:spcPts val="800"/>
              </a:spcBef>
              <a:buClr>
                <a:srgbClr val="1C6299"/>
              </a:buClr>
              <a:defRPr/>
            </a:pPr>
            <a:endParaRPr lang="en-US" sz="1100" dirty="0"/>
          </a:p>
          <a:p>
            <a:pPr algn="l">
              <a:lnSpc>
                <a:spcPct val="116666"/>
              </a:lnSpc>
              <a:spcBef>
                <a:spcPts val="1200"/>
              </a:spcBef>
              <a:buClr>
                <a:srgbClr val="1C6299"/>
              </a:buClr>
            </a:pPr>
            <a:r>
              <a:rPr lang="en-US" sz="1800" b="1" i="0" u="none" strike="noStrike" dirty="0" err="1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改进了噪声识别方法：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引入VBGMM来建模样本损失分布，相比传统GMM，能更可靠地估计样本的“干净”概率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algn="l">
              <a:lnSpc>
                <a:spcPct val="116666"/>
              </a:lnSpc>
              <a:spcBef>
                <a:spcPts val="1200"/>
              </a:spcBef>
              <a:buClr>
                <a:srgbClr val="1C6299"/>
              </a:buClr>
            </a:pPr>
            <a:endParaRPr lang="en-US" sz="16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algn="l">
              <a:lnSpc>
                <a:spcPct val="116666"/>
              </a:lnSpc>
              <a:spcBef>
                <a:spcPts val="1200"/>
              </a:spcBef>
              <a:buClr>
                <a:srgbClr val="1C6299"/>
              </a:buClr>
            </a:pPr>
            <a:r>
              <a:rPr lang="en-US" sz="1800" b="1" i="0" u="none" strike="noStrike" dirty="0" err="1">
                <a:solidFill>
                  <a:srgbClr val="1C629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设计了新的损失函数：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提出了非对称动态匹配损失，能够独立地调节正负样本的优化过程，最大化利用监督信号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572000" y="1308100"/>
            <a:ext cx="3048000" cy="533400"/>
          </a:xfrm>
          <a:prstGeom prst="roundRect">
            <a:avLst>
              <a:gd name="adj" fmla="val 50000"/>
            </a:avLst>
          </a:prstGeom>
          <a:solidFill>
            <a:srgbClr val="0070C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72000" y="1346200"/>
            <a:ext cx="30480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主要贡献总结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>
              <a:alpha val="100000"/>
            </a:srgbClr>
          </a:fgClr>
          <a:bgClr>
            <a:srgbClr val="FFFFFF">
              <a:alpha val="100000"/>
            </a:srgb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486" b="486"/>
          <a:stretch>
            <a:fillRect/>
          </a:stretch>
        </p:blipFill>
        <p:spPr>
          <a:xfrm>
            <a:off x="292100" y="215900"/>
            <a:ext cx="19685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t="15012" b="15012"/>
          <a:stretch>
            <a:fillRect/>
          </a:stretch>
        </p:blipFill>
        <p:spPr>
          <a:xfrm>
            <a:off x="-12700" y="0"/>
            <a:ext cx="12204700" cy="368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3683000"/>
            <a:ext cx="12192000" cy="3657600"/>
          </a:xfrm>
          <a:prstGeom prst="roundRect">
            <a:avLst>
              <a:gd name="adj" fmla="val 0"/>
            </a:avLst>
          </a:prstGeom>
          <a:solidFill>
            <a:srgbClr val="1C62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感谢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1086</Words>
  <Application>Microsoft Office PowerPoint</Application>
  <PresentationFormat>宽屏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inherit</vt:lpstr>
      <vt:lpstr>Inter</vt:lpstr>
      <vt:lpstr>Noto Sans SC</vt:lpstr>
      <vt:lpstr>Noto Sans SC DemiLight</vt:lpstr>
      <vt:lpstr>等线</vt:lpstr>
      <vt:lpstr>微软雅黑</vt:lpstr>
      <vt:lpstr>Arial</vt:lpstr>
      <vt:lpstr>Times New Roman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zy h</cp:lastModifiedBy>
  <cp:revision>34</cp:revision>
  <dcterms:modified xsi:type="dcterms:W3CDTF">2026-05-11T11:32:38Z</dcterms:modified>
</cp:coreProperties>
</file>