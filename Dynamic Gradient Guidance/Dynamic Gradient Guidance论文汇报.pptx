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5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0" i="0">
                <a:solidFill>
                  <a:srgbClr val="333333"/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开场：本文研究多模态持续指令微调中的灾难性遗忘，核心思路是补齐训练新任务时缺失的旧任务梯度。本文重点汇报摘要与引言。</a:t>
            </a:r>
          </a:p>
          <a:p>
            <a:endParaRPr b="0" i="0">
              <a:solidFill>
                <a:srgbClr val="333333"/>
              </a:solidFill>
              <a:latin typeface="Tahoma" panose="020B0604030504040204"/>
              <a:ea typeface="Tahoma" panose="020B0604030504040204"/>
              <a:cs typeface="Tahoma" panose="020B060403050404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6C6DC35-3D39-4E5D-813A-1465AB5946E1}" type="datetimeFigureOut">
              <a:rPr lang="zh-CN" altLang="en-US"/>
              <a:t>2026/7/18</a:t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BC6EB1-3B9C-423A-A463-BABF6B6D69D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buNone/>
              <a:defRPr sz="599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buNone/>
              <a:defRPr sz="599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/>
              <a:t>2026/7/18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l">
        <a:lnSpc>
          <a:spcPct val="90000"/>
        </a:lnSpc>
        <a:buNone/>
        <a:defRPr sz="4395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165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365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599565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613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333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053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7095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4295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376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096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75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47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19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19849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569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/>
              <a:t>2026/7/18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>
        <a:lnSpc>
          <a:spcPct val="90000"/>
        </a:lnSpc>
        <a:buNone/>
        <a:defRPr sz="417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6535" indent="-216535" algn="l">
        <a:lnSpc>
          <a:spcPct val="90000"/>
        </a:lnSpc>
        <a:spcBef>
          <a:spcPts val="950"/>
        </a:spcBef>
        <a:buChar char="•"/>
        <a:defRPr sz="2655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6535" algn="l">
        <a:lnSpc>
          <a:spcPct val="90000"/>
        </a:lnSpc>
        <a:spcBef>
          <a:spcPts val="475"/>
        </a:spcBef>
        <a:buChar char="•"/>
        <a:defRPr sz="2275">
          <a:solidFill>
            <a:schemeClr val="tx1"/>
          </a:solidFill>
          <a:latin typeface="+mn-lt"/>
          <a:ea typeface="+mn-lt"/>
          <a:cs typeface="+mn-lt"/>
        </a:defRPr>
      </a:lvl2pPr>
      <a:lvl3pPr marL="1083945" indent="-216535" algn="l">
        <a:lnSpc>
          <a:spcPct val="90000"/>
        </a:lnSpc>
        <a:spcBef>
          <a:spcPts val="475"/>
        </a:spcBef>
        <a:buChar char="•"/>
        <a:defRPr sz="1895">
          <a:solidFill>
            <a:schemeClr val="tx1"/>
          </a:solidFill>
          <a:latin typeface="+mn-lt"/>
          <a:ea typeface="+mn-lt"/>
          <a:cs typeface="+mn-lt"/>
        </a:defRPr>
      </a:lvl3pPr>
      <a:lvl4pPr marL="1517015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4pPr>
      <a:lvl5pPr marL="195072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5pPr>
      <a:lvl6pPr marL="238379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8pPr>
      <a:lvl9pPr marL="368427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1pPr>
      <a:lvl2pPr marL="43370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2pPr>
      <a:lvl3pPr marL="86677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3pPr>
      <a:lvl4pPr marL="130048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4pPr>
      <a:lvl5pPr marL="173418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5pPr>
      <a:lvl6pPr marL="216725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6pPr>
      <a:lvl7pPr marL="260096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7pPr>
      <a:lvl8pPr marL="303403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8pPr>
      <a:lvl9pPr marL="346773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>
            <a:spLocks noGrp="1"/>
          </p:cNvSpPr>
          <p:nvPr/>
        </p:nvSpPr>
        <p:spPr>
          <a:xfrm>
            <a:off x="225349" y="2455480"/>
            <a:ext cx="116228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" name="矩形: 圆角 2"/>
          <p:cNvSpPr>
            <a:spLocks noGrp="1"/>
          </p:cNvSpPr>
          <p:nvPr/>
        </p:nvSpPr>
        <p:spPr>
          <a:xfrm>
            <a:off x="0" y="1556419"/>
            <a:ext cx="12123683" cy="242679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Multimodal Continual Instruction Tuning</a:t>
            </a:r>
          </a:p>
          <a:p>
            <a:pPr algn="ctr">
              <a:buNone/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Dynamic Gradient Guidance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969884" y="4426576"/>
            <a:ext cx="5976951" cy="35214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buNone/>
              <a:def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1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汇报人：黄正业</a:t>
            </a:r>
            <a:endParaRPr sz="1650" b="1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3"/>
          <a:srcRect r="45030"/>
          <a:stretch>
            <a:fillRect/>
          </a:stretch>
        </p:blipFill>
        <p:spPr>
          <a:xfrm>
            <a:off x="158831" y="0"/>
            <a:ext cx="2706063" cy="936978"/>
          </a:xfrm>
          <a:prstGeom prst="rect">
            <a:avLst/>
          </a:prstGeom>
        </p:spPr>
      </p:pic>
      <p:sp>
        <p:nvSpPr>
          <p:cNvPr id="2" name="文本占位符 13"/>
          <p:cNvSpPr>
            <a:spLocks noGrp="1"/>
          </p:cNvSpPr>
          <p:nvPr/>
        </p:nvSpPr>
        <p:spPr>
          <a:xfrm>
            <a:off x="4072296" y="5586189"/>
            <a:ext cx="4310746" cy="61976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buNone/>
              <a:defRPr sz="1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buNone/>
              <a:defRPr sz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buNone/>
              <a:defRPr sz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2026-07-1</a:t>
            </a:r>
            <a:r>
              <a:rPr lang="en-US" sz="15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500" b="1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97435" y="3601351"/>
            <a:ext cx="170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CVPR 2026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论文速览：把灾难性遗忘看作“旧任务梯度缺失”</a:t>
            </a:r>
          </a:p>
        </p:txBody>
      </p:sp>
      <p:sp>
        <p:nvSpPr>
          <p:cNvPr id="59" name="accent-line"/>
          <p:cNvSpPr>
            <a:spLocks noGrp="1"/>
          </p:cNvSpPr>
          <p:nvPr/>
        </p:nvSpPr>
        <p:spPr>
          <a:xfrm>
            <a:off x="704850" y="1714500"/>
            <a:ext cx="66675" cy="2381250"/>
          </a:xfrm>
          <a:prstGeom prst="rect">
            <a:avLst/>
          </a:prstGeom>
          <a:solidFill>
            <a:srgbClr val="0070C0"/>
          </a:solidFill>
          <a:ln w="0">
            <a:noFill/>
            <a:prstDash val="solid"/>
          </a:ln>
        </p:spPr>
      </p:sp>
      <p:sp>
        <p:nvSpPr>
          <p:cNvPr id="60" name="overview-question"/>
          <p:cNvSpPr>
            <a:spLocks noGrp="1"/>
          </p:cNvSpPr>
          <p:nvPr/>
        </p:nvSpPr>
        <p:spPr>
          <a:xfrm>
            <a:off x="990600" y="1733550"/>
            <a:ext cx="4857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持续学习新任务时，</a:t>
            </a:r>
          </a:p>
          <a:p>
            <a:pPr>
              <a:defRPr sz="255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旧任务的梯度去哪了？</a:t>
            </a:r>
          </a:p>
        </p:txBody>
      </p:sp>
      <p:sp>
        <p:nvSpPr>
          <p:cNvPr id="61" name="overview-answer"/>
          <p:cNvSpPr>
            <a:spLocks noGrp="1"/>
          </p:cNvSpPr>
          <p:nvPr/>
        </p:nvSpPr>
        <p:spPr>
          <a:xfrm>
            <a:off x="1000125" y="304800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论文的答案：不是再增加一组任务专属模块，</a:t>
            </a:r>
          </a:p>
          <a:p>
            <a:pPr>
              <a:def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而是在优化过程中近似缺失的旧任务梯度。</a:t>
            </a:r>
          </a:p>
        </p:txBody>
      </p:sp>
      <p:sp>
        <p:nvSpPr>
          <p:cNvPr id="62" name="overview-divider"/>
          <p:cNvSpPr>
            <a:spLocks noGrp="1"/>
          </p:cNvSpPr>
          <p:nvPr/>
        </p:nvSpPr>
        <p:spPr>
          <a:xfrm>
            <a:off x="6191250" y="1733550"/>
            <a:ext cx="0" cy="361950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3" name="overview-label-0"/>
          <p:cNvSpPr>
            <a:spLocks noGrp="1"/>
          </p:cNvSpPr>
          <p:nvPr/>
        </p:nvSpPr>
        <p:spPr>
          <a:xfrm>
            <a:off x="6572250" y="174307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</a:t>
            </a:r>
          </a:p>
        </p:txBody>
      </p:sp>
      <p:sp>
        <p:nvSpPr>
          <p:cNvPr id="64" name="overview-value-0"/>
          <p:cNvSpPr>
            <a:spLocks noGrp="1"/>
          </p:cNvSpPr>
          <p:nvPr/>
        </p:nvSpPr>
        <p:spPr>
          <a:xfrm>
            <a:off x="7810500" y="1743075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Multimodal Continual Instruction Tuning (MCIT)</a:t>
            </a:r>
          </a:p>
        </p:txBody>
      </p:sp>
      <p:sp>
        <p:nvSpPr>
          <p:cNvPr id="65" name="overview-row-rule-0"/>
          <p:cNvSpPr>
            <a:spLocks noGrp="1"/>
          </p:cNvSpPr>
          <p:nvPr/>
        </p:nvSpPr>
        <p:spPr>
          <a:xfrm>
            <a:off x="6572250" y="2390775"/>
            <a:ext cx="46672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6" name="overview-label-1"/>
          <p:cNvSpPr>
            <a:spLocks noGrp="1"/>
          </p:cNvSpPr>
          <p:nvPr/>
        </p:nvSpPr>
        <p:spPr>
          <a:xfrm>
            <a:off x="6572250" y="261937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核心方法</a:t>
            </a:r>
          </a:p>
        </p:txBody>
      </p:sp>
      <p:sp>
        <p:nvSpPr>
          <p:cNvPr id="67" name="overview-value-1"/>
          <p:cNvSpPr>
            <a:spLocks noGrp="1"/>
          </p:cNvSpPr>
          <p:nvPr/>
        </p:nvSpPr>
        <p:spPr>
          <a:xfrm>
            <a:off x="7810500" y="2619375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Dynamic Gradient Guidance (DGG)</a:t>
            </a:r>
          </a:p>
        </p:txBody>
      </p:sp>
      <p:sp>
        <p:nvSpPr>
          <p:cNvPr id="68" name="overview-row-rule-1"/>
          <p:cNvSpPr>
            <a:spLocks noGrp="1"/>
          </p:cNvSpPr>
          <p:nvPr/>
        </p:nvSpPr>
        <p:spPr>
          <a:xfrm>
            <a:off x="6572250" y="3267075"/>
            <a:ext cx="46672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9" name="overview-label-2"/>
          <p:cNvSpPr>
            <a:spLocks noGrp="1"/>
          </p:cNvSpPr>
          <p:nvPr/>
        </p:nvSpPr>
        <p:spPr>
          <a:xfrm>
            <a:off x="6572250" y="349567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基础模型</a:t>
            </a:r>
          </a:p>
        </p:txBody>
      </p:sp>
      <p:sp>
        <p:nvSpPr>
          <p:cNvPr id="70" name="overview-value-2"/>
          <p:cNvSpPr>
            <a:spLocks noGrp="1"/>
          </p:cNvSpPr>
          <p:nvPr/>
        </p:nvSpPr>
        <p:spPr>
          <a:xfrm>
            <a:off x="7810500" y="3495675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LLaVA-7B </a:t>
            </a:r>
            <a:r>
              <a:rPr lang="en-US" sz="1425" dirty="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425" dirty="0">
              <a:solidFill>
                <a:srgbClr val="183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verview-row-rule-2"/>
          <p:cNvSpPr>
            <a:spLocks noGrp="1"/>
          </p:cNvSpPr>
          <p:nvPr/>
        </p:nvSpPr>
        <p:spPr>
          <a:xfrm>
            <a:off x="6572250" y="4143375"/>
            <a:ext cx="46672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72" name="overview-label-3"/>
          <p:cNvSpPr>
            <a:spLocks noGrp="1"/>
          </p:cNvSpPr>
          <p:nvPr/>
        </p:nvSpPr>
        <p:spPr>
          <a:xfrm>
            <a:off x="6572250" y="437197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</a:p>
        </p:txBody>
      </p:sp>
      <p:sp>
        <p:nvSpPr>
          <p:cNvPr id="73" name="overview-value-3"/>
          <p:cNvSpPr>
            <a:spLocks noGrp="1"/>
          </p:cNvSpPr>
          <p:nvPr/>
        </p:nvSpPr>
        <p:spPr>
          <a:xfrm>
            <a:off x="7810500" y="4371975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无需模型扩展，在 VQAv2 与 UCIT 上达到 SOTA</a:t>
            </a:r>
          </a:p>
        </p:txBody>
      </p:sp>
      <p:sp>
        <p:nvSpPr>
          <p:cNvPr id="74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 et al., arXiv:2511.15164v2, 2026  |  Code: github.com/lisongze/DGG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摘要的逻辑链：场景 → 问题 → 方法 → 结果</a:t>
            </a:r>
          </a:p>
        </p:txBody>
      </p:sp>
      <p:sp>
        <p:nvSpPr>
          <p:cNvPr id="59" name="number-1"/>
          <p:cNvSpPr>
            <a:spLocks noGrp="1"/>
          </p:cNvSpPr>
          <p:nvPr/>
        </p:nvSpPr>
        <p:spPr>
          <a:xfrm>
            <a:off x="723900" y="1676400"/>
            <a:ext cx="419100" cy="419100"/>
          </a:xfrm>
          <a:prstGeom prst="ellipse">
            <a:avLst/>
          </a:prstGeom>
          <a:solidFill>
            <a:srgbClr val="0070C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60" name="abstract-label-0"/>
          <p:cNvSpPr>
            <a:spLocks noGrp="1"/>
          </p:cNvSpPr>
          <p:nvPr/>
        </p:nvSpPr>
        <p:spPr>
          <a:xfrm>
            <a:off x="1333500" y="166687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</a:p>
        </p:txBody>
      </p:sp>
      <p:sp>
        <p:nvSpPr>
          <p:cNvPr id="61" name="abstract-text-0"/>
          <p:cNvSpPr>
            <a:spLocks noGrp="1"/>
          </p:cNvSpPr>
          <p:nvPr/>
        </p:nvSpPr>
        <p:spPr>
          <a:xfrm>
            <a:off x="2428875" y="1666875"/>
            <a:ext cx="871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MLLM 需要按顺序适应不断到来的新指令任务，同时继承已有能力。</a:t>
            </a:r>
          </a:p>
        </p:txBody>
      </p:sp>
      <p:sp>
        <p:nvSpPr>
          <p:cNvPr id="62" name="abstract-rule-0"/>
          <p:cNvSpPr>
            <a:spLocks noGrp="1"/>
          </p:cNvSpPr>
          <p:nvPr/>
        </p:nvSpPr>
        <p:spPr>
          <a:xfrm>
            <a:off x="1333500" y="2333625"/>
            <a:ext cx="9810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3" name="number-2"/>
          <p:cNvSpPr>
            <a:spLocks noGrp="1"/>
          </p:cNvSpPr>
          <p:nvPr/>
        </p:nvSpPr>
        <p:spPr>
          <a:xfrm>
            <a:off x="723900" y="2743200"/>
            <a:ext cx="419100" cy="419100"/>
          </a:xfrm>
          <a:prstGeom prst="ellipse">
            <a:avLst/>
          </a:prstGeom>
          <a:solidFill>
            <a:srgbClr val="C83E4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64" name="abstract-label-1"/>
          <p:cNvSpPr>
            <a:spLocks noGrp="1"/>
          </p:cNvSpPr>
          <p:nvPr/>
        </p:nvSpPr>
        <p:spPr>
          <a:xfrm>
            <a:off x="1333500" y="273367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</a:p>
        </p:txBody>
      </p:sp>
      <p:sp>
        <p:nvSpPr>
          <p:cNvPr id="65" name="abstract-text-1"/>
          <p:cNvSpPr>
            <a:spLocks noGrp="1"/>
          </p:cNvSpPr>
          <p:nvPr/>
        </p:nvSpPr>
        <p:spPr>
          <a:xfrm>
            <a:off x="2428875" y="2733675"/>
            <a:ext cx="871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学习新任务会使旧任务性能下降，即灾难性遗忘。</a:t>
            </a:r>
          </a:p>
        </p:txBody>
      </p:sp>
      <p:sp>
        <p:nvSpPr>
          <p:cNvPr id="66" name="abstract-rule-1"/>
          <p:cNvSpPr>
            <a:spLocks noGrp="1"/>
          </p:cNvSpPr>
          <p:nvPr/>
        </p:nvSpPr>
        <p:spPr>
          <a:xfrm>
            <a:off x="1333500" y="3400425"/>
            <a:ext cx="9810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7" name="number-3"/>
          <p:cNvSpPr>
            <a:spLocks noGrp="1"/>
          </p:cNvSpPr>
          <p:nvPr/>
        </p:nvSpPr>
        <p:spPr>
          <a:xfrm>
            <a:off x="723900" y="3810000"/>
            <a:ext cx="419100" cy="419100"/>
          </a:xfrm>
          <a:prstGeom prst="ellipse">
            <a:avLst/>
          </a:prstGeom>
          <a:solidFill>
            <a:srgbClr val="5C307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68" name="abstract-label-2"/>
          <p:cNvSpPr>
            <a:spLocks noGrp="1"/>
          </p:cNvSpPr>
          <p:nvPr/>
        </p:nvSpPr>
        <p:spPr>
          <a:xfrm>
            <a:off x="1333500" y="380047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</a:p>
        </p:txBody>
      </p:sp>
      <p:sp>
        <p:nvSpPr>
          <p:cNvPr id="69" name="abstract-text-2"/>
          <p:cNvSpPr>
            <a:spLocks noGrp="1"/>
          </p:cNvSpPr>
          <p:nvPr/>
        </p:nvSpPr>
        <p:spPr>
          <a:xfrm>
            <a:off x="2428875" y="3800475"/>
            <a:ext cx="871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用当前参数与旧最优参数之间的方向向量近似旧任务梯度，并结合回放与 Bernoulli 采样。</a:t>
            </a:r>
          </a:p>
        </p:txBody>
      </p:sp>
      <p:sp>
        <p:nvSpPr>
          <p:cNvPr id="70" name="abstract-rule-2"/>
          <p:cNvSpPr>
            <a:spLocks noGrp="1"/>
          </p:cNvSpPr>
          <p:nvPr/>
        </p:nvSpPr>
        <p:spPr>
          <a:xfrm>
            <a:off x="1333500" y="4467225"/>
            <a:ext cx="9810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71" name="number-4"/>
          <p:cNvSpPr>
            <a:spLocks noGrp="1"/>
          </p:cNvSpPr>
          <p:nvPr/>
        </p:nvSpPr>
        <p:spPr>
          <a:xfrm>
            <a:off x="723900" y="4876800"/>
            <a:ext cx="419100" cy="419100"/>
          </a:xfrm>
          <a:prstGeom prst="ellipse">
            <a:avLst/>
          </a:prstGeom>
          <a:solidFill>
            <a:srgbClr val="2A9D8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72" name="abstract-label-3"/>
          <p:cNvSpPr>
            <a:spLocks noGrp="1"/>
          </p:cNvSpPr>
          <p:nvPr/>
        </p:nvSpPr>
        <p:spPr>
          <a:xfrm>
            <a:off x="1333500" y="486727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</a:p>
        </p:txBody>
      </p:sp>
      <p:sp>
        <p:nvSpPr>
          <p:cNvPr id="73" name="abstract-text-3"/>
          <p:cNvSpPr>
            <a:spLocks noGrp="1"/>
          </p:cNvSpPr>
          <p:nvPr/>
        </p:nvSpPr>
        <p:spPr>
          <a:xfrm>
            <a:off x="2428875" y="4867275"/>
            <a:ext cx="871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不扩展模型结构，在两个 MCIT 数据集上取得 SOTA，并保持紧凑架构。</a:t>
            </a:r>
          </a:p>
        </p:txBody>
      </p:sp>
      <p:sp>
        <p:nvSpPr>
          <p:cNvPr id="75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为什么需要多模态持续指令微调（MCIT）？</a:t>
            </a:r>
          </a:p>
        </p:txBody>
      </p:sp>
      <p:sp>
        <p:nvSpPr>
          <p:cNvPr id="59" name="mcit-step-0"/>
          <p:cNvSpPr>
            <a:spLocks noGrp="1"/>
          </p:cNvSpPr>
          <p:nvPr/>
        </p:nvSpPr>
        <p:spPr>
          <a:xfrm>
            <a:off x="723900" y="1905000"/>
            <a:ext cx="2857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1C6299"/>
            </a:solidFill>
            <a:prstDash val="solid"/>
          </a:ln>
        </p:spPr>
      </p:sp>
      <p:sp>
        <p:nvSpPr>
          <p:cNvPr id="60" name="mcit-title-0"/>
          <p:cNvSpPr>
            <a:spLocks noGrp="1"/>
          </p:cNvSpPr>
          <p:nvPr/>
        </p:nvSpPr>
        <p:spPr>
          <a:xfrm>
            <a:off x="914400" y="21336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多模态预训练</a:t>
            </a:r>
          </a:p>
        </p:txBody>
      </p:sp>
      <p:sp>
        <p:nvSpPr>
          <p:cNvPr id="61" name="mcit-text-0"/>
          <p:cNvSpPr>
            <a:spLocks noGrp="1"/>
          </p:cNvSpPr>
          <p:nvPr/>
        </p:nvSpPr>
        <p:spPr>
          <a:xfrm>
            <a:off x="952500" y="2647950"/>
            <a:ext cx="2400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建立图像—文本对齐</a:t>
            </a:r>
          </a:p>
          <a:p>
            <a:pPr algn="ctr">
              <a:def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形成通用表示</a:t>
            </a:r>
          </a:p>
        </p:txBody>
      </p:sp>
      <p:sp>
        <p:nvSpPr>
          <p:cNvPr id="62" name="mcit-arrow-0"/>
          <p:cNvSpPr>
            <a:spLocks noGrp="1"/>
          </p:cNvSpPr>
          <p:nvPr/>
        </p:nvSpPr>
        <p:spPr>
          <a:xfrm>
            <a:off x="3657600" y="2428875"/>
            <a:ext cx="428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6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63" name="mcit-step-1"/>
          <p:cNvSpPr>
            <a:spLocks noGrp="1"/>
          </p:cNvSpPr>
          <p:nvPr/>
        </p:nvSpPr>
        <p:spPr>
          <a:xfrm>
            <a:off x="4152900" y="1905000"/>
            <a:ext cx="2857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64" name="mcit-title-1"/>
          <p:cNvSpPr>
            <a:spLocks noGrp="1"/>
          </p:cNvSpPr>
          <p:nvPr/>
        </p:nvSpPr>
        <p:spPr>
          <a:xfrm>
            <a:off x="4343400" y="21336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指令微调</a:t>
            </a:r>
          </a:p>
        </p:txBody>
      </p:sp>
      <p:sp>
        <p:nvSpPr>
          <p:cNvPr id="65" name="mcit-text-1"/>
          <p:cNvSpPr>
            <a:spLocks noGrp="1"/>
          </p:cNvSpPr>
          <p:nvPr/>
        </p:nvSpPr>
        <p:spPr>
          <a:xfrm>
            <a:off x="4381500" y="2647950"/>
            <a:ext cx="2400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学习任务格式</a:t>
            </a:r>
          </a:p>
          <a:p>
            <a:pPr algn="ctr">
              <a:def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增强指令遵循</a:t>
            </a:r>
          </a:p>
        </p:txBody>
      </p:sp>
      <p:sp>
        <p:nvSpPr>
          <p:cNvPr id="66" name="mcit-arrow-1"/>
          <p:cNvSpPr>
            <a:spLocks noGrp="1"/>
          </p:cNvSpPr>
          <p:nvPr/>
        </p:nvSpPr>
        <p:spPr>
          <a:xfrm>
            <a:off x="7086600" y="2428875"/>
            <a:ext cx="428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6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67" name="mcit-step-2"/>
          <p:cNvSpPr>
            <a:spLocks noGrp="1"/>
          </p:cNvSpPr>
          <p:nvPr/>
        </p:nvSpPr>
        <p:spPr>
          <a:xfrm>
            <a:off x="7581900" y="1905000"/>
            <a:ext cx="2857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5C307D"/>
            </a:solidFill>
            <a:prstDash val="solid"/>
          </a:ln>
        </p:spPr>
      </p:sp>
      <p:sp>
        <p:nvSpPr>
          <p:cNvPr id="68" name="mcit-title-2"/>
          <p:cNvSpPr>
            <a:spLocks noGrp="1"/>
          </p:cNvSpPr>
          <p:nvPr/>
        </p:nvSpPr>
        <p:spPr>
          <a:xfrm>
            <a:off x="7772400" y="21336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持续指令流</a:t>
            </a:r>
          </a:p>
        </p:txBody>
      </p:sp>
      <p:sp>
        <p:nvSpPr>
          <p:cNvPr id="69" name="mcit-text-2"/>
          <p:cNvSpPr>
            <a:spLocks noGrp="1"/>
          </p:cNvSpPr>
          <p:nvPr/>
        </p:nvSpPr>
        <p:spPr>
          <a:xfrm>
            <a:off x="7810500" y="2647950"/>
            <a:ext cx="2400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T₁ → T₂ → … → Tₜ</a:t>
            </a:r>
          </a:p>
          <a:p>
            <a:pPr algn="ctr">
              <a:def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不断获得新技能</a:t>
            </a:r>
          </a:p>
        </p:txBody>
      </p:sp>
      <p:sp>
        <p:nvSpPr>
          <p:cNvPr id="70" name="constraint-label"/>
          <p:cNvSpPr>
            <a:spLocks noGrp="1"/>
          </p:cNvSpPr>
          <p:nvPr/>
        </p:nvSpPr>
        <p:spPr>
          <a:xfrm>
            <a:off x="742950" y="402907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现实约束</a:t>
            </a:r>
          </a:p>
        </p:txBody>
      </p:sp>
      <p:sp>
        <p:nvSpPr>
          <p:cNvPr id="71" name="constraint-text"/>
          <p:cNvSpPr>
            <a:spLocks noGrp="1"/>
          </p:cNvSpPr>
          <p:nvPr/>
        </p:nvSpPr>
        <p:spPr>
          <a:xfrm>
            <a:off x="2095500" y="4000500"/>
            <a:ext cx="847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数据持续到来；每次积累全部旧数据并从头重训，计算成本与环境成本都不可接受。</a:t>
            </a:r>
          </a:p>
        </p:txBody>
      </p:sp>
      <p:sp>
        <p:nvSpPr>
          <p:cNvPr id="72" name="mcit-bottom-rule"/>
          <p:cNvSpPr>
            <a:spLocks noGrp="1"/>
          </p:cNvSpPr>
          <p:nvPr/>
        </p:nvSpPr>
        <p:spPr>
          <a:xfrm>
            <a:off x="742950" y="4572000"/>
            <a:ext cx="990600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73" name="goal-label"/>
          <p:cNvSpPr>
            <a:spLocks noGrp="1"/>
          </p:cNvSpPr>
          <p:nvPr/>
        </p:nvSpPr>
        <p:spPr>
          <a:xfrm>
            <a:off x="742950" y="48101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MCIT 的目标</a:t>
            </a:r>
          </a:p>
        </p:txBody>
      </p:sp>
      <p:sp>
        <p:nvSpPr>
          <p:cNvPr id="74" name="goal-text"/>
          <p:cNvSpPr>
            <a:spLocks noGrp="1"/>
          </p:cNvSpPr>
          <p:nvPr/>
        </p:nvSpPr>
        <p:spPr>
          <a:xfrm>
            <a:off x="2286000" y="4762500"/>
            <a:ext cx="809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学会新技能  +  保留旧能力  +  避免反复全量训练</a:t>
            </a:r>
          </a:p>
        </p:txBody>
      </p:sp>
      <p:sp>
        <p:nvSpPr>
          <p:cNvPr id="75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Introduction, paragraph 1-2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灾难性遗忘的本质：理想梯度中少了一项</a:t>
            </a:r>
          </a:p>
        </p:txBody>
      </p:sp>
      <p:sp>
        <p:nvSpPr>
          <p:cNvPr id="59" name="ideal-label"/>
          <p:cNvSpPr>
            <a:spLocks noGrp="1"/>
          </p:cNvSpPr>
          <p:nvPr/>
        </p:nvSpPr>
        <p:spPr>
          <a:xfrm>
            <a:off x="723900" y="17145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理想：联合训练所有已见任务</a:t>
            </a:r>
          </a:p>
        </p:txBody>
      </p:sp>
      <p:sp>
        <p:nvSpPr>
          <p:cNvPr id="60" name="ideal-formula"/>
          <p:cNvSpPr>
            <a:spLocks noGrp="1"/>
          </p:cNvSpPr>
          <p:nvPr/>
        </p:nvSpPr>
        <p:spPr>
          <a:xfrm>
            <a:off x="723900" y="2266950"/>
            <a:ext cx="537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∇L(T₁ ∪ T₂) = ∇L(T₁) + ∇L(T₂)</a:t>
            </a:r>
          </a:p>
        </p:txBody>
      </p:sp>
      <p:sp>
        <p:nvSpPr>
          <p:cNvPr id="61" name="ideal-explain"/>
          <p:cNvSpPr>
            <a:spLocks noGrp="1"/>
          </p:cNvSpPr>
          <p:nvPr/>
        </p:nvSpPr>
        <p:spPr>
          <a:xfrm>
            <a:off x="885825" y="304800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同时考虑旧任务与新任务，优化会趋向联合任务最优点。</a:t>
            </a:r>
          </a:p>
        </p:txBody>
      </p:sp>
      <p:sp>
        <p:nvSpPr>
          <p:cNvPr id="62" name="challenge-divider"/>
          <p:cNvSpPr>
            <a:spLocks noGrp="1"/>
          </p:cNvSpPr>
          <p:nvPr/>
        </p:nvSpPr>
        <p:spPr>
          <a:xfrm>
            <a:off x="6000750" y="1676400"/>
            <a:ext cx="0" cy="297180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3" name="reality-label"/>
          <p:cNvSpPr>
            <a:spLocks noGrp="1"/>
          </p:cNvSpPr>
          <p:nvPr/>
        </p:nvSpPr>
        <p:spPr>
          <a:xfrm>
            <a:off x="6429375" y="17145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现实：训练 T₂ 时旧数据不可用</a:t>
            </a:r>
          </a:p>
        </p:txBody>
      </p:sp>
      <p:sp>
        <p:nvSpPr>
          <p:cNvPr id="64" name="reality-formula"/>
          <p:cNvSpPr>
            <a:spLocks noGrp="1"/>
          </p:cNvSpPr>
          <p:nvPr/>
        </p:nvSpPr>
        <p:spPr>
          <a:xfrm>
            <a:off x="6429375" y="22669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实际更新 ≈ ∇L(T₂)</a:t>
            </a:r>
          </a:p>
        </p:txBody>
      </p:sp>
      <p:sp>
        <p:nvSpPr>
          <p:cNvPr id="65" name="reality-explain"/>
          <p:cNvSpPr>
            <a:spLocks noGrp="1"/>
          </p:cNvSpPr>
          <p:nvPr/>
        </p:nvSpPr>
        <p:spPr>
          <a:xfrm>
            <a:off x="6591300" y="304800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参数被新任务梯度持续推向新任务最优点，旧任务性能随之下降。</a:t>
            </a:r>
          </a:p>
        </p:txBody>
      </p:sp>
      <p:sp>
        <p:nvSpPr>
          <p:cNvPr id="66" name="missing-gradient-takeaway"/>
          <p:cNvSpPr>
            <a:spLocks noGrp="1"/>
          </p:cNvSpPr>
          <p:nvPr/>
        </p:nvSpPr>
        <p:spPr>
          <a:xfrm>
            <a:off x="1428750" y="4810125"/>
            <a:ext cx="9334500" cy="838200"/>
          </a:xfrm>
          <a:prstGeom prst="roundRect">
            <a:avLst>
              <a:gd name="adj" fmla="val 13636"/>
            </a:avLst>
          </a:prstGeom>
          <a:solidFill>
            <a:srgbClr val="EAF4FB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67" name="missing-gradient-text"/>
          <p:cNvSpPr>
            <a:spLocks noGrp="1"/>
          </p:cNvSpPr>
          <p:nvPr/>
        </p:nvSpPr>
        <p:spPr>
          <a:xfrm>
            <a:off x="1733550" y="5019675"/>
            <a:ext cx="8724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论文的新视角：灾难性遗忘 = 训练新任务时缺少旧任务梯度 ∇L(Told)</a:t>
            </a:r>
          </a:p>
        </p:txBody>
      </p:sp>
      <p:sp>
        <p:nvSpPr>
          <p:cNvPr id="68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Introduction and Section 4.1, Eq. (6)-(8)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现有路线都在稳定性、效率和可塑性之间付出代价</a:t>
            </a:r>
          </a:p>
        </p:txBody>
      </p:sp>
      <p:sp>
        <p:nvSpPr>
          <p:cNvPr id="59" name="accent-line"/>
          <p:cNvSpPr>
            <a:spLocks noGrp="1"/>
          </p:cNvSpPr>
          <p:nvPr/>
        </p:nvSpPr>
        <p:spPr>
          <a:xfrm>
            <a:off x="685800" y="1809750"/>
            <a:ext cx="66675" cy="2952750"/>
          </a:xfrm>
          <a:prstGeom prst="rect">
            <a:avLst/>
          </a:prstGeom>
          <a:solidFill>
            <a:srgbClr val="0070C0"/>
          </a:solidFill>
          <a:ln w="0">
            <a:noFill/>
            <a:prstDash val="solid"/>
          </a:ln>
        </p:spPr>
      </p:sp>
      <p:sp>
        <p:nvSpPr>
          <p:cNvPr id="60" name="approach-title-0"/>
          <p:cNvSpPr>
            <a:spLocks noGrp="1"/>
          </p:cNvSpPr>
          <p:nvPr/>
        </p:nvSpPr>
        <p:spPr>
          <a:xfrm>
            <a:off x="914400" y="17716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结构扩展</a:t>
            </a:r>
          </a:p>
        </p:txBody>
      </p:sp>
      <p:sp>
        <p:nvSpPr>
          <p:cNvPr id="61" name="approach-example-0"/>
          <p:cNvSpPr>
            <a:spLocks noGrp="1"/>
          </p:cNvSpPr>
          <p:nvPr/>
        </p:nvSpPr>
        <p:spPr>
          <a:xfrm>
            <a:off x="914400" y="2238375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/ task experts / prompts</a:t>
            </a:r>
          </a:p>
        </p:txBody>
      </p:sp>
      <p:sp>
        <p:nvSpPr>
          <p:cNvPr id="62" name="approach-strength-label-0"/>
          <p:cNvSpPr>
            <a:spLocks noGrp="1"/>
          </p:cNvSpPr>
          <p:nvPr/>
        </p:nvSpPr>
        <p:spPr>
          <a:xfrm>
            <a:off x="914400" y="28575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</a:p>
        </p:txBody>
      </p:sp>
      <p:sp>
        <p:nvSpPr>
          <p:cNvPr id="63" name="approach-strength-0"/>
          <p:cNvSpPr>
            <a:spLocks noGrp="1"/>
          </p:cNvSpPr>
          <p:nvPr/>
        </p:nvSpPr>
        <p:spPr>
          <a:xfrm>
            <a:off x="914400" y="3190875"/>
            <a:ext cx="2714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保留任务专属知识</a:t>
            </a:r>
          </a:p>
        </p:txBody>
      </p:sp>
      <p:sp>
        <p:nvSpPr>
          <p:cNvPr id="64" name="approach-weak-label-0"/>
          <p:cNvSpPr>
            <a:spLocks noGrp="1"/>
          </p:cNvSpPr>
          <p:nvPr/>
        </p:nvSpPr>
        <p:spPr>
          <a:xfrm>
            <a:off x="914400" y="3952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</a:p>
        </p:txBody>
      </p:sp>
      <p:sp>
        <p:nvSpPr>
          <p:cNvPr id="65" name="approach-weak-0"/>
          <p:cNvSpPr>
            <a:spLocks noGrp="1"/>
          </p:cNvSpPr>
          <p:nvPr/>
        </p:nvSpPr>
        <p:spPr>
          <a:xfrm>
            <a:off x="914400" y="428625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参数持续增长；训练与推理更复杂</a:t>
            </a:r>
          </a:p>
        </p:txBody>
      </p:sp>
      <p:sp>
        <p:nvSpPr>
          <p:cNvPr id="66" name="accent-line"/>
          <p:cNvSpPr>
            <a:spLocks noGrp="1"/>
          </p:cNvSpPr>
          <p:nvPr/>
        </p:nvSpPr>
        <p:spPr>
          <a:xfrm>
            <a:off x="4171950" y="1809750"/>
            <a:ext cx="66675" cy="2952750"/>
          </a:xfrm>
          <a:prstGeom prst="rect">
            <a:avLst/>
          </a:prstGeom>
          <a:solidFill>
            <a:srgbClr val="5C307D"/>
          </a:solidFill>
          <a:ln w="0">
            <a:noFill/>
            <a:prstDash val="solid"/>
          </a:ln>
        </p:spPr>
      </p:sp>
      <p:sp>
        <p:nvSpPr>
          <p:cNvPr id="67" name="approach-title-1"/>
          <p:cNvSpPr>
            <a:spLocks noGrp="1"/>
          </p:cNvSpPr>
          <p:nvPr/>
        </p:nvSpPr>
        <p:spPr>
          <a:xfrm>
            <a:off x="4400550" y="17716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正则化</a:t>
            </a:r>
          </a:p>
        </p:txBody>
      </p:sp>
      <p:sp>
        <p:nvSpPr>
          <p:cNvPr id="68" name="approach-example-1"/>
          <p:cNvSpPr>
            <a:spLocks noGrp="1"/>
          </p:cNvSpPr>
          <p:nvPr/>
        </p:nvSpPr>
        <p:spPr>
          <a:xfrm>
            <a:off x="4400550" y="2238375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固定参数约束</a:t>
            </a:r>
          </a:p>
        </p:txBody>
      </p:sp>
      <p:sp>
        <p:nvSpPr>
          <p:cNvPr id="69" name="approach-strength-label-1"/>
          <p:cNvSpPr>
            <a:spLocks noGrp="1"/>
          </p:cNvSpPr>
          <p:nvPr/>
        </p:nvSpPr>
        <p:spPr>
          <a:xfrm>
            <a:off x="4400550" y="28575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</a:p>
        </p:txBody>
      </p:sp>
      <p:sp>
        <p:nvSpPr>
          <p:cNvPr id="70" name="approach-strength-1"/>
          <p:cNvSpPr>
            <a:spLocks noGrp="1"/>
          </p:cNvSpPr>
          <p:nvPr/>
        </p:nvSpPr>
        <p:spPr>
          <a:xfrm>
            <a:off x="4400550" y="3190875"/>
            <a:ext cx="2714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不必扩展模型</a:t>
            </a:r>
          </a:p>
        </p:txBody>
      </p:sp>
      <p:sp>
        <p:nvSpPr>
          <p:cNvPr id="71" name="approach-weak-label-1"/>
          <p:cNvSpPr>
            <a:spLocks noGrp="1"/>
          </p:cNvSpPr>
          <p:nvPr/>
        </p:nvSpPr>
        <p:spPr>
          <a:xfrm>
            <a:off x="4400550" y="3952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</a:p>
        </p:txBody>
      </p:sp>
      <p:sp>
        <p:nvSpPr>
          <p:cNvPr id="72" name="approach-weak-1"/>
          <p:cNvSpPr>
            <a:spLocks noGrp="1"/>
          </p:cNvSpPr>
          <p:nvPr/>
        </p:nvSpPr>
        <p:spPr>
          <a:xfrm>
            <a:off x="4400550" y="428625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静态约束难以适应不断变化的优化地形</a:t>
            </a:r>
          </a:p>
        </p:txBody>
      </p:sp>
      <p:sp>
        <p:nvSpPr>
          <p:cNvPr id="73" name="accent-line"/>
          <p:cNvSpPr>
            <a:spLocks noGrp="1"/>
          </p:cNvSpPr>
          <p:nvPr/>
        </p:nvSpPr>
        <p:spPr>
          <a:xfrm>
            <a:off x="7658100" y="1809750"/>
            <a:ext cx="66675" cy="2952750"/>
          </a:xfrm>
          <a:prstGeom prst="rect">
            <a:avLst/>
          </a:prstGeom>
          <a:solidFill>
            <a:srgbClr val="E67E22"/>
          </a:solidFill>
          <a:ln w="0">
            <a:noFill/>
            <a:prstDash val="solid"/>
          </a:ln>
        </p:spPr>
      </p:sp>
      <p:sp>
        <p:nvSpPr>
          <p:cNvPr id="74" name="approach-title-2"/>
          <p:cNvSpPr>
            <a:spLocks noGrp="1"/>
          </p:cNvSpPr>
          <p:nvPr/>
        </p:nvSpPr>
        <p:spPr>
          <a:xfrm>
            <a:off x="7886700" y="17716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经验回放</a:t>
            </a:r>
          </a:p>
        </p:txBody>
      </p:sp>
      <p:sp>
        <p:nvSpPr>
          <p:cNvPr id="75" name="approach-example-2"/>
          <p:cNvSpPr>
            <a:spLocks noGrp="1"/>
          </p:cNvSpPr>
          <p:nvPr/>
        </p:nvSpPr>
        <p:spPr>
          <a:xfrm>
            <a:off x="7886700" y="2238375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Replay buffer</a:t>
            </a:r>
          </a:p>
        </p:txBody>
      </p:sp>
      <p:sp>
        <p:nvSpPr>
          <p:cNvPr id="76" name="approach-strength-label-2"/>
          <p:cNvSpPr>
            <a:spLocks noGrp="1"/>
          </p:cNvSpPr>
          <p:nvPr/>
        </p:nvSpPr>
        <p:spPr>
          <a:xfrm>
            <a:off x="7886700" y="28575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</a:p>
        </p:txBody>
      </p:sp>
      <p:sp>
        <p:nvSpPr>
          <p:cNvPr id="77" name="approach-strength-2"/>
          <p:cNvSpPr>
            <a:spLocks noGrp="1"/>
          </p:cNvSpPr>
          <p:nvPr/>
        </p:nvSpPr>
        <p:spPr>
          <a:xfrm>
            <a:off x="7886700" y="3190875"/>
            <a:ext cx="2714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提供真实旧任务梯度</a:t>
            </a:r>
          </a:p>
        </p:txBody>
      </p:sp>
      <p:sp>
        <p:nvSpPr>
          <p:cNvPr id="78" name="approach-weak-label-2"/>
          <p:cNvSpPr>
            <a:spLocks noGrp="1"/>
          </p:cNvSpPr>
          <p:nvPr/>
        </p:nvSpPr>
        <p:spPr>
          <a:xfrm>
            <a:off x="7886700" y="3952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</a:p>
        </p:txBody>
      </p:sp>
      <p:sp>
        <p:nvSpPr>
          <p:cNvPr id="79" name="approach-weak-2"/>
          <p:cNvSpPr>
            <a:spLocks noGrp="1"/>
          </p:cNvSpPr>
          <p:nvPr/>
        </p:nvSpPr>
        <p:spPr>
          <a:xfrm>
            <a:off x="7886700" y="428625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样本有限，难代表完整旧数据分布</a:t>
            </a:r>
          </a:p>
        </p:txBody>
      </p:sp>
      <p:sp>
        <p:nvSpPr>
          <p:cNvPr id="80" name="research-gap"/>
          <p:cNvSpPr>
            <a:spLocks noGrp="1"/>
          </p:cNvSpPr>
          <p:nvPr/>
        </p:nvSpPr>
        <p:spPr>
          <a:xfrm>
            <a:off x="1428750" y="56197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研究缺口：能否在不扩展模型的前提下，动态且更准确地恢复旧任务梯度？</a:t>
            </a:r>
          </a:p>
        </p:txBody>
      </p:sp>
      <p:sp>
        <p:nvSpPr>
          <p:cNvPr id="81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Introduction, paragraph 3-4; replay limitation from Section 4.2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关键洞察：旧最优参数可以提供“旧梯度方向”</a:t>
            </a:r>
          </a:p>
        </p:txBody>
      </p:sp>
      <p:sp>
        <p:nvSpPr>
          <p:cNvPr id="59" name="joint-gradient-label"/>
          <p:cNvSpPr>
            <a:spLocks noGrp="1"/>
          </p:cNvSpPr>
          <p:nvPr/>
        </p:nvSpPr>
        <p:spPr>
          <a:xfrm>
            <a:off x="685800" y="1752600"/>
            <a:ext cx="342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理想联合梯度</a:t>
            </a:r>
          </a:p>
        </p:txBody>
      </p:sp>
      <p:sp>
        <p:nvSpPr>
          <p:cNvPr id="60" name="joint-gradient-formula"/>
          <p:cNvSpPr>
            <a:spLocks noGrp="1"/>
          </p:cNvSpPr>
          <p:nvPr/>
        </p:nvSpPr>
        <p:spPr>
          <a:xfrm>
            <a:off x="685800" y="215265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dirty="0" err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g_joint</a:t>
            </a:r>
            <a:r>
              <a:rPr sz="2250" b="1" dirty="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sz="2250" b="1" dirty="0" err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g_new</a:t>
            </a:r>
            <a:r>
              <a:rPr sz="2250" b="1" dirty="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2250" b="1" dirty="0" err="1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g_old</a:t>
            </a:r>
            <a:endParaRPr sz="2250" b="1" dirty="0">
              <a:solidFill>
                <a:srgbClr val="183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gradient-missing"/>
          <p:cNvSpPr>
            <a:spLocks noGrp="1"/>
          </p:cNvSpPr>
          <p:nvPr/>
        </p:nvSpPr>
        <p:spPr>
          <a:xfrm>
            <a:off x="876300" y="2762250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持续学习中 g_old 无法直接计算。</a:t>
            </a:r>
          </a:p>
        </p:txBody>
      </p:sp>
      <p:sp>
        <p:nvSpPr>
          <p:cNvPr id="62" name="insight-rule"/>
          <p:cNvSpPr>
            <a:spLocks noGrp="1"/>
          </p:cNvSpPr>
          <p:nvPr/>
        </p:nvSpPr>
        <p:spPr>
          <a:xfrm>
            <a:off x="800100" y="3352800"/>
            <a:ext cx="3714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3" name="geometry-label"/>
          <p:cNvSpPr>
            <a:spLocks noGrp="1"/>
          </p:cNvSpPr>
          <p:nvPr/>
        </p:nvSpPr>
        <p:spPr>
          <a:xfrm>
            <a:off x="685800" y="3543300"/>
            <a:ext cx="342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几何近似</a:t>
            </a:r>
          </a:p>
        </p:txBody>
      </p:sp>
      <p:sp>
        <p:nvSpPr>
          <p:cNvPr id="64" name="geometry-formula"/>
          <p:cNvSpPr>
            <a:spLocks noGrp="1"/>
          </p:cNvSpPr>
          <p:nvPr/>
        </p:nvSpPr>
        <p:spPr>
          <a:xfrm>
            <a:off x="685800" y="398145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ĝ_old  ←  θ − θ*old</a:t>
            </a:r>
          </a:p>
        </p:txBody>
      </p:sp>
      <p:sp>
        <p:nvSpPr>
          <p:cNvPr id="65" name="geometry-explain"/>
          <p:cNvSpPr>
            <a:spLocks noGrp="1"/>
          </p:cNvSpPr>
          <p:nvPr/>
        </p:nvSpPr>
        <p:spPr>
          <a:xfrm>
            <a:off x="819150" y="4629150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优化器会减去梯度，因此加入 θ − θ* 会把当前参数拉回旧最优点方向。</a:t>
            </a:r>
          </a:p>
        </p:txBody>
      </p:sp>
      <p:sp>
        <p:nvSpPr>
          <p:cNvPr id="66" name="figure1-frame"/>
          <p:cNvSpPr>
            <a:spLocks noGrp="1"/>
          </p:cNvSpPr>
          <p:nvPr/>
        </p:nvSpPr>
        <p:spPr>
          <a:xfrm>
            <a:off x="5000625" y="1695450"/>
            <a:ext cx="6477000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135" y="1847850"/>
            <a:ext cx="5891981" cy="3581400"/>
          </a:xfrm>
          <a:prstGeom prst="rect">
            <a:avLst/>
          </a:prstGeom>
        </p:spPr>
      </p:pic>
      <p:sp>
        <p:nvSpPr>
          <p:cNvPr id="68" name="figure1-caption"/>
          <p:cNvSpPr>
            <a:spLocks noGrp="1"/>
          </p:cNvSpPr>
          <p:nvPr/>
        </p:nvSpPr>
        <p:spPr>
          <a:xfrm>
            <a:off x="5286375" y="5467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1：用旧最优点（红星）指引缺失梯度方向</a:t>
            </a:r>
          </a:p>
        </p:txBody>
      </p:sp>
      <p:sp>
        <p:nvSpPr>
          <p:cNvPr id="69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Paper Figure 1 and 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三种优化路径：DGG 更接近联合训练的最优点</a:t>
            </a:r>
          </a:p>
        </p:txBody>
      </p:sp>
      <p:sp>
        <p:nvSpPr>
          <p:cNvPr id="59" name="figure2-frame"/>
          <p:cNvSpPr>
            <a:spLocks noGrp="1"/>
          </p:cNvSpPr>
          <p:nvPr/>
        </p:nvSpPr>
        <p:spPr>
          <a:xfrm>
            <a:off x="666750" y="1638300"/>
            <a:ext cx="10858500" cy="3714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896" y="1752600"/>
            <a:ext cx="9652209" cy="3476625"/>
          </a:xfrm>
          <a:prstGeom prst="rect">
            <a:avLst/>
          </a:prstGeom>
        </p:spPr>
      </p:pic>
      <p:sp>
        <p:nvSpPr>
          <p:cNvPr id="61" name="compare-label-0"/>
          <p:cNvSpPr>
            <a:spLocks noGrp="1"/>
          </p:cNvSpPr>
          <p:nvPr/>
        </p:nvSpPr>
        <p:spPr>
          <a:xfrm>
            <a:off x="742950" y="5429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83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仅新任务</a:t>
            </a:r>
          </a:p>
        </p:txBody>
      </p:sp>
      <p:sp>
        <p:nvSpPr>
          <p:cNvPr id="62" name="compare-text-0"/>
          <p:cNvSpPr>
            <a:spLocks noGrp="1"/>
          </p:cNvSpPr>
          <p:nvPr/>
        </p:nvSpPr>
        <p:spPr>
          <a:xfrm>
            <a:off x="838200" y="5715000"/>
            <a:ext cx="2952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只沿 g_new 更新，最终偏向新任务最优点，旧知识遗忘最严重。</a:t>
            </a:r>
          </a:p>
        </p:txBody>
      </p:sp>
      <p:sp>
        <p:nvSpPr>
          <p:cNvPr id="63" name="compare-label-1"/>
          <p:cNvSpPr>
            <a:spLocks noGrp="1"/>
          </p:cNvSpPr>
          <p:nvPr/>
        </p:nvSpPr>
        <p:spPr>
          <a:xfrm>
            <a:off x="4362450" y="5429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 加入回放</a:t>
            </a:r>
          </a:p>
        </p:txBody>
      </p:sp>
      <p:sp>
        <p:nvSpPr>
          <p:cNvPr id="64" name="compare-text-1"/>
          <p:cNvSpPr>
            <a:spLocks noGrp="1"/>
          </p:cNvSpPr>
          <p:nvPr/>
        </p:nvSpPr>
        <p:spPr>
          <a:xfrm>
            <a:off x="4457700" y="5715000"/>
            <a:ext cx="2952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得到部分旧梯度，但有限样本造成偏差，仍是次优收敛。</a:t>
            </a:r>
          </a:p>
        </p:txBody>
      </p:sp>
      <p:sp>
        <p:nvSpPr>
          <p:cNvPr id="65" name="compare-label-2"/>
          <p:cNvSpPr>
            <a:spLocks noGrp="1"/>
          </p:cNvSpPr>
          <p:nvPr/>
        </p:nvSpPr>
        <p:spPr>
          <a:xfrm>
            <a:off x="7981950" y="5429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(c) DGG + 回放</a:t>
            </a:r>
          </a:p>
        </p:txBody>
      </p:sp>
      <p:sp>
        <p:nvSpPr>
          <p:cNvPr id="66" name="compare-text-2"/>
          <p:cNvSpPr>
            <a:spLocks noGrp="1"/>
          </p:cNvSpPr>
          <p:nvPr/>
        </p:nvSpPr>
        <p:spPr>
          <a:xfrm>
            <a:off x="8077200" y="5715000"/>
            <a:ext cx="2952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近似旧梯度并动态融合，使更新方向更接近联合任务梯度。</a:t>
            </a:r>
          </a:p>
        </p:txBody>
      </p:sp>
      <p:sp>
        <p:nvSpPr>
          <p:cNvPr id="67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Paper Figure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DGG 用四步构造旧任务梯度代理</a:t>
            </a:r>
          </a:p>
        </p:txBody>
      </p:sp>
      <p:sp>
        <p:nvSpPr>
          <p:cNvPr id="59" name="number-1"/>
          <p:cNvSpPr>
            <a:spLocks noGrp="1"/>
          </p:cNvSpPr>
          <p:nvPr/>
        </p:nvSpPr>
        <p:spPr>
          <a:xfrm>
            <a:off x="1619250" y="1809750"/>
            <a:ext cx="419100" cy="419100"/>
          </a:xfrm>
          <a:prstGeom prst="ellipse">
            <a:avLst/>
          </a:prstGeom>
          <a:solidFill>
            <a:srgbClr val="1C62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60" name="dgg-title-0"/>
          <p:cNvSpPr>
            <a:spLocks noGrp="1"/>
          </p:cNvSpPr>
          <p:nvPr/>
        </p:nvSpPr>
        <p:spPr>
          <a:xfrm>
            <a:off x="685800" y="24003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保存旧最优参数</a:t>
            </a:r>
          </a:p>
        </p:txBody>
      </p:sp>
      <p:sp>
        <p:nvSpPr>
          <p:cNvPr id="61" name="dgg-text-0"/>
          <p:cNvSpPr>
            <a:spLocks noGrp="1"/>
          </p:cNvSpPr>
          <p:nvPr/>
        </p:nvSpPr>
        <p:spPr>
          <a:xfrm>
            <a:off x="685800" y="2952750"/>
            <a:ext cx="2286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完成任务 t−1 后保存 θ*₁:ₜ₋₁</a:t>
            </a:r>
          </a:p>
        </p:txBody>
      </p:sp>
      <p:sp>
        <p:nvSpPr>
          <p:cNvPr id="62" name="dgg-arrow-0"/>
          <p:cNvSpPr>
            <a:spLocks noGrp="1"/>
          </p:cNvSpPr>
          <p:nvPr/>
        </p:nvSpPr>
        <p:spPr>
          <a:xfrm>
            <a:off x="2990850" y="262890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63" name="number-2"/>
          <p:cNvSpPr>
            <a:spLocks noGrp="1"/>
          </p:cNvSpPr>
          <p:nvPr/>
        </p:nvSpPr>
        <p:spPr>
          <a:xfrm>
            <a:off x="4381500" y="1809750"/>
            <a:ext cx="419100" cy="419100"/>
          </a:xfrm>
          <a:prstGeom prst="ellipse">
            <a:avLst/>
          </a:prstGeom>
          <a:solidFill>
            <a:srgbClr val="0070C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64" name="dgg-title-1"/>
          <p:cNvSpPr>
            <a:spLocks noGrp="1"/>
          </p:cNvSpPr>
          <p:nvPr/>
        </p:nvSpPr>
        <p:spPr>
          <a:xfrm>
            <a:off x="3448050" y="24003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计算方向向量</a:t>
            </a:r>
          </a:p>
        </p:txBody>
      </p:sp>
      <p:sp>
        <p:nvSpPr>
          <p:cNvPr id="65" name="dgg-text-1"/>
          <p:cNvSpPr>
            <a:spLocks noGrp="1"/>
          </p:cNvSpPr>
          <p:nvPr/>
        </p:nvSpPr>
        <p:spPr>
          <a:xfrm>
            <a:off x="3448050" y="2952750"/>
            <a:ext cx="2286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= θ − θ*₁:ₜ₋₁</a:t>
            </a:r>
          </a:p>
        </p:txBody>
      </p:sp>
      <p:sp>
        <p:nvSpPr>
          <p:cNvPr id="66" name="dgg-arrow-1"/>
          <p:cNvSpPr>
            <a:spLocks noGrp="1"/>
          </p:cNvSpPr>
          <p:nvPr/>
        </p:nvSpPr>
        <p:spPr>
          <a:xfrm>
            <a:off x="5753100" y="262890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67" name="number-3"/>
          <p:cNvSpPr>
            <a:spLocks noGrp="1"/>
          </p:cNvSpPr>
          <p:nvPr/>
        </p:nvSpPr>
        <p:spPr>
          <a:xfrm>
            <a:off x="7143750" y="1809750"/>
            <a:ext cx="419100" cy="419100"/>
          </a:xfrm>
          <a:prstGeom prst="ellipse">
            <a:avLst/>
          </a:prstGeom>
          <a:solidFill>
            <a:srgbClr val="5C307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68" name="dgg-title-2"/>
          <p:cNvSpPr>
            <a:spLocks noGrp="1"/>
          </p:cNvSpPr>
          <p:nvPr/>
        </p:nvSpPr>
        <p:spPr>
          <a:xfrm>
            <a:off x="6210300" y="24003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按新梯度缩放</a:t>
            </a:r>
          </a:p>
        </p:txBody>
      </p:sp>
      <p:sp>
        <p:nvSpPr>
          <p:cNvPr id="69" name="dgg-text-2"/>
          <p:cNvSpPr>
            <a:spLocks noGrp="1"/>
          </p:cNvSpPr>
          <p:nvPr/>
        </p:nvSpPr>
        <p:spPr>
          <a:xfrm>
            <a:off x="6210300" y="2952750"/>
            <a:ext cx="2286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 ‖ĝ‖ 不超过当前梯度尺度</a:t>
            </a:r>
          </a:p>
        </p:txBody>
      </p:sp>
      <p:sp>
        <p:nvSpPr>
          <p:cNvPr id="70" name="dgg-arrow-2"/>
          <p:cNvSpPr>
            <a:spLocks noGrp="1"/>
          </p:cNvSpPr>
          <p:nvPr/>
        </p:nvSpPr>
        <p:spPr>
          <a:xfrm>
            <a:off x="8515350" y="262890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71" name="number-4"/>
          <p:cNvSpPr>
            <a:spLocks noGrp="1"/>
          </p:cNvSpPr>
          <p:nvPr/>
        </p:nvSpPr>
        <p:spPr>
          <a:xfrm>
            <a:off x="9906000" y="1809750"/>
            <a:ext cx="419100" cy="419100"/>
          </a:xfrm>
          <a:prstGeom prst="ellipse">
            <a:avLst/>
          </a:prstGeom>
          <a:solidFill>
            <a:srgbClr val="2A9D8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72" name="dgg-title-3"/>
          <p:cNvSpPr>
            <a:spLocks noGrp="1"/>
          </p:cNvSpPr>
          <p:nvPr/>
        </p:nvSpPr>
        <p:spPr>
          <a:xfrm>
            <a:off x="8972550" y="24003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融合并更新</a:t>
            </a:r>
          </a:p>
        </p:txBody>
      </p:sp>
      <p:sp>
        <p:nvSpPr>
          <p:cNvPr id="73" name="dgg-text-3"/>
          <p:cNvSpPr>
            <a:spLocks noGrp="1"/>
          </p:cNvSpPr>
          <p:nvPr/>
        </p:nvSpPr>
        <p:spPr>
          <a:xfrm>
            <a:off x="8972550" y="2952750"/>
            <a:ext cx="2286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ĝ + ∇L(Tₜ ∪ M)</a:t>
            </a:r>
          </a:p>
        </p:txBody>
      </p:sp>
      <p:sp>
        <p:nvSpPr>
          <p:cNvPr id="74" name="dgg-formula-box"/>
          <p:cNvSpPr>
            <a:spLocks noGrp="1"/>
          </p:cNvSpPr>
          <p:nvPr/>
        </p:nvSpPr>
        <p:spPr>
          <a:xfrm>
            <a:off x="1143000" y="4238625"/>
            <a:ext cx="9906000" cy="1162050"/>
          </a:xfrm>
          <a:prstGeom prst="roundRect">
            <a:avLst>
              <a:gd name="adj" fmla="val 9836"/>
            </a:avLst>
          </a:prstGeom>
          <a:solidFill>
            <a:srgbClr val="EAF4FB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75" name="dgg-final-formula"/>
          <p:cNvSpPr>
            <a:spLocks noGrp="1"/>
          </p:cNvSpPr>
          <p:nvPr/>
        </p:nvSpPr>
        <p:spPr>
          <a:xfrm>
            <a:off x="1714500" y="443865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 dirty="0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∇L(T₁:</a:t>
            </a:r>
            <a:r>
              <a:rPr lang="en-US" sz="2250" b="1" dirty="0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sz="2250" b="1" dirty="0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 ≈  </a:t>
            </a:r>
            <a:r>
              <a:rPr sz="2250" b="1" dirty="0" err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ĝ_old</a:t>
            </a:r>
            <a:r>
              <a:rPr sz="2250" b="1" dirty="0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∇L(Tₜ ∪ M)</a:t>
            </a:r>
          </a:p>
        </p:txBody>
      </p:sp>
      <p:sp>
        <p:nvSpPr>
          <p:cNvPr id="76" name="dgg-formula-explain"/>
          <p:cNvSpPr>
            <a:spLocks noGrp="1"/>
          </p:cNvSpPr>
          <p:nvPr/>
        </p:nvSpPr>
        <p:spPr>
          <a:xfrm>
            <a:off x="2095500" y="4953000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ĝ 提供几何方向；M 提供少量真实旧梯度；二者互补。</a:t>
            </a:r>
          </a:p>
        </p:txBody>
      </p:sp>
      <p:sp>
        <p:nvSpPr>
          <p:cNvPr id="77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Section 4.2, Eq. (10)-(15)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Bernoulli 采样决定：这一更新步要不要加入 ĝ</a:t>
            </a:r>
          </a:p>
        </p:txBody>
      </p:sp>
      <p:sp>
        <p:nvSpPr>
          <p:cNvPr id="59" name="bernoulli-intro"/>
          <p:cNvSpPr>
            <a:spLocks noGrp="1"/>
          </p:cNvSpPr>
          <p:nvPr/>
        </p:nvSpPr>
        <p:spPr>
          <a:xfrm>
            <a:off x="762000" y="17335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每个优化步采样 B(α)</a:t>
            </a:r>
          </a:p>
        </p:txBody>
      </p:sp>
      <p:sp>
        <p:nvSpPr>
          <p:cNvPr id="60" name="branch-one"/>
          <p:cNvSpPr>
            <a:spLocks noGrp="1"/>
          </p:cNvSpPr>
          <p:nvPr/>
        </p:nvSpPr>
        <p:spPr>
          <a:xfrm>
            <a:off x="1143000" y="238125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9525">
            <a:solidFill>
              <a:srgbClr val="0070C0"/>
            </a:solidFill>
            <a:prstDash val="solid"/>
          </a:ln>
        </p:spPr>
      </p:sp>
      <p:sp>
        <p:nvSpPr>
          <p:cNvPr id="61" name="branch-one-label"/>
          <p:cNvSpPr>
            <a:spLocks noGrp="1"/>
          </p:cNvSpPr>
          <p:nvPr/>
        </p:nvSpPr>
        <p:spPr>
          <a:xfrm>
            <a:off x="1524000" y="259080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B(α) = 1</a:t>
            </a:r>
          </a:p>
        </p:txBody>
      </p:sp>
      <p:sp>
        <p:nvSpPr>
          <p:cNvPr id="62" name="branch-one-text"/>
          <p:cNvSpPr>
            <a:spLocks noGrp="1"/>
          </p:cNvSpPr>
          <p:nvPr/>
        </p:nvSpPr>
        <p:spPr>
          <a:xfrm>
            <a:off x="1476375" y="31051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ĝ + ∇L(Tₜ ∪ M)</a:t>
            </a:r>
          </a:p>
          <a:p>
            <a:pPr algn="ctr"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强化旧知识保持</a:t>
            </a:r>
          </a:p>
        </p:txBody>
      </p:sp>
      <p:sp>
        <p:nvSpPr>
          <p:cNvPr id="63" name="branch-zero"/>
          <p:cNvSpPr>
            <a:spLocks noGrp="1"/>
          </p:cNvSpPr>
          <p:nvPr/>
        </p:nvSpPr>
        <p:spPr>
          <a:xfrm>
            <a:off x="6667500" y="238125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64" name="branch-zero-label"/>
          <p:cNvSpPr>
            <a:spLocks noGrp="1"/>
          </p:cNvSpPr>
          <p:nvPr/>
        </p:nvSpPr>
        <p:spPr>
          <a:xfrm>
            <a:off x="7048500" y="259080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B(α) = 0</a:t>
            </a:r>
          </a:p>
        </p:txBody>
      </p:sp>
      <p:sp>
        <p:nvSpPr>
          <p:cNvPr id="65" name="branch-zero-text"/>
          <p:cNvSpPr>
            <a:spLocks noGrp="1"/>
          </p:cNvSpPr>
          <p:nvPr/>
        </p:nvSpPr>
        <p:spPr>
          <a:xfrm>
            <a:off x="7000875" y="31051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仅使用 ∇L(Tₜ ∪ M)</a:t>
            </a:r>
          </a:p>
          <a:p>
            <a:pPr algn="ctr"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保证新任务学习</a:t>
            </a:r>
          </a:p>
        </p:txBody>
      </p:sp>
      <p:sp>
        <p:nvSpPr>
          <p:cNvPr id="66" name="alpha-small"/>
          <p:cNvSpPr>
            <a:spLocks noGrp="1"/>
          </p:cNvSpPr>
          <p:nvPr/>
        </p:nvSpPr>
        <p:spPr>
          <a:xfrm>
            <a:off x="857250" y="45720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较小</a:t>
            </a:r>
          </a:p>
        </p:txBody>
      </p:sp>
      <p:sp>
        <p:nvSpPr>
          <p:cNvPr id="67" name="alpha-track"/>
          <p:cNvSpPr>
            <a:spLocks noGrp="1"/>
          </p:cNvSpPr>
          <p:nvPr/>
        </p:nvSpPr>
        <p:spPr>
          <a:xfrm>
            <a:off x="2095500" y="4676775"/>
            <a:ext cx="8001000" cy="133350"/>
          </a:xfrm>
          <a:prstGeom prst="rect">
            <a:avLst/>
          </a:prstGeom>
          <a:solidFill>
            <a:srgbClr val="C9D8E6"/>
          </a:solidFill>
          <a:ln w="0">
            <a:noFill/>
            <a:prstDash val="solid"/>
          </a:ln>
        </p:spPr>
      </p:sp>
      <p:sp>
        <p:nvSpPr>
          <p:cNvPr id="68" name="alpha-fill"/>
          <p:cNvSpPr>
            <a:spLocks noGrp="1"/>
          </p:cNvSpPr>
          <p:nvPr/>
        </p:nvSpPr>
        <p:spPr>
          <a:xfrm>
            <a:off x="2095500" y="4676775"/>
            <a:ext cx="8001000" cy="133350"/>
          </a:xfrm>
          <a:prstGeom prst="rect">
            <a:avLst/>
          </a:prstGeom>
          <a:solidFill>
            <a:srgbClr val="0070C0"/>
          </a:solidFill>
          <a:ln w="0">
            <a:noFill/>
            <a:prstDash val="solid"/>
          </a:ln>
        </p:spPr>
      </p:sp>
      <p:sp>
        <p:nvSpPr>
          <p:cNvPr id="69" name="alpha-large"/>
          <p:cNvSpPr>
            <a:spLocks noGrp="1"/>
          </p:cNvSpPr>
          <p:nvPr/>
        </p:nvSpPr>
        <p:spPr>
          <a:xfrm>
            <a:off x="10096500" y="45720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较大</a:t>
            </a:r>
          </a:p>
        </p:txBody>
      </p:sp>
      <p:sp>
        <p:nvSpPr>
          <p:cNvPr id="70" name="plasticity-label"/>
          <p:cNvSpPr>
            <a:spLocks noGrp="1"/>
          </p:cNvSpPr>
          <p:nvPr/>
        </p:nvSpPr>
        <p:spPr>
          <a:xfrm>
            <a:off x="1047750" y="50292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可塑性更强 / 新任务优先</a:t>
            </a:r>
          </a:p>
        </p:txBody>
      </p:sp>
      <p:sp>
        <p:nvSpPr>
          <p:cNvPr id="71" name="stability-label"/>
          <p:cNvSpPr>
            <a:spLocks noGrp="1"/>
          </p:cNvSpPr>
          <p:nvPr/>
        </p:nvSpPr>
        <p:spPr>
          <a:xfrm>
            <a:off x="7524750" y="50292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稳定性更强 / 旧任务优先</a:t>
            </a:r>
          </a:p>
        </p:txBody>
      </p:sp>
      <p:sp>
        <p:nvSpPr>
          <p:cNvPr id="72" name="balance-takeaway"/>
          <p:cNvSpPr>
            <a:spLocks noGrp="1"/>
          </p:cNvSpPr>
          <p:nvPr/>
        </p:nvSpPr>
        <p:spPr>
          <a:xfrm>
            <a:off x="1714500" y="5619750"/>
            <a:ext cx="876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关键作用：用更新频率而非固定惩罚强度，动态调节稳定性—可塑性。</a:t>
            </a:r>
          </a:p>
        </p:txBody>
      </p:sp>
      <p:sp>
        <p:nvSpPr>
          <p:cNvPr id="73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Introduction and Section 4.3, Eq. (16)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/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/>
          <p:cNvSpPr>
            <a:spLocks noGrp="1"/>
          </p:cNvSpPr>
          <p:nvPr/>
        </p:nvSpPr>
        <p:spPr>
          <a:xfrm>
            <a:off x="256004" y="244806"/>
            <a:ext cx="67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Tsinghua University of China</a:t>
            </a: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自强不息 厚德载物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知行合一、经世致用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South University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/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论文贡献：从优化过程重新解释并抑制遗忘</a:t>
            </a:r>
          </a:p>
        </p:txBody>
      </p:sp>
      <p:sp>
        <p:nvSpPr>
          <p:cNvPr id="59" name="number-1"/>
          <p:cNvSpPr>
            <a:spLocks noGrp="1"/>
          </p:cNvSpPr>
          <p:nvPr/>
        </p:nvSpPr>
        <p:spPr>
          <a:xfrm>
            <a:off x="723900" y="1733550"/>
            <a:ext cx="419100" cy="419100"/>
          </a:xfrm>
          <a:prstGeom prst="ellipse">
            <a:avLst/>
          </a:prstGeom>
          <a:solidFill>
            <a:srgbClr val="1C62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60" name="contrib-title-0"/>
          <p:cNvSpPr>
            <a:spLocks noGrp="1"/>
          </p:cNvSpPr>
          <p:nvPr/>
        </p:nvSpPr>
        <p:spPr>
          <a:xfrm>
            <a:off x="1333500" y="17145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C6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新视角</a:t>
            </a:r>
          </a:p>
        </p:txBody>
      </p:sp>
      <p:sp>
        <p:nvSpPr>
          <p:cNvPr id="61" name="contrib-text-0"/>
          <p:cNvSpPr>
            <a:spLocks noGrp="1"/>
          </p:cNvSpPr>
          <p:nvPr/>
        </p:nvSpPr>
        <p:spPr>
          <a:xfrm>
            <a:off x="1333500" y="220980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将知识保持重构为“旧任务梯度近似”问题。</a:t>
            </a:r>
          </a:p>
        </p:txBody>
      </p:sp>
      <p:sp>
        <p:nvSpPr>
          <p:cNvPr id="62" name="contrib-rule-0"/>
          <p:cNvSpPr>
            <a:spLocks noGrp="1"/>
          </p:cNvSpPr>
          <p:nvPr/>
        </p:nvSpPr>
        <p:spPr>
          <a:xfrm>
            <a:off x="1333500" y="3162300"/>
            <a:ext cx="4095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3" name="number-2"/>
          <p:cNvSpPr>
            <a:spLocks noGrp="1"/>
          </p:cNvSpPr>
          <p:nvPr/>
        </p:nvSpPr>
        <p:spPr>
          <a:xfrm>
            <a:off x="6229350" y="1733550"/>
            <a:ext cx="419100" cy="419100"/>
          </a:xfrm>
          <a:prstGeom prst="ellipse">
            <a:avLst/>
          </a:prstGeom>
          <a:solidFill>
            <a:srgbClr val="0070C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64" name="contrib-title-1"/>
          <p:cNvSpPr>
            <a:spLocks noGrp="1"/>
          </p:cNvSpPr>
          <p:nvPr/>
        </p:nvSpPr>
        <p:spPr>
          <a:xfrm>
            <a:off x="6838950" y="17145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新方法</a:t>
            </a:r>
          </a:p>
        </p:txBody>
      </p:sp>
      <p:sp>
        <p:nvSpPr>
          <p:cNvPr id="65" name="contrib-text-1"/>
          <p:cNvSpPr>
            <a:spLocks noGrp="1"/>
          </p:cNvSpPr>
          <p:nvPr/>
        </p:nvSpPr>
        <p:spPr>
          <a:xfrm>
            <a:off x="6838950" y="220980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 DGG，并与回放梯度组合得到更准确的近似。</a:t>
            </a:r>
          </a:p>
        </p:txBody>
      </p:sp>
      <p:sp>
        <p:nvSpPr>
          <p:cNvPr id="66" name="contrib-rule-1"/>
          <p:cNvSpPr>
            <a:spLocks noGrp="1"/>
          </p:cNvSpPr>
          <p:nvPr/>
        </p:nvSpPr>
        <p:spPr>
          <a:xfrm>
            <a:off x="6838950" y="3162300"/>
            <a:ext cx="4095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67" name="number-3"/>
          <p:cNvSpPr>
            <a:spLocks noGrp="1"/>
          </p:cNvSpPr>
          <p:nvPr/>
        </p:nvSpPr>
        <p:spPr>
          <a:xfrm>
            <a:off x="723900" y="3733800"/>
            <a:ext cx="419100" cy="419100"/>
          </a:xfrm>
          <a:prstGeom prst="ellipse">
            <a:avLst/>
          </a:prstGeom>
          <a:solidFill>
            <a:srgbClr val="5C307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68" name="contrib-title-2"/>
          <p:cNvSpPr>
            <a:spLocks noGrp="1"/>
          </p:cNvSpPr>
          <p:nvPr/>
        </p:nvSpPr>
        <p:spPr>
          <a:xfrm>
            <a:off x="1333500" y="37147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C30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动态平衡</a:t>
            </a:r>
          </a:p>
        </p:txBody>
      </p:sp>
      <p:sp>
        <p:nvSpPr>
          <p:cNvPr id="69" name="contrib-text-2"/>
          <p:cNvSpPr>
            <a:spLocks noGrp="1"/>
          </p:cNvSpPr>
          <p:nvPr/>
        </p:nvSpPr>
        <p:spPr>
          <a:xfrm>
            <a:off x="1333500" y="421005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Bernoulli 采样控制 ĝ 的加入频率，平衡稳定性与可塑性。</a:t>
            </a:r>
          </a:p>
        </p:txBody>
      </p:sp>
      <p:sp>
        <p:nvSpPr>
          <p:cNvPr id="70" name="contrib-rule-2"/>
          <p:cNvSpPr>
            <a:spLocks noGrp="1"/>
          </p:cNvSpPr>
          <p:nvPr/>
        </p:nvSpPr>
        <p:spPr>
          <a:xfrm>
            <a:off x="1333500" y="5162550"/>
            <a:ext cx="4095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71" name="number-4"/>
          <p:cNvSpPr>
            <a:spLocks noGrp="1"/>
          </p:cNvSpPr>
          <p:nvPr/>
        </p:nvSpPr>
        <p:spPr>
          <a:xfrm>
            <a:off x="6229350" y="3733800"/>
            <a:ext cx="419100" cy="419100"/>
          </a:xfrm>
          <a:prstGeom prst="ellipse">
            <a:avLst/>
          </a:prstGeom>
          <a:solidFill>
            <a:srgbClr val="2A9D8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72" name="contrib-title-3"/>
          <p:cNvSpPr>
            <a:spLocks noGrp="1"/>
          </p:cNvSpPr>
          <p:nvPr/>
        </p:nvSpPr>
        <p:spPr>
          <a:xfrm>
            <a:off x="6838950" y="37147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紧凑 SOTA</a:t>
            </a:r>
          </a:p>
        </p:txBody>
      </p:sp>
      <p:sp>
        <p:nvSpPr>
          <p:cNvPr id="73" name="contrib-text-3"/>
          <p:cNvSpPr>
            <a:spLocks noGrp="1"/>
          </p:cNvSpPr>
          <p:nvPr/>
        </p:nvSpPr>
        <p:spPr>
          <a:xfrm>
            <a:off x="6838950" y="421005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83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两个数据集达到 SOTA，且完全避免模型结构扩展。</a:t>
            </a:r>
          </a:p>
        </p:txBody>
      </p:sp>
      <p:sp>
        <p:nvSpPr>
          <p:cNvPr id="74" name="contrib-rule-3"/>
          <p:cNvSpPr>
            <a:spLocks noGrp="1"/>
          </p:cNvSpPr>
          <p:nvPr/>
        </p:nvSpPr>
        <p:spPr>
          <a:xfrm>
            <a:off x="6838950" y="5162550"/>
            <a:ext cx="4095750" cy="0"/>
          </a:xfrm>
          <a:prstGeom prst="line">
            <a:avLst/>
          </a:prstGeom>
          <a:noFill/>
          <a:ln w="9525">
            <a:solidFill>
              <a:srgbClr val="C9D8E6"/>
            </a:solidFill>
            <a:prstDash val="solid"/>
          </a:ln>
        </p:spPr>
      </p:sp>
      <p:sp>
        <p:nvSpPr>
          <p:cNvPr id="76" name="source-note"/>
          <p:cNvSpPr>
            <a:spLocks noGrp="1"/>
          </p:cNvSpPr>
          <p:nvPr/>
        </p:nvSpPr>
        <p:spPr>
          <a:xfrm>
            <a:off x="723900" y="6200775"/>
            <a:ext cx="1066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6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Introduction, Contributions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pic>
        <p:nvPicPr>
          <p:cNvPr id="20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206135" cy="36766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0" y="3676650"/>
            <a:ext cx="12220271" cy="1376135"/>
          </a:xfrm>
          <a:prstGeom prst="rect">
            <a:avLst/>
          </a:prstGeom>
          <a:solidFill>
            <a:srgbClr val="1C629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35923" y="3960604"/>
            <a:ext cx="5109210" cy="1015620"/>
          </a:xfrm>
          <a:prstGeom prst="rect">
            <a:avLst/>
          </a:prstGeom>
        </p:spPr>
        <p:txBody>
          <a:bodyPr wrap="square" lIns="91397" tIns="45699" rIns="91397" bIns="45699" anchor="ctr">
            <a:sp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谢谢聆听</a:t>
            </a:r>
            <a:endParaRPr sz="25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0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744</Words>
  <Application>Microsoft Office PowerPoint</Application>
  <PresentationFormat>宽屏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微软雅黑</vt:lpstr>
      <vt:lpstr>Arial</vt:lpstr>
      <vt:lpstr>Calibri</vt:lpstr>
      <vt:lpstr>Calibri Light</vt:lpstr>
      <vt:lpstr>Tahoma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zy h</cp:lastModifiedBy>
  <cp:revision>6</cp:revision>
  <dcterms:created xsi:type="dcterms:W3CDTF">2026-07-16T02:20:00Z</dcterms:created>
  <dcterms:modified xsi:type="dcterms:W3CDTF">2026-07-18T09:55:35Z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2052-12.1.0.26885</vt:lpwstr>
  </property>
  <property fmtid="{D5CDD505-2E9C-101B-9397-08002B2CF9AE}" pid="3" name="ICV">
    <vt:lpwstr>2019FFF2F21945EDAB0CAC87C03F5C7E_12</vt:lpwstr>
  </property>
</Properties>
</file>