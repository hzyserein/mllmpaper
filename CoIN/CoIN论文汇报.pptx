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13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4592"/>
            <a:ext cx="2103120" cy="475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38360" y="41365"/>
            <a:ext cx="2080720" cy="274320"/>
          </a:xfrm>
          <a:prstGeom prst="roundRect">
            <a:avLst>
              <a:gd name="adj" fmla="val 26667"/>
            </a:avLst>
          </a:prstGeom>
          <a:solidFill>
            <a:srgbClr val="F3F7FA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738360" y="105156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NeurIPS 2024 · Datasets and Benchmarks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0" y="1444753"/>
            <a:ext cx="12192000" cy="1225296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43697" y="1861479"/>
            <a:ext cx="4757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CoIN</a:t>
            </a: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论文汇报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42316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10241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CoIN: A Benchmark of Continual Instruction Tuning</a:t>
            </a:r>
            <a:endParaRPr lang="en-US" sz="2250" dirty="0"/>
          </a:p>
          <a:p>
            <a:pPr marL="0" indent="0" algn="ctr">
              <a:buNone/>
            </a:pPr>
            <a:r>
              <a:rPr lang="en-US" sz="225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 Multimodal Large Language Models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2377440" y="4087798"/>
            <a:ext cx="7406640" cy="0"/>
          </a:xfrm>
          <a:prstGeom prst="line">
            <a:avLst/>
          </a:prstGeom>
          <a:noFill/>
          <a:ln w="1778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4709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汇报人：黄正业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80560" y="51663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2026-07-14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" y="612648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背景：为什么关注MLLM的持续指令微调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11480" y="1207008"/>
            <a:ext cx="110642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MLLM通常经历“视觉-语言预训练对齐”与“指令微调”两个阶段。指令微调能让模型更好地理解任务意图、按格式输出，并提升泛化。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67128" y="2633472"/>
            <a:ext cx="694944" cy="0"/>
          </a:xfrm>
          <a:prstGeom prst="line">
            <a:avLst/>
          </a:prstGeom>
          <a:noFill/>
          <a:ln w="19050">
            <a:solidFill>
              <a:srgbClr val="7A8FA5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34840" y="2633472"/>
            <a:ext cx="786384" cy="0"/>
          </a:xfrm>
          <a:prstGeom prst="line">
            <a:avLst/>
          </a:prstGeom>
          <a:noFill/>
          <a:ln w="19050">
            <a:solidFill>
              <a:srgbClr val="7A8FA5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793992" y="2633472"/>
            <a:ext cx="777240" cy="0"/>
          </a:xfrm>
          <a:prstGeom prst="line">
            <a:avLst/>
          </a:prstGeom>
          <a:noFill/>
          <a:ln w="19050">
            <a:solidFill>
              <a:srgbClr val="7A8FA5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144000" y="2633472"/>
            <a:ext cx="713232" cy="0"/>
          </a:xfrm>
          <a:prstGeom prst="line">
            <a:avLst/>
          </a:prstGeom>
          <a:noFill/>
          <a:ln w="19050">
            <a:solidFill>
              <a:srgbClr val="7A8FA5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8368" y="233172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13970">
            <a:solidFill>
              <a:srgbClr val="BDD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244144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预训练对齐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4944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Vision-Language Alignment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2926080" y="233172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13970">
            <a:solidFill>
              <a:srgbClr val="BDD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62656" y="244144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指令微调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62656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Instruction Tuning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5285232" y="233172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13970">
            <a:solidFill>
              <a:srgbClr val="BDD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808" y="244144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多任务顺序更新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21808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Sequential Tuning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7635240" y="233172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F4F7FB"/>
          </a:solidFill>
          <a:ln w="13970">
            <a:solidFill>
              <a:srgbClr val="BDD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71816" y="244144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旧任务评估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71816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Previous Tasks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9921240" y="233172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FFF2F2"/>
          </a:solidFill>
          <a:ln w="13970">
            <a:solidFill>
              <a:srgbClr val="E33A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57816" y="244144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遗忘分析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57816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Forgetting?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594360" y="370332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33A3A"/>
          </a:solidFill>
          <a:ln w="12700">
            <a:solidFill>
              <a:srgbClr val="E33A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" y="37581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引言指出的研究缺口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85800" y="4279392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5444" y="4206240"/>
            <a:ext cx="7613787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已有工作重视单次指令微调，但“在不同任务上连续更新后，旧任务会怎样”被忽视。</a:t>
            </a:r>
            <a:endParaRPr lang="en-US" sz="1320" dirty="0"/>
          </a:p>
        </p:txBody>
      </p:sp>
      <p:sp>
        <p:nvSpPr>
          <p:cNvPr id="35" name="Shape 32"/>
          <p:cNvSpPr/>
          <p:nvPr/>
        </p:nvSpPr>
        <p:spPr>
          <a:xfrm>
            <a:off x="685800" y="4672584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6968" y="4599432"/>
            <a:ext cx="10144447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LLM已有持续指令微调研究，但MLLM场景仍缺少系统探索。</a:t>
            </a:r>
            <a:endParaRPr lang="en-US" sz="1320" dirty="0"/>
          </a:p>
        </p:txBody>
      </p:sp>
      <p:sp>
        <p:nvSpPr>
          <p:cNvPr id="37" name="Shape 34"/>
          <p:cNvSpPr/>
          <p:nvPr/>
        </p:nvSpPr>
        <p:spPr>
          <a:xfrm>
            <a:off x="685800" y="5065776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6968" y="4992624"/>
            <a:ext cx="834847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 err="1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已有MLLM持续学习研究要么</a:t>
            </a:r>
            <a:r>
              <a:rPr lang="zh-CN" altLang="en-US" sz="13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大部分</a:t>
            </a:r>
            <a:r>
              <a:rPr lang="en-US" sz="1320" dirty="0" err="1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关注分类，要么采用多任务联合设置，难以模拟实际连续适配</a:t>
            </a:r>
            <a:r>
              <a:rPr lang="en-US" sz="13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20" dirty="0"/>
          </a:p>
        </p:txBody>
      </p:sp>
      <p:sp>
        <p:nvSpPr>
          <p:cNvPr id="39" name="Shape 36"/>
          <p:cNvSpPr/>
          <p:nvPr/>
        </p:nvSpPr>
        <p:spPr>
          <a:xfrm>
            <a:off x="7694676" y="3172968"/>
            <a:ext cx="3611880" cy="1097280"/>
          </a:xfrm>
          <a:prstGeom prst="roundRect">
            <a:avLst>
              <a:gd name="adj" fmla="val 8696"/>
            </a:avLst>
          </a:prstGeom>
          <a:solidFill>
            <a:srgbClr val="EFF7FF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91272" y="3346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781604" y="3505774"/>
            <a:ext cx="3448945" cy="7680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 err="1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MLLM连续学习时，是忘掉</a:t>
            </a:r>
            <a:r>
              <a:rPr lang="en-US" sz="122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</a:t>
            </a:r>
            <a:r>
              <a:rPr lang="zh-CN" altLang="en-US" sz="122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</a:t>
            </a:r>
            <a:r>
              <a:rPr lang="en-US" sz="122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”，还是忘掉“如何按新任务指令输出”？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" y="585217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摘要速览：CoIN解决什么问题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94360" y="14173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17320"/>
            <a:ext cx="73152" cy="1234440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1581912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提出新基准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" y="1947672"/>
            <a:ext cx="305409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CoIN是面向多模态大语言模型持续指令微调的综合Benchmark，用来评估现有MLLM在顺序任务学习下的行为。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4370832" y="14173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1417320"/>
            <a:ext cx="73152" cy="12344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1581912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5E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覆盖多任务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0" y="1947672"/>
            <a:ext cx="305409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包含10个精心构造的数据集，横跨8类任务，可考察任务顺序、指令多样性与数据规模等因素。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8138160" y="14173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38160" y="1417320"/>
            <a:ext cx="73152" cy="1234440"/>
          </a:xfrm>
          <a:prstGeom prst="rect">
            <a:avLst/>
          </a:prstGeom>
          <a:solidFill>
            <a:srgbClr val="5A9E6F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9328" y="1581912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9E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设计新评估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39328" y="1947672"/>
            <a:ext cx="305409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除传统输出正确性外，引入LLM-based指标评估模型保留的推理知识，以区分“答对格式”和“真正懂不懂”。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960120" y="3246120"/>
            <a:ext cx="10287000" cy="0"/>
          </a:xfrm>
          <a:prstGeom prst="line">
            <a:avLst/>
          </a:prstGeom>
          <a:noFill/>
          <a:ln w="16510">
            <a:solidFill>
              <a:srgbClr val="B7CF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88919" y="3585502"/>
            <a:ext cx="7521093" cy="675601"/>
          </a:xfrm>
          <a:prstGeom prst="roundRect">
            <a:avLst>
              <a:gd name="adj" fmla="val 6780"/>
            </a:avLst>
          </a:prstGeom>
          <a:solidFill>
            <a:srgbClr val="FFF8F8"/>
          </a:solidFill>
          <a:ln w="15240">
            <a:solidFill>
              <a:srgbClr val="F3B5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3836433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核心发现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63736" y="3840479"/>
            <a:ext cx="6760423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30" b="1" dirty="0" err="1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现有MLLM存在灾难性遗忘；主要</a:t>
            </a:r>
            <a:r>
              <a:rPr lang="zh-CN" altLang="en-US" sz="163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r>
              <a:rPr lang="en-US" sz="163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不是“推理知识遗忘”，而是“指令对齐能力下降”。</a:t>
            </a:r>
            <a:endParaRPr lang="en-US" sz="1630" dirty="0"/>
          </a:p>
        </p:txBody>
      </p:sp>
      <p:sp>
        <p:nvSpPr>
          <p:cNvPr id="27" name="Shape 24"/>
          <p:cNvSpPr/>
          <p:nvPr/>
        </p:nvSpPr>
        <p:spPr>
          <a:xfrm>
            <a:off x="3154680" y="5166360"/>
            <a:ext cx="5897880" cy="548640"/>
          </a:xfrm>
          <a:prstGeom prst="roundRect">
            <a:avLst>
              <a:gd name="adj" fmla="val 13333"/>
            </a:avLst>
          </a:prstGeom>
          <a:solidFill>
            <a:srgbClr val="EEF6FF"/>
          </a:solidFill>
          <a:ln w="12700">
            <a:solidFill>
              <a:srgbClr val="BAD7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64992" y="5294376"/>
            <a:ext cx="5486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解决思路：引入 MoELoRA，以不同专家保留不同任务的指令对齐能力</a:t>
            </a:r>
            <a:endParaRPr lang="en-US" sz="13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12648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CoIN基准：多源数据 → 统一指令格式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38912" y="115214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作者用常见视觉语言数据集构造可持续微调的指令流，并补充分类与定位任务，避免基准只停留在传统VQA。</a:t>
            </a:r>
            <a:endParaRPr lang="en-US" sz="1380" dirty="0"/>
          </a:p>
        </p:txBody>
      </p:sp>
      <p:pic>
        <p:nvPicPr>
          <p:cNvPr id="12" name="Image 1" descr="/mnt/data/coin_table1.png"/>
          <p:cNvPicPr>
            <a:picLocks noChangeAspect="1"/>
          </p:cNvPicPr>
          <p:nvPr/>
        </p:nvPicPr>
        <p:blipFill>
          <a:blip r:embed="rId4"/>
          <a:srcRect l="11713" r="11713"/>
          <a:stretch/>
        </p:blipFill>
        <p:spPr>
          <a:xfrm>
            <a:off x="548640" y="1700784"/>
            <a:ext cx="5166360" cy="35171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720840" y="2203704"/>
            <a:ext cx="960120" cy="0"/>
          </a:xfrm>
          <a:prstGeom prst="line">
            <a:avLst/>
          </a:prstGeom>
          <a:noFill/>
          <a:ln w="20320">
            <a:solidFill>
              <a:srgbClr val="7A8FA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485632" y="2203704"/>
            <a:ext cx="960120" cy="0"/>
          </a:xfrm>
          <a:prstGeom prst="line">
            <a:avLst/>
          </a:prstGeom>
          <a:noFill/>
          <a:ln w="20320">
            <a:solidFill>
              <a:srgbClr val="7A8FA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897880" y="18745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5240">
            <a:solidFill>
              <a:srgbClr val="0068A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0" y="1975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公开VL数据集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971032" y="22219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VQAv2 / GQA / TextVQA / OCR-VQA …</a:t>
            </a:r>
            <a:endParaRPr lang="en-US" sz="690" dirty="0"/>
          </a:p>
        </p:txBody>
      </p:sp>
      <p:sp>
        <p:nvSpPr>
          <p:cNvPr id="18" name="Shape 14"/>
          <p:cNvSpPr/>
          <p:nvPr/>
        </p:nvSpPr>
        <p:spPr>
          <a:xfrm>
            <a:off x="7635240" y="18745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5240">
            <a:solidFill>
              <a:srgbClr val="5B5EA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80960" y="1975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5E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任务扩展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08392" y="22219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 ImageNet 分类 + RefCOCO 系列定位</a:t>
            </a:r>
            <a:endParaRPr lang="en-US" sz="690" dirty="0"/>
          </a:p>
        </p:txBody>
      </p:sp>
      <p:sp>
        <p:nvSpPr>
          <p:cNvPr id="21" name="Shape 17"/>
          <p:cNvSpPr/>
          <p:nvPr/>
        </p:nvSpPr>
        <p:spPr>
          <a:xfrm>
            <a:off x="9372600" y="18745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5240">
            <a:solidFill>
              <a:srgbClr val="5A9E6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418320" y="1975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9E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统一模板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9445752" y="22219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转换成Instruction Tuning格式</a:t>
            </a:r>
            <a:endParaRPr lang="en-US" sz="690" dirty="0"/>
          </a:p>
        </p:txBody>
      </p:sp>
      <p:sp>
        <p:nvSpPr>
          <p:cNvPr id="24" name="Shape 20"/>
          <p:cNvSpPr/>
          <p:nvPr/>
        </p:nvSpPr>
        <p:spPr>
          <a:xfrm>
            <a:off x="5989320" y="290779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44184" y="296265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8类任务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89320" y="340156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062472" y="34610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Grounding</a:t>
            </a:r>
            <a:endParaRPr lang="en-US" sz="880" dirty="0"/>
          </a:p>
        </p:txBody>
      </p:sp>
      <p:sp>
        <p:nvSpPr>
          <p:cNvPr id="28" name="Shape 24"/>
          <p:cNvSpPr/>
          <p:nvPr/>
        </p:nvSpPr>
        <p:spPr>
          <a:xfrm>
            <a:off x="8229600" y="340156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302752" y="34610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Classification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5989320" y="383133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062472" y="389077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VQAv2</a:t>
            </a:r>
            <a:endParaRPr lang="en-US" sz="880" dirty="0"/>
          </a:p>
        </p:txBody>
      </p:sp>
      <p:sp>
        <p:nvSpPr>
          <p:cNvPr id="32" name="Shape 28"/>
          <p:cNvSpPr/>
          <p:nvPr/>
        </p:nvSpPr>
        <p:spPr>
          <a:xfrm>
            <a:off x="8229600" y="383133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02752" y="389077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ScienceQA</a:t>
            </a:r>
            <a:endParaRPr lang="en-US" sz="880" dirty="0"/>
          </a:p>
        </p:txBody>
      </p:sp>
      <p:sp>
        <p:nvSpPr>
          <p:cNvPr id="34" name="Shape 30"/>
          <p:cNvSpPr/>
          <p:nvPr/>
        </p:nvSpPr>
        <p:spPr>
          <a:xfrm>
            <a:off x="5989320" y="42611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062472" y="432054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TextVQA</a:t>
            </a:r>
            <a:endParaRPr lang="en-US" sz="880" dirty="0"/>
          </a:p>
        </p:txBody>
      </p:sp>
      <p:sp>
        <p:nvSpPr>
          <p:cNvPr id="36" name="Shape 32"/>
          <p:cNvSpPr/>
          <p:nvPr/>
        </p:nvSpPr>
        <p:spPr>
          <a:xfrm>
            <a:off x="8229600" y="42611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302752" y="432054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GQA</a:t>
            </a:r>
            <a:endParaRPr lang="en-US" sz="880" dirty="0"/>
          </a:p>
        </p:txBody>
      </p:sp>
      <p:sp>
        <p:nvSpPr>
          <p:cNvPr id="38" name="Shape 34"/>
          <p:cNvSpPr/>
          <p:nvPr/>
        </p:nvSpPr>
        <p:spPr>
          <a:xfrm>
            <a:off x="5989320" y="469087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062472" y="475030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VizWiz</a:t>
            </a:r>
            <a:endParaRPr lang="en-US" sz="880" dirty="0"/>
          </a:p>
        </p:txBody>
      </p:sp>
      <p:sp>
        <p:nvSpPr>
          <p:cNvPr id="40" name="Shape 36"/>
          <p:cNvSpPr/>
          <p:nvPr/>
        </p:nvSpPr>
        <p:spPr>
          <a:xfrm>
            <a:off x="8229600" y="469087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302752" y="475030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OCR-VQA</a:t>
            </a:r>
            <a:endParaRPr lang="en-US" sz="880" dirty="0"/>
          </a:p>
        </p:txBody>
      </p:sp>
      <p:sp>
        <p:nvSpPr>
          <p:cNvPr id="42" name="Shape 38"/>
          <p:cNvSpPr/>
          <p:nvPr/>
        </p:nvSpPr>
        <p:spPr>
          <a:xfrm>
            <a:off x="5930587" y="528523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2F8FF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080759" y="5431536"/>
            <a:ext cx="5199067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b="1" dirty="0" err="1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理解：CoIN不是提出一个单一模型，而是先建立“如何测试MLLM持续指令微调”的标准环境</a:t>
            </a:r>
            <a:r>
              <a:rPr lang="en-US" sz="113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30" dirty="0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0DAC0D73-A168-DBAA-B19D-3DA05EE91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166" y="2615436"/>
            <a:ext cx="1781907" cy="6770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12648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关键现象：顺序微调后出现灾难性遗忘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02920" y="11430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图1展示模型在CoIN上按任务顺序微调后的行为：蓝色表示刚完成该任务微调时的准确率，红色表示所有任务顺序微调完成后的准确率。</a:t>
            </a:r>
            <a:endParaRPr lang="en-US" sz="1270" dirty="0"/>
          </a:p>
        </p:txBody>
      </p:sp>
      <p:sp>
        <p:nvSpPr>
          <p:cNvPr id="12" name="Shape 9"/>
          <p:cNvSpPr/>
          <p:nvPr/>
        </p:nvSpPr>
        <p:spPr>
          <a:xfrm>
            <a:off x="548640" y="1655064"/>
            <a:ext cx="11018520" cy="2853266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0E9F2"/>
            </a:solidFill>
            <a:prstDash val="solid"/>
          </a:ln>
        </p:spPr>
      </p:sp>
      <p:pic>
        <p:nvPicPr>
          <p:cNvPr id="13" name="Image 1" descr="/mnt/data/coin_fig1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572" y="1847088"/>
            <a:ext cx="7402856" cy="23591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479145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33A3A"/>
          </a:solidFill>
          <a:ln w="12700">
            <a:solidFill>
              <a:srgbClr val="E33A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4944" y="484632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观察结论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" y="5330952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24128" y="5257800"/>
            <a:ext cx="1031443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LLaVA 与 Qwen-VL 在连续微调后明显退化，说明强MLLM依然会遗忘旧任务的指令对齐。</a:t>
            </a:r>
            <a:endParaRPr lang="en-US" sz="1160" dirty="0"/>
          </a:p>
        </p:txBody>
      </p:sp>
      <p:sp>
        <p:nvSpPr>
          <p:cNvPr id="18" name="Shape 14"/>
          <p:cNvSpPr/>
          <p:nvPr/>
        </p:nvSpPr>
        <p:spPr>
          <a:xfrm>
            <a:off x="822960" y="5632704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24128" y="5578178"/>
            <a:ext cx="1031443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zh-CN" altLang="zh-CN" sz="1200" b="1" dirty="0">
                <a:latin typeface="Noto Sans SC Light" panose="020B0200000000000000" pitchFamily="34" charset="-122"/>
                <a:ea typeface="Noto Sans SC Light" panose="020B0200000000000000" pitchFamily="34" charset="-122"/>
              </a:rPr>
              <a:t>不同 MLLM 的持续学习行为存在差异，同时由于 MLLM 是生成式模型，它的遗忘机制也不能简单照搬传统 CNN 或 ViT 分类器中的结论</a:t>
            </a:r>
            <a:endParaRPr lang="en-US" sz="1160" b="1" dirty="0">
              <a:latin typeface="Noto Sans SC Light" panose="020B0200000000000000" pitchFamily="34" charset="-122"/>
              <a:ea typeface="Noto Sans SC Light" panose="020B0200000000000000" pitchFamily="34" charset="-122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22960" y="5934456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24128" y="5861304"/>
            <a:ext cx="1031443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这引出后续核心问题：遗忘来自“推理知识丢失”，还是来自“不能继续按旧任务指令输出”？</a:t>
            </a:r>
            <a:endParaRPr lang="en-US" sz="11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12648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核心追问：到底忘了什么？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28600" y="1143000"/>
            <a:ext cx="1121968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作者认为，MLLM输出不仅受“是否知道答案”影响，还受“是否按照任务指令与格式输出”影响，因此需要拆开评估。</a:t>
            </a:r>
            <a:endParaRPr lang="en-US" sz="1280" dirty="0"/>
          </a:p>
        </p:txBody>
      </p:sp>
      <p:pic>
        <p:nvPicPr>
          <p:cNvPr id="12" name="Image 1" descr="/mnt/data/coin_fig2_diagram2.png"/>
          <p:cNvPicPr>
            <a:picLocks noChangeAspect="1"/>
          </p:cNvPicPr>
          <p:nvPr/>
        </p:nvPicPr>
        <p:blipFill>
          <a:blip r:embed="rId4"/>
          <a:srcRect l="2155" r="2155"/>
          <a:stretch/>
        </p:blipFill>
        <p:spPr>
          <a:xfrm>
            <a:off x="168833" y="1627632"/>
            <a:ext cx="6940627" cy="4114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32320" y="1627632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0" y="1627632"/>
            <a:ext cx="73152" cy="987552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33488" y="1792224"/>
            <a:ext cx="4105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Truth Alignment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33488" y="2157984"/>
            <a:ext cx="408736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传统评估：直接把模型输出与Ground Truth比较。它关注最终输出是否正确、格式是否符合任务要求。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7132320" y="2834640"/>
            <a:ext cx="4434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0" y="2834640"/>
            <a:ext cx="73152" cy="1115568"/>
          </a:xfrm>
          <a:prstGeom prst="rect">
            <a:avLst/>
          </a:prstGeom>
          <a:solidFill>
            <a:srgbClr val="5A9E6F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33488" y="2999232"/>
            <a:ext cx="4105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9E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Reasoning Capability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333488" y="3364992"/>
            <a:ext cx="40873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新评估：用强LLM评分，忽略输出格式，重点判断输出中的关键信息是否体现了推理知识。分数范围为0~10。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7132320" y="4343400"/>
            <a:ext cx="4434840" cy="749806"/>
          </a:xfrm>
          <a:prstGeom prst="roundRect">
            <a:avLst>
              <a:gd name="adj" fmla="val 9756"/>
            </a:avLst>
          </a:prstGeom>
          <a:solidFill>
            <a:srgbClr val="F3F7FB"/>
          </a:solidFill>
          <a:ln w="12700">
            <a:solidFill>
              <a:srgbClr val="CAD9E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60920" y="45902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E3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Truth Alignment = Reasoning Capability + Instruction Following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223760" y="5394960"/>
            <a:ext cx="4297680" cy="5760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理解：如果模型“知道答案但输出格式错”，Truth Alignment会低，但Reasoning Capability仍可能较高。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12648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结论：主要丢失的是“指令跟随</a:t>
            </a: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/对齐能力”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057900" y="1183913"/>
            <a:ext cx="4366260" cy="960120"/>
          </a:xfrm>
          <a:prstGeom prst="roundRect">
            <a:avLst>
              <a:gd name="adj" fmla="val 7619"/>
            </a:avLst>
          </a:prstGeom>
          <a:solidFill>
            <a:srgbClr val="FFF8F8"/>
          </a:solidFill>
          <a:ln w="12700">
            <a:solidFill>
              <a:srgbClr val="F2B0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2163" y="1222695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E33A3A"/>
                </a:solidFill>
                <a:latin typeface="Noto Sans CJK SC" pitchFamily="34" charset="0"/>
                <a:ea typeface="Noto Sans CJK SC" pitchFamily="34" charset="-122"/>
              </a:rPr>
              <a:t>结果支持：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82163" y="1422470"/>
            <a:ext cx="3600745" cy="65093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模型主要不是遗忘知识，而是失去按旧任务指令输出的能力。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456319" y="1119510"/>
            <a:ext cx="5066129" cy="960120"/>
          </a:xfrm>
          <a:prstGeom prst="roundRect">
            <a:avLst>
              <a:gd name="adj" fmla="val 7619"/>
            </a:avLst>
          </a:prstGeom>
          <a:solidFill>
            <a:srgbClr val="F1F8FF"/>
          </a:solidFill>
          <a:ln w="12700">
            <a:solidFill>
              <a:srgbClr val="BFDBF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Text 12"/>
          <p:cNvSpPr/>
          <p:nvPr/>
        </p:nvSpPr>
        <p:spPr>
          <a:xfrm>
            <a:off x="594359" y="1206539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实验分析后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6319" y="1392174"/>
            <a:ext cx="5670452" cy="6812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Truth Alignment下降更明显，而Reasoning </a:t>
            </a:r>
            <a:r>
              <a:rPr lang="en-US" sz="1320" b="1" dirty="0" err="1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Capability相对稳健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94359" y="2834640"/>
            <a:ext cx="2395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为什么引入 MoELoRA？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749808" y="3456432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" y="3383280"/>
            <a:ext cx="45079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MoE框架用多个专家学习不同知识/能力，再由门控函数调节贡献。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749808" y="3813048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3739896"/>
            <a:ext cx="45079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在持续学习中，不同专家可对应不同任务的指令跟随模式。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749808" y="4169664"/>
            <a:ext cx="100584" cy="100584"/>
          </a:xfrm>
          <a:prstGeom prst="diamond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" y="4105187"/>
            <a:ext cx="45079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MoELoRA把这种专家结构引入LoRA微调，用于缓解指令对齐遗忘。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6766560" y="355701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A9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372600" y="3685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A9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577840" y="3063240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EAF4FF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50992" y="31455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577840" y="3630168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F2F8FF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0992" y="371246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5E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B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577840" y="4197096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F5FFF6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50992" y="427939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9E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C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543800" y="317296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0068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07808" y="3250692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Expert 1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7543800" y="363016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5B5EA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07808" y="3707892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B5E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Expert 2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7543800" y="408736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5A9E6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07808" y="4165092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A9E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Expert 3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10058400" y="3611880"/>
            <a:ext cx="1051560" cy="420624"/>
          </a:xfrm>
          <a:prstGeom prst="roundRect">
            <a:avLst>
              <a:gd name="adj" fmla="val 17391"/>
            </a:avLst>
          </a:prstGeom>
          <a:solidFill>
            <a:srgbClr val="FFF7EA"/>
          </a:solidFill>
          <a:ln w="12700">
            <a:solidFill>
              <a:srgbClr val="F7B04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31552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9B5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9B5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Output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5577840" y="5212080"/>
            <a:ext cx="553212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97296" y="5376672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一句话理解：CoIN先证明“忘的是指令对齐”，MoELoRA再用“专家分工”降低这种遗忘。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09728"/>
            <a:ext cx="1389888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02920"/>
            <a:ext cx="11841480" cy="0"/>
          </a:xfrm>
          <a:prstGeom prst="line">
            <a:avLst/>
          </a:prstGeom>
          <a:noFill/>
          <a:ln w="1524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642823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知行合一、经世致用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921240" y="6428232"/>
            <a:ext cx="2057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E6A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Central South University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12191695" cy="0"/>
          </a:xfrm>
          <a:prstGeom prst="line">
            <a:avLst/>
          </a:prstGeom>
          <a:noFill/>
          <a:ln w="40640">
            <a:solidFill>
              <a:srgbClr val="006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56032"/>
            <a:ext cx="164592" cy="16459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64592"/>
            <a:ext cx="82296" cy="82296"/>
          </a:xfrm>
          <a:prstGeom prst="ellipse">
            <a:avLst/>
          </a:prstGeom>
          <a:solidFill>
            <a:srgbClr val="94B2D5"/>
          </a:solidFill>
          <a:ln w="12700">
            <a:solidFill>
              <a:srgbClr val="94B2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" y="612648"/>
            <a:ext cx="6995160" cy="384048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"/>
            <a:ext cx="6629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</a:t>
            </a:r>
            <a:r>
              <a:rPr lang="en-US" sz="1550" b="1" dirty="0" err="1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贡献总结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48920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1645920"/>
            <a:ext cx="384048" cy="384048"/>
          </a:xfrm>
          <a:prstGeom prst="ellipse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17282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55448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00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贡献一：提出CoIN基准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1554480" y="1947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面向MLLM持续指令微调，整合10个数据集、覆盖8类任务，支持综合且多样的评估。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217920" y="1417320"/>
            <a:ext cx="48920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73952" y="1645920"/>
            <a:ext cx="384048" cy="384048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73952" y="17282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04088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5B5E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贡献二：拆分评估维度</a:t>
            </a:r>
            <a:endParaRPr lang="en-US" sz="1330" dirty="0"/>
          </a:p>
        </p:txBody>
      </p:sp>
      <p:sp>
        <p:nvSpPr>
          <p:cNvPr id="20" name="Text 17"/>
          <p:cNvSpPr/>
          <p:nvPr/>
        </p:nvSpPr>
        <p:spPr>
          <a:xfrm>
            <a:off x="7040880" y="1947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提出Truth Alignment与Reasoning Capability两个视角，进一步定位遗忘来源。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731520" y="2990088"/>
            <a:ext cx="48920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87552" y="3218688"/>
            <a:ext cx="384048" cy="384048"/>
          </a:xfrm>
          <a:prstGeom prst="ellipse">
            <a:avLst/>
          </a:prstGeom>
          <a:solidFill>
            <a:srgbClr val="E33A3A"/>
          </a:solidFill>
          <a:ln w="12700">
            <a:solidFill>
              <a:srgbClr val="E33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33009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554480" y="32004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E3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贡献三：发现遗忘机制</a:t>
            </a:r>
            <a:endParaRPr lang="en-US" sz="1330" dirty="0"/>
          </a:p>
        </p:txBody>
      </p:sp>
      <p:sp>
        <p:nvSpPr>
          <p:cNvPr id="25" name="Text 22"/>
          <p:cNvSpPr/>
          <p:nvPr/>
        </p:nvSpPr>
        <p:spPr>
          <a:xfrm>
            <a:off x="155448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灾难性遗忘主要来自指令跟随/对齐能力下降，而非推理知识本身明显遗忘。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217920" y="2990088"/>
            <a:ext cx="489204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73952" y="3218688"/>
            <a:ext cx="384048" cy="384048"/>
          </a:xfrm>
          <a:prstGeom prst="ellipse">
            <a:avLst/>
          </a:prstGeom>
          <a:solidFill>
            <a:srgbClr val="5A9E6F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73952" y="33009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040880" y="32004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5A9E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贡献四：引入MoELoRA</a:t>
            </a:r>
            <a:endParaRPr lang="en-US" sz="1330" dirty="0"/>
          </a:p>
        </p:txBody>
      </p:sp>
      <p:sp>
        <p:nvSpPr>
          <p:cNvPr id="30" name="Text 27"/>
          <p:cNvSpPr/>
          <p:nvPr/>
        </p:nvSpPr>
        <p:spPr>
          <a:xfrm>
            <a:off x="704088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用多个专家学习不同任务的指令对齐模式，从结构上缓解旧任务对齐能力流失。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440" y="3654317"/>
            <a:ext cx="12191695" cy="1143000"/>
          </a:xfrm>
          <a:prstGeom prst="rect">
            <a:avLst/>
          </a:prstGeom>
          <a:solidFill>
            <a:srgbClr val="0068A8"/>
          </a:solidFill>
          <a:ln w="12700">
            <a:solidFill>
              <a:srgbClr val="0068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-380489" y="3961931"/>
            <a:ext cx="12191695" cy="527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-306846" y="5378636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E2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CoIN论文汇报</a:t>
            </a:r>
            <a:endParaRPr lang="en-US" sz="1400" dirty="0"/>
          </a:p>
        </p:txBody>
      </p:sp>
      <p:pic>
        <p:nvPicPr>
          <p:cNvPr id="7" name="Picture 2" descr="研究生院">
            <a:extLst>
              <a:ext uri="{FF2B5EF4-FFF2-40B4-BE49-F238E27FC236}">
                <a16:creationId xmlns:a16="http://schemas.microsoft.com/office/drawing/2014/main" id="{FAFD2972-6DD6-ED11-B696-7F3A6AA96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6135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553</Words>
  <Application>Microsoft Office PowerPoint</Application>
  <PresentationFormat>宽屏</PresentationFormat>
  <Paragraphs>124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Noto Sans CJK SC</vt:lpstr>
      <vt:lpstr>Noto Sans SC Light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Central South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CoIN论文汇报：摘要与引言</dc:title>
  <dc:subject>CoIN paper report - abstract and introduction</dc:subject>
  <dc:creator>OpenAI</dc:creator>
  <cp:lastModifiedBy>zy h</cp:lastModifiedBy>
  <cp:revision>18</cp:revision>
  <dcterms:created xsi:type="dcterms:W3CDTF">2026-07-13T15:04:37Z</dcterms:created>
  <dcterms:modified xsi:type="dcterms:W3CDTF">2026-07-14T04:15:21Z</dcterms:modified>
</cp:coreProperties>
</file>